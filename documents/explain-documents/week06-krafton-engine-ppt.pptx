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91B"/>
    <a:srgbClr val="E1E1E3"/>
    <a:srgbClr val="1F1E19"/>
    <a:srgbClr val="110F10"/>
    <a:srgbClr val="857757"/>
    <a:srgbClr val="100D14"/>
    <a:srgbClr val="B9B9B9"/>
    <a:srgbClr val="F1F1F1"/>
    <a:srgbClr val="B8BAB9"/>
    <a:srgbClr val="0909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D09650-6920-707F-57F3-8006577C71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B378A57-4435-E7CB-4E05-09AF2CE86A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5A0CBA-7ADE-644F-F2EB-116DAA73F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E892-5C86-4444-A297-D58E8791F8D5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EEF78F-DF4D-E3C8-0668-7A550DE6F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2310B3-6694-0532-3E0A-F1814443F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EBC0-05B4-4CA6-B75A-82C3511134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683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AD1718-5EFA-5C8C-0FE0-39EFCF45A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D03E31-4312-2CD4-25F3-23F0626C2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435D5F-8261-4379-538B-7EFF3FB4B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E892-5C86-4444-A297-D58E8791F8D5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6BF1D3-9F43-A5F9-3819-F43DB89A2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B0A811-091D-4B64-CAA3-FC44AFC59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EBC0-05B4-4CA6-B75A-82C3511134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463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DF7C78-E4CF-1557-4A0C-71F60976F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1366FB-00EB-DB6E-68C2-E81E7F1B2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D262B8-5693-C0CD-3358-5360C39E0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E892-5C86-4444-A297-D58E8791F8D5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DFD1AA-433D-69D2-305B-B065C10FC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A9BC8E-603B-999C-7CED-6BE33EAF6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EBC0-05B4-4CA6-B75A-82C3511134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0771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ED2B88-4B1F-3BDC-4EAC-41D3A6FEB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211457-98D6-EB60-AAD4-0502D59CC1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FDC4A0-BF46-72D4-EAEE-5A0A7FE31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891C26-F34A-09D5-46A5-51F960533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E892-5C86-4444-A297-D58E8791F8D5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82C9D-8D79-2734-316B-A7755F945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EEDEBB-E14A-E83B-8312-57D91E8E5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EBC0-05B4-4CA6-B75A-82C3511134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006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C82092-BCEF-98CB-890B-41F8C7D92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D4F16E-8E1B-C903-47B6-7A970AD0B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1DC784-7640-C838-5CC3-DD17AC717A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E7698F-1DD5-7A25-2D99-E506C57571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49AE0CF-5DB4-9D65-AD8F-32F61CA940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3FBD7BA-4CDA-0F98-0495-9126BD4BE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E892-5C86-4444-A297-D58E8791F8D5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53945E-DAFC-9704-62EC-02B6ED46F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C59CBEF-634D-00EE-7450-4DD4A00B8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EBC0-05B4-4CA6-B75A-82C3511134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9443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B6AA84-29E2-508A-498A-4888FBD3F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309571D-8FE7-E10A-100F-1D51ADA06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E892-5C86-4444-A297-D58E8791F8D5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2FE2B8-FA3D-C1F1-DBD0-5207ADDB0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17BB3A-5D3D-9CAF-8997-2B36C90F7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EBC0-05B4-4CA6-B75A-82C3511134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075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1AA2C16-D5D6-5591-F6CB-2D40F1F9D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E892-5C86-4444-A297-D58E8791F8D5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58E239-7C9A-D861-F98E-BDDF50FCC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A2FDB3-1EBE-6D84-B842-DA0829073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EBC0-05B4-4CA6-B75A-82C3511134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6216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BF9173-6493-0AB3-0E7C-059C553C7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40A8B0-DAAA-822A-6336-FD05BDE32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0F2627-6D43-AA48-C1E7-A3CF5345B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B61FC5-C173-1116-925A-1BC5F7262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E892-5C86-4444-A297-D58E8791F8D5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D5749D-01C6-34BC-0E65-C9230ED4C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54A9CB-133E-2404-CAC8-3C847F511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EBC0-05B4-4CA6-B75A-82C3511134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2886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FC93D2-F943-0C25-734A-2A19615AF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27D5DAE-564F-63EA-B7CD-7D1798C812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C6FCC5-A19C-7D3F-F635-F39DD2A7F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1C0A7F-8F36-B2CC-83F7-534BD8DB5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E892-5C86-4444-A297-D58E8791F8D5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D26FA1-C77E-F654-7A41-893C59EF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796768-3794-6D33-4325-1D472F605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EBC0-05B4-4CA6-B75A-82C3511134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249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E12A34-A2A1-F558-FCB3-47CAC63BC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900304-F08F-55F1-8843-50F81149F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7ED39A-1F78-886E-156A-1BB5E89E1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E892-5C86-4444-A297-D58E8791F8D5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1152E3-0DEC-4D7E-0388-CDE769D3E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B5044B-190B-655F-93CB-5BAD10FD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EBC0-05B4-4CA6-B75A-82C3511134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791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22FB75E-B90B-0AC5-2D02-B1122F37EE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41CA04-174F-DBEE-2BE1-94B738A58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6A8DCF-FC67-3A2C-382C-7A95E13E2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E892-5C86-4444-A297-D58E8791F8D5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545406-A487-D935-E82F-A1C78B7FD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284F26-C4FD-056C-5E23-F534B73BE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EBC0-05B4-4CA6-B75A-82C3511134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063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F891C98-971F-2930-C9CE-69361E721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348463-1F40-6BC6-0EAE-49E358C09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F2DE35-A4EE-6D56-B01F-B6AA9DA364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BE892-5C86-4444-A297-D58E8791F8D5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3CC0B4-1A4A-38C5-E3F4-0CE83F2963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6FDAB4-9749-06BC-A198-393AC21FE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B7EBC0-05B4-4CA6-B75A-82C3511134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494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60757DC-A3F6-242A-3193-B417FEEDD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0"/>
            <a:ext cx="82296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AE12BF8-7A38-7235-FB82-F7AE304F1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82234" y="978195"/>
            <a:ext cx="2614366" cy="2623843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>
                <a:solidFill>
                  <a:schemeClr val="bg1"/>
                </a:solidFill>
                <a:latin typeface="Century Gothic" panose="020B0502020202020204" pitchFamily="34" charset="0"/>
              </a:rPr>
              <a:t>Player </a:t>
            </a:r>
            <a:br>
              <a:rPr lang="en-US" altLang="ko-KR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en-US" altLang="ko-KR" dirty="0">
                <a:solidFill>
                  <a:schemeClr val="bg1"/>
                </a:solidFill>
                <a:latin typeface="Century Gothic" panose="020B0502020202020204" pitchFamily="34" charset="0"/>
              </a:rPr>
              <a:t>In </a:t>
            </a:r>
            <a:br>
              <a:rPr lang="en-US" altLang="ko-KR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en-US" altLang="ko-KR" dirty="0">
                <a:solidFill>
                  <a:schemeClr val="bg1"/>
                </a:solidFill>
                <a:latin typeface="Century Gothic" panose="020B0502020202020204" pitchFamily="34" charset="0"/>
              </a:rPr>
              <a:t>Editor</a:t>
            </a:r>
            <a:endParaRPr lang="ko-KR" altLang="en-US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F199AF-4E64-D9EA-0E47-9B080F506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48222" y="4035670"/>
            <a:ext cx="2614366" cy="2393409"/>
          </a:xfrm>
        </p:spPr>
        <p:txBody>
          <a:bodyPr/>
          <a:lstStyle/>
          <a:p>
            <a:pPr algn="l"/>
            <a:r>
              <a:rPr lang="en-US" altLang="ko-KR" dirty="0">
                <a:solidFill>
                  <a:schemeClr val="bg1"/>
                </a:solidFill>
                <a:latin typeface="Century Gothic" panose="020B0502020202020204" pitchFamily="34" charset="0"/>
              </a:rPr>
              <a:t>Team 6</a:t>
            </a:r>
            <a:br>
              <a:rPr lang="en-US" altLang="ko-KR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br>
              <a:rPr lang="en-US" altLang="ko-KR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김기훈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  <a:p>
            <a:pPr algn="l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김지수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  <a:p>
            <a:pPr algn="l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김효범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  <a:p>
            <a:pPr algn="l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오준혁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8E18820-C3C2-21F2-B9B4-584821A6DF47}"/>
              </a:ext>
            </a:extLst>
          </p:cNvPr>
          <p:cNvSpPr/>
          <p:nvPr/>
        </p:nvSpPr>
        <p:spPr>
          <a:xfrm>
            <a:off x="1981200" y="0"/>
            <a:ext cx="1054231" cy="6033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DAB50AA-1152-ECF8-8114-C023E276AA28}"/>
              </a:ext>
            </a:extLst>
          </p:cNvPr>
          <p:cNvSpPr/>
          <p:nvPr/>
        </p:nvSpPr>
        <p:spPr>
          <a:xfrm>
            <a:off x="8970194" y="-1"/>
            <a:ext cx="1238446" cy="6033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C20A31-E5DF-B79F-39DC-7DD2D4DD9F69}"/>
              </a:ext>
            </a:extLst>
          </p:cNvPr>
          <p:cNvSpPr txBox="1"/>
          <p:nvPr/>
        </p:nvSpPr>
        <p:spPr>
          <a:xfrm>
            <a:off x="10896600" y="101602"/>
            <a:ext cx="177184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Paramount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Pictures ⓒ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721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D05ED6-46D2-80BD-06FD-79788AE65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6DEA8F2F-AF70-1F8D-9F7E-748B5CCB2728}"/>
              </a:ext>
            </a:extLst>
          </p:cNvPr>
          <p:cNvSpPr txBox="1"/>
          <p:nvPr/>
        </p:nvSpPr>
        <p:spPr>
          <a:xfrm rot="5400000">
            <a:off x="11498181" y="6164182"/>
            <a:ext cx="118758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Paramount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Pictures ⓒ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부제목 2">
            <a:extLst>
              <a:ext uri="{FF2B5EF4-FFF2-40B4-BE49-F238E27FC236}">
                <a16:creationId xmlns:a16="http://schemas.microsoft.com/office/drawing/2014/main" id="{5E9E4AB4-7A3F-55EC-B7D1-7702E360E63B}"/>
              </a:ext>
            </a:extLst>
          </p:cNvPr>
          <p:cNvSpPr txBox="1">
            <a:spLocks/>
          </p:cNvSpPr>
          <p:nvPr/>
        </p:nvSpPr>
        <p:spPr>
          <a:xfrm>
            <a:off x="276225" y="2962584"/>
            <a:ext cx="6523036" cy="3301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buNone/>
            </a:pPr>
            <a:r>
              <a:rPr lang="en-US" altLang="ko-KR" sz="1400" dirty="0">
                <a:latin typeface="Century Gothic" panose="020B0502020202020204" pitchFamily="34" charset="0"/>
                <a:ea typeface="Noto Sans KR Light" panose="020B0200000000000000" pitchFamily="50" charset="-127"/>
              </a:rPr>
              <a:t>UWorld</a:t>
            </a:r>
            <a:r>
              <a:rPr lang="ko-KR" altLang="en-US" sz="1400" dirty="0">
                <a:latin typeface="Century Gothic" panose="020B0502020202020204" pitchFamily="34" charset="0"/>
                <a:ea typeface="Noto Sans KR Light" panose="020B0200000000000000" pitchFamily="50" charset="-127"/>
              </a:rPr>
              <a:t>는 최상위 컨테이너로서 다수의 </a:t>
            </a:r>
            <a:r>
              <a:rPr lang="en-US" altLang="ko-KR" sz="1400" dirty="0">
                <a:latin typeface="Century Gothic" panose="020B0502020202020204" pitchFamily="34" charset="0"/>
                <a:ea typeface="Noto Sans KR Light" panose="020B0200000000000000" pitchFamily="50" charset="-127"/>
              </a:rPr>
              <a:t>ULevel</a:t>
            </a:r>
            <a:r>
              <a:rPr lang="ko-KR" altLang="en-US" sz="1400" dirty="0">
                <a:latin typeface="Century Gothic" panose="020B0502020202020204" pitchFamily="34" charset="0"/>
                <a:ea typeface="Noto Sans KR Light" panose="020B0200000000000000" pitchFamily="50" charset="-127"/>
              </a:rPr>
              <a:t>을 소유하며</a:t>
            </a:r>
            <a:r>
              <a:rPr lang="en-US" altLang="ko-KR" sz="1400" dirty="0">
                <a:latin typeface="Century Gothic" panose="020B0502020202020204" pitchFamily="34" charset="0"/>
                <a:ea typeface="Noto Sans KR Light" panose="020B0200000000000000" pitchFamily="50" charset="-127"/>
              </a:rPr>
              <a:t>, </a:t>
            </a:r>
            <a:br>
              <a:rPr lang="en-US" altLang="ko-KR" sz="1400" dirty="0">
                <a:latin typeface="Century Gothic" panose="020B0502020202020204" pitchFamily="34" charset="0"/>
                <a:ea typeface="Noto Sans KR Light" panose="020B0200000000000000" pitchFamily="50" charset="-127"/>
              </a:rPr>
            </a:br>
            <a:r>
              <a:rPr lang="ko-KR" altLang="en-US" sz="1400" dirty="0">
                <a:latin typeface="Century Gothic" panose="020B0502020202020204" pitchFamily="34" charset="0"/>
                <a:ea typeface="Noto Sans KR Light" panose="020B0200000000000000" pitchFamily="50" charset="-127"/>
              </a:rPr>
              <a:t>각 </a:t>
            </a:r>
            <a:r>
              <a:rPr lang="en-US" altLang="ko-KR" sz="1400" dirty="0">
                <a:latin typeface="Century Gothic" panose="020B0502020202020204" pitchFamily="34" charset="0"/>
                <a:ea typeface="Noto Sans KR Light" panose="020B0200000000000000" pitchFamily="50" charset="-127"/>
              </a:rPr>
              <a:t>Level</a:t>
            </a:r>
            <a:r>
              <a:rPr lang="ko-KR" altLang="en-US" sz="1400" dirty="0">
                <a:latin typeface="Century Gothic" panose="020B0502020202020204" pitchFamily="34" charset="0"/>
                <a:ea typeface="Noto Sans KR Light" panose="020B0200000000000000" pitchFamily="50" charset="-127"/>
              </a:rPr>
              <a:t>은 공간을 점유하는 </a:t>
            </a:r>
            <a:r>
              <a:rPr lang="en-US" altLang="ko-KR" sz="1400" dirty="0">
                <a:latin typeface="Century Gothic" panose="020B0502020202020204" pitchFamily="34" charset="0"/>
                <a:ea typeface="Noto Sans KR Light" panose="020B0200000000000000" pitchFamily="50" charset="-127"/>
              </a:rPr>
              <a:t>AActor</a:t>
            </a:r>
            <a:r>
              <a:rPr lang="ko-KR" altLang="en-US" sz="1400" dirty="0">
                <a:latin typeface="Century Gothic" panose="020B0502020202020204" pitchFamily="34" charset="0"/>
                <a:ea typeface="Noto Sans KR Light" panose="020B0200000000000000" pitchFamily="50" charset="-127"/>
              </a:rPr>
              <a:t>들의 유기적인 집합체</a:t>
            </a:r>
            <a:r>
              <a:rPr lang="en-US" altLang="ko-KR" sz="1400" dirty="0">
                <a:latin typeface="Century Gothic" panose="020B0502020202020204" pitchFamily="34" charset="0"/>
                <a:ea typeface="Noto Sans KR Light" panose="020B0200000000000000" pitchFamily="50" charset="-127"/>
              </a:rPr>
              <a:t>.</a:t>
            </a:r>
            <a:br>
              <a:rPr lang="en-US" altLang="ko-KR" sz="1400" dirty="0">
                <a:latin typeface="Century Gothic" panose="020B0502020202020204" pitchFamily="34" charset="0"/>
                <a:ea typeface="Noto Sans KR Light" panose="020B0200000000000000" pitchFamily="50" charset="-127"/>
              </a:rPr>
            </a:br>
            <a:endParaRPr lang="en-US" altLang="ko-KR" sz="1400" dirty="0">
              <a:latin typeface="Century Gothic" panose="020B0502020202020204" pitchFamily="34" charset="0"/>
              <a:ea typeface="Noto Sans KR Light" panose="020B0200000000000000" pitchFamily="50" charset="-127"/>
            </a:endParaRPr>
          </a:p>
          <a:p>
            <a:pPr marL="0" indent="0" algn="r">
              <a:lnSpc>
                <a:spcPct val="150000"/>
              </a:lnSpc>
              <a:buNone/>
            </a:pPr>
            <a:r>
              <a:rPr lang="ko-KR" altLang="en-US" sz="1400" dirty="0">
                <a:latin typeface="Century Gothic" panose="020B0502020202020204" pitchFamily="34" charset="0"/>
                <a:ea typeface="Noto Sans KR Light" panose="020B0200000000000000" pitchFamily="50" charset="-127"/>
              </a:rPr>
              <a:t>이러한 계층구조는 에디터의 편집 데이터와 </a:t>
            </a:r>
            <a:r>
              <a:rPr lang="en-US" altLang="ko-KR" sz="1400" dirty="0">
                <a:latin typeface="Century Gothic" panose="020B0502020202020204" pitchFamily="34" charset="0"/>
                <a:ea typeface="Noto Sans KR Light" panose="020B0200000000000000" pitchFamily="50" charset="-127"/>
              </a:rPr>
              <a:t>PIE</a:t>
            </a:r>
            <a:r>
              <a:rPr lang="ko-KR" altLang="en-US" sz="1400" dirty="0">
                <a:latin typeface="Century Gothic" panose="020B0502020202020204" pitchFamily="34" charset="0"/>
                <a:ea typeface="Noto Sans KR Light" panose="020B0200000000000000" pitchFamily="50" charset="-127"/>
              </a:rPr>
              <a:t>의 실시간 인스턴스를 </a:t>
            </a:r>
            <a:br>
              <a:rPr lang="en-US" altLang="ko-KR" sz="1400" dirty="0">
                <a:latin typeface="Century Gothic" panose="020B0502020202020204" pitchFamily="34" charset="0"/>
                <a:ea typeface="Noto Sans KR Light" panose="020B0200000000000000" pitchFamily="50" charset="-127"/>
              </a:rPr>
            </a:br>
            <a:r>
              <a:rPr lang="ko-KR" altLang="en-US" sz="1400" dirty="0">
                <a:latin typeface="Century Gothic" panose="020B0502020202020204" pitchFamily="34" charset="0"/>
                <a:ea typeface="Noto Sans KR Light" panose="020B0200000000000000" pitchFamily="50" charset="-127"/>
              </a:rPr>
              <a:t>엄격히 격리하여 런타임 중의 데이터 무결성을 보장</a:t>
            </a:r>
            <a:r>
              <a:rPr lang="en-US" altLang="ko-KR" sz="1400" dirty="0">
                <a:latin typeface="Century Gothic" panose="020B0502020202020204" pitchFamily="34" charset="0"/>
                <a:ea typeface="Noto Sans KR Light" panose="020B0200000000000000" pitchFamily="50" charset="-127"/>
              </a:rPr>
              <a:t>.</a:t>
            </a:r>
          </a:p>
          <a:p>
            <a:pPr marL="0" indent="0" algn="r">
              <a:lnSpc>
                <a:spcPct val="150000"/>
              </a:lnSpc>
              <a:buNone/>
            </a:pPr>
            <a:br>
              <a:rPr lang="en-US" altLang="ko-KR" sz="1400" dirty="0">
                <a:latin typeface="Century Gothic" panose="020B0502020202020204" pitchFamily="34" charset="0"/>
                <a:ea typeface="Noto Sans KR Light" panose="020B0200000000000000" pitchFamily="50" charset="-127"/>
              </a:rPr>
            </a:br>
            <a:r>
              <a:rPr lang="en-US" altLang="ko-KR" sz="1400" dirty="0">
                <a:latin typeface="Century Gothic" panose="020B0502020202020204" pitchFamily="34" charset="0"/>
                <a:ea typeface="Noto Sans KR Light" panose="020B0200000000000000" pitchFamily="50" charset="-127"/>
              </a:rPr>
              <a:t>UWorld</a:t>
            </a:r>
            <a:r>
              <a:rPr lang="ko-KR" altLang="en-US" sz="1400" dirty="0">
                <a:latin typeface="Century Gothic" panose="020B0502020202020204" pitchFamily="34" charset="0"/>
                <a:ea typeface="Noto Sans KR Light" panose="020B0200000000000000" pitchFamily="50" charset="-127"/>
              </a:rPr>
              <a:t>가 </a:t>
            </a:r>
            <a:r>
              <a:rPr lang="en-US" altLang="ko-KR" sz="1400" dirty="0">
                <a:latin typeface="Century Gothic" panose="020B0502020202020204" pitchFamily="34" charset="0"/>
                <a:ea typeface="Noto Sans KR Light" panose="020B0200000000000000" pitchFamily="50" charset="-127"/>
              </a:rPr>
              <a:t>EWorldType</a:t>
            </a:r>
            <a:r>
              <a:rPr lang="ko-KR" altLang="en-US" sz="1400" dirty="0">
                <a:latin typeface="Century Gothic" panose="020B0502020202020204" pitchFamily="34" charset="0"/>
                <a:ea typeface="Noto Sans KR Light" panose="020B0200000000000000" pitchFamily="50" charset="-127"/>
              </a:rPr>
              <a:t>에 따라 </a:t>
            </a:r>
            <a:r>
              <a:rPr lang="en-US" altLang="ko-KR" sz="1400" dirty="0">
                <a:latin typeface="Century Gothic" panose="020B0502020202020204" pitchFamily="34" charset="0"/>
                <a:ea typeface="Noto Sans KR Light" panose="020B0200000000000000" pitchFamily="50" charset="-127"/>
              </a:rPr>
              <a:t>Editor / PIE mode</a:t>
            </a:r>
            <a:r>
              <a:rPr lang="ko-KR" altLang="en-US" sz="1400" dirty="0">
                <a:latin typeface="Century Gothic" panose="020B0502020202020204" pitchFamily="34" charset="0"/>
                <a:ea typeface="Noto Sans KR Light" panose="020B0200000000000000" pitchFamily="50" charset="-127"/>
              </a:rPr>
              <a:t>로 나뉘어 관리</a:t>
            </a:r>
            <a:r>
              <a:rPr lang="en-US" altLang="ko-KR" sz="1400" dirty="0">
                <a:latin typeface="Century Gothic" panose="020B0502020202020204" pitchFamily="34" charset="0"/>
                <a:ea typeface="Noto Sans KR Light" panose="020B0200000000000000" pitchFamily="50" charset="-127"/>
              </a:rPr>
              <a:t>.</a:t>
            </a:r>
          </a:p>
        </p:txBody>
      </p:sp>
      <p:pic>
        <p:nvPicPr>
          <p:cNvPr id="3074" name="Picture 2" descr="A &quot;Black Phoenix Project&quot; mech re-rendered for a &quot;Nuthin But Mech&quot; book">
            <a:extLst>
              <a:ext uri="{FF2B5EF4-FFF2-40B4-BE49-F238E27FC236}">
                <a16:creationId xmlns:a16="http://schemas.microsoft.com/office/drawing/2014/main" id="{89B61C1B-C47C-F721-AC93-7FD15A3E6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0"/>
            <a:ext cx="50990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139E906-0A3F-8BD7-BB18-90152B2B0DF9}"/>
              </a:ext>
            </a:extLst>
          </p:cNvPr>
          <p:cNvSpPr txBox="1">
            <a:spLocks/>
          </p:cNvSpPr>
          <p:nvPr/>
        </p:nvSpPr>
        <p:spPr>
          <a:xfrm>
            <a:off x="4735576" y="701805"/>
            <a:ext cx="2063685" cy="188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4000" dirty="0">
                <a:latin typeface="Century Gothic" panose="020B0502020202020204" pitchFamily="34" charset="0"/>
              </a:rPr>
              <a:t>UWorld</a:t>
            </a:r>
            <a:br>
              <a:rPr lang="en-US" altLang="ko-KR" sz="4000" dirty="0">
                <a:latin typeface="Century Gothic" panose="020B0502020202020204" pitchFamily="34" charset="0"/>
              </a:rPr>
            </a:br>
            <a:r>
              <a:rPr lang="en-US" altLang="ko-KR" sz="4000" dirty="0">
                <a:latin typeface="Century Gothic" panose="020B0502020202020204" pitchFamily="34" charset="0"/>
              </a:rPr>
              <a:t>ULevel </a:t>
            </a:r>
            <a:br>
              <a:rPr lang="en-US" altLang="ko-KR" sz="4000" dirty="0">
                <a:latin typeface="Century Gothic" panose="020B0502020202020204" pitchFamily="34" charset="0"/>
              </a:rPr>
            </a:br>
            <a:r>
              <a:rPr lang="en-US" altLang="ko-KR" sz="4000" dirty="0">
                <a:latin typeface="Century Gothic" panose="020B0502020202020204" pitchFamily="34" charset="0"/>
              </a:rPr>
              <a:t>AActor</a:t>
            </a:r>
            <a:endParaRPr lang="ko-KR" altLang="en-US" sz="40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373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BD076B-D4FB-95F0-B8DE-FFD72EECD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>
            <a:extLst>
              <a:ext uri="{FF2B5EF4-FFF2-40B4-BE49-F238E27FC236}">
                <a16:creationId xmlns:a16="http://schemas.microsoft.com/office/drawing/2014/main" id="{4FF639A8-E0E3-896F-574A-B3A81F1253E3}"/>
              </a:ext>
            </a:extLst>
          </p:cNvPr>
          <p:cNvSpPr txBox="1">
            <a:spLocks/>
          </p:cNvSpPr>
          <p:nvPr/>
        </p:nvSpPr>
        <p:spPr>
          <a:xfrm>
            <a:off x="4032315" y="603315"/>
            <a:ext cx="2063685" cy="188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4000" dirty="0">
                <a:solidFill>
                  <a:schemeClr val="bg1"/>
                </a:solidFill>
                <a:latin typeface="Century Gothic" panose="020B0502020202020204" pitchFamily="34" charset="0"/>
              </a:rPr>
              <a:t>Play</a:t>
            </a:r>
            <a:br>
              <a:rPr lang="en-US" altLang="ko-KR" sz="4000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en-US" altLang="ko-KR" sz="4000" dirty="0">
                <a:solidFill>
                  <a:schemeClr val="bg1"/>
                </a:solidFill>
                <a:latin typeface="Century Gothic" panose="020B0502020202020204" pitchFamily="34" charset="0"/>
              </a:rPr>
              <a:t>In </a:t>
            </a:r>
            <a:br>
              <a:rPr lang="en-US" altLang="ko-KR" sz="4000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en-US" altLang="ko-KR" sz="4000" dirty="0">
                <a:solidFill>
                  <a:schemeClr val="bg1"/>
                </a:solidFill>
                <a:latin typeface="Century Gothic" panose="020B0502020202020204" pitchFamily="34" charset="0"/>
              </a:rPr>
              <a:t>Editor</a:t>
            </a:r>
            <a:endParaRPr lang="ko-KR" altLang="en-US" sz="40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7DDC892A-FB32-0347-1D0F-70343D2FA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5575" y="0"/>
            <a:ext cx="56864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FBB7876B-367A-CA64-82A6-8B3D0AD23028}"/>
              </a:ext>
            </a:extLst>
          </p:cNvPr>
          <p:cNvSpPr/>
          <p:nvPr/>
        </p:nvSpPr>
        <p:spPr>
          <a:xfrm>
            <a:off x="6505575" y="0"/>
            <a:ext cx="1054231" cy="603315"/>
          </a:xfrm>
          <a:prstGeom prst="rect">
            <a:avLst/>
          </a:prstGeom>
          <a:solidFill>
            <a:srgbClr val="0909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C85D107-BB25-9491-1F15-0DC6065088C6}"/>
              </a:ext>
            </a:extLst>
          </p:cNvPr>
          <p:cNvSpPr/>
          <p:nvPr/>
        </p:nvSpPr>
        <p:spPr>
          <a:xfrm>
            <a:off x="6505574" y="6254685"/>
            <a:ext cx="1054231" cy="603315"/>
          </a:xfrm>
          <a:prstGeom prst="rect">
            <a:avLst/>
          </a:prstGeom>
          <a:solidFill>
            <a:srgbClr val="0909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CADD26-6961-5514-F7F3-C25FAAD88004}"/>
              </a:ext>
            </a:extLst>
          </p:cNvPr>
          <p:cNvSpPr txBox="1"/>
          <p:nvPr/>
        </p:nvSpPr>
        <p:spPr>
          <a:xfrm rot="5400000">
            <a:off x="11498181" y="6164182"/>
            <a:ext cx="118758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Paramount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Pictures ⓒ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부제목 2">
            <a:extLst>
              <a:ext uri="{FF2B5EF4-FFF2-40B4-BE49-F238E27FC236}">
                <a16:creationId xmlns:a16="http://schemas.microsoft.com/office/drawing/2014/main" id="{D68CB0E2-40C2-AB62-5FBC-4C3859449A4D}"/>
              </a:ext>
            </a:extLst>
          </p:cNvPr>
          <p:cNvSpPr txBox="1">
            <a:spLocks/>
          </p:cNvSpPr>
          <p:nvPr/>
        </p:nvSpPr>
        <p:spPr>
          <a:xfrm>
            <a:off x="537724" y="2717513"/>
            <a:ext cx="5558276" cy="3301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buNone/>
            </a:pPr>
            <a:r>
              <a:rPr lang="en-US" altLang="ko-KR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PIE Lifecycle</a:t>
            </a:r>
            <a:br>
              <a:rPr lang="en-US" altLang="ko-KR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</a:br>
            <a:br>
              <a:rPr lang="en-US" altLang="ko-KR" sz="1400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</a:br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StartPIE    </a:t>
            </a:r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  <a:latin typeface="+mj-lt"/>
                <a:ea typeface="Noto Sans KR Light" panose="020B0200000000000000" pitchFamily="50" charset="-127"/>
              </a:rPr>
              <a:t>-&gt;</a:t>
            </a:r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    BeginPlay    </a:t>
            </a:r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  <a:latin typeface="+mj-lt"/>
                <a:ea typeface="Noto Sans KR Light" panose="020B0200000000000000" pitchFamily="50" charset="-127"/>
              </a:rPr>
              <a:t>-&gt;</a:t>
            </a:r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    Tick    </a:t>
            </a:r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  <a:latin typeface="+mj-lt"/>
                <a:ea typeface="Noto Sans KR Light" panose="020B0200000000000000" pitchFamily="50" charset="-127"/>
              </a:rPr>
              <a:t>-&gt;</a:t>
            </a:r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    EndPIE</a:t>
            </a:r>
          </a:p>
          <a:p>
            <a:pPr marL="0" indent="0" algn="r">
              <a:lnSpc>
                <a:spcPct val="150000"/>
              </a:lnSpc>
              <a:buNone/>
            </a:pPr>
            <a:endParaRPr lang="en-US" altLang="ko-KR" sz="1400" dirty="0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ea typeface="Noto Sans KR Light" panose="020B0200000000000000" pitchFamily="50" charset="-127"/>
            </a:endParaRPr>
          </a:p>
          <a:p>
            <a:pPr marL="0" indent="0" algn="r">
              <a:lnSpc>
                <a:spcPct val="150000"/>
              </a:lnSpc>
              <a:buNone/>
            </a:pPr>
            <a:r>
              <a:rPr lang="ko-KR" altLang="en-US" sz="1400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원본 월드의 무결성을 보장하기 위해 데이터를 격리된 샌드박스로 </a:t>
            </a:r>
            <a:br>
              <a:rPr lang="en-US" altLang="ko-KR" sz="1400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</a:br>
            <a:r>
              <a:rPr lang="ko-KR" altLang="en-US" sz="1400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복제하여 실시간 게임 로직을 검증하고</a:t>
            </a:r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, </a:t>
            </a:r>
            <a:br>
              <a:rPr lang="en-US" altLang="ko-KR" sz="1400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</a:br>
            <a:br>
              <a:rPr lang="en-US" altLang="ko-KR" sz="1400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</a:br>
            <a:r>
              <a:rPr lang="ko-KR" altLang="en-US" sz="1400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종료 시 에디터 상태로 안전하게 복귀하는 독립적 런타임 수명 주기</a:t>
            </a:r>
          </a:p>
        </p:txBody>
      </p:sp>
    </p:spTree>
    <p:extLst>
      <p:ext uri="{BB962C8B-B14F-4D97-AF65-F5344CB8AC3E}">
        <p14:creationId xmlns:p14="http://schemas.microsoft.com/office/powerpoint/2010/main" val="284750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D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07E408-C0C4-BD16-3EC4-9AFFFCAE9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B8578EBA-774C-4125-BA32-FF49A4B03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903" y="1529331"/>
            <a:ext cx="9746427" cy="5305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12A422AA-90A4-343D-659A-6ABB92F6EBB1}"/>
              </a:ext>
            </a:extLst>
          </p:cNvPr>
          <p:cNvSpPr txBox="1">
            <a:spLocks/>
          </p:cNvSpPr>
          <p:nvPr/>
        </p:nvSpPr>
        <p:spPr>
          <a:xfrm>
            <a:off x="6915150" y="465993"/>
            <a:ext cx="4038600" cy="188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dirty="0">
                <a:solidFill>
                  <a:schemeClr val="bg1"/>
                </a:solidFill>
                <a:latin typeface="Century Gothic" panose="020B0502020202020204" pitchFamily="34" charset="0"/>
              </a:rPr>
              <a:t>User</a:t>
            </a:r>
          </a:p>
          <a:p>
            <a:r>
              <a:rPr lang="en-US" altLang="ko-KR" sz="4000" dirty="0">
                <a:solidFill>
                  <a:schemeClr val="bg1"/>
                </a:solidFill>
                <a:latin typeface="Century Gothic" panose="020B0502020202020204" pitchFamily="34" charset="0"/>
              </a:rPr>
              <a:t>Experience</a:t>
            </a:r>
            <a:endParaRPr lang="ko-KR" altLang="en-US" sz="40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부제목 2">
            <a:extLst>
              <a:ext uri="{FF2B5EF4-FFF2-40B4-BE49-F238E27FC236}">
                <a16:creationId xmlns:a16="http://schemas.microsoft.com/office/drawing/2014/main" id="{FB8F2E20-B727-0D00-F376-09178AA31706}"/>
              </a:ext>
            </a:extLst>
          </p:cNvPr>
          <p:cNvSpPr txBox="1">
            <a:spLocks/>
          </p:cNvSpPr>
          <p:nvPr/>
        </p:nvSpPr>
        <p:spPr>
          <a:xfrm>
            <a:off x="7010400" y="2426224"/>
            <a:ext cx="5181600" cy="41588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  Possessed / Ejected</a:t>
            </a:r>
            <a:br>
              <a:rPr lang="en-US" altLang="ko-KR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</a:br>
            <a:b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</a:br>
            <a: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     F8 </a:t>
            </a:r>
            <a:r>
              <a:rPr lang="ko-KR" altLang="en-US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키로 심리스 모드 전환</a:t>
            </a:r>
            <a: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                Play In Editor </a:t>
            </a:r>
            <a:r>
              <a:rPr lang="ko-KR" altLang="en-US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모드 내부에서 전환 가능</a:t>
            </a:r>
            <a: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	       PIE </a:t>
            </a:r>
            <a:r>
              <a:rPr lang="ko-KR" altLang="en-US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모드에서도 </a:t>
            </a:r>
            <a: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Ejected </a:t>
            </a:r>
            <a:r>
              <a:rPr lang="ko-KR" altLang="en-US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모드로 </a:t>
            </a:r>
            <a:b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</a:br>
            <a: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                         </a:t>
            </a:r>
            <a:r>
              <a:rPr lang="ko-KR" altLang="en-US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실시간 </a:t>
            </a:r>
            <a: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Level</a:t>
            </a:r>
            <a:r>
              <a:rPr lang="ko-KR" altLang="en-US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 수정 및 실험 가능</a:t>
            </a:r>
            <a: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	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1338526-4E85-10B5-2BC2-B29DCA34D9F2}"/>
              </a:ext>
            </a:extLst>
          </p:cNvPr>
          <p:cNvSpPr/>
          <p:nvPr/>
        </p:nvSpPr>
        <p:spPr>
          <a:xfrm>
            <a:off x="10041537" y="1289015"/>
            <a:ext cx="1238446" cy="603315"/>
          </a:xfrm>
          <a:prstGeom prst="rect">
            <a:avLst/>
          </a:prstGeom>
          <a:solidFill>
            <a:srgbClr val="100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5338D0D-C906-EB1C-64E4-C1D021C0BC25}"/>
              </a:ext>
            </a:extLst>
          </p:cNvPr>
          <p:cNvSpPr/>
          <p:nvPr/>
        </p:nvSpPr>
        <p:spPr>
          <a:xfrm>
            <a:off x="1238250" y="1590673"/>
            <a:ext cx="1238446" cy="603315"/>
          </a:xfrm>
          <a:prstGeom prst="rect">
            <a:avLst/>
          </a:prstGeom>
          <a:solidFill>
            <a:srgbClr val="100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DCF4CE-BBFC-D338-A505-BB87D8186451}"/>
              </a:ext>
            </a:extLst>
          </p:cNvPr>
          <p:cNvSpPr txBox="1"/>
          <p:nvPr/>
        </p:nvSpPr>
        <p:spPr>
          <a:xfrm>
            <a:off x="10896600" y="101602"/>
            <a:ext cx="1159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Paramount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Pictures ⓒ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9800DC-1B15-AAB3-40EB-0C5326D84B36}"/>
              </a:ext>
            </a:extLst>
          </p:cNvPr>
          <p:cNvSpPr txBox="1"/>
          <p:nvPr/>
        </p:nvSpPr>
        <p:spPr>
          <a:xfrm>
            <a:off x="533400" y="3593544"/>
            <a:ext cx="283388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Possessed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모드에서는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FPS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장르의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  <a:ea typeface="Noto Sans KR Light" panose="020B0200000000000000" pitchFamily="50" charset="-127"/>
            </a:endParaRPr>
          </a:p>
          <a:p>
            <a:pPr algn="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조작과 유사한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WASD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기반 조작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.</a:t>
            </a:r>
            <a:b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</a:br>
            <a:b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</a:b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Ejected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모드에서는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 Editor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모드와 </a:t>
            </a:r>
            <a:b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</a:b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조작 동일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.</a:t>
            </a:r>
            <a:b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</a:b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126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E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904009-1033-57BA-E2C9-BB67DA7B4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48D6AEA6-7D3D-1F16-372C-BC168C3167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2" r="6482" b="4762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부제목 2">
            <a:extLst>
              <a:ext uri="{FF2B5EF4-FFF2-40B4-BE49-F238E27FC236}">
                <a16:creationId xmlns:a16="http://schemas.microsoft.com/office/drawing/2014/main" id="{EC18644F-AE75-B17A-00B2-5F22C9D25A18}"/>
              </a:ext>
            </a:extLst>
          </p:cNvPr>
          <p:cNvSpPr txBox="1">
            <a:spLocks/>
          </p:cNvSpPr>
          <p:nvPr/>
        </p:nvSpPr>
        <p:spPr>
          <a:xfrm>
            <a:off x="6096000" y="2952750"/>
            <a:ext cx="6256337" cy="3301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UObject::Duplicate()</a:t>
            </a:r>
            <a:r>
              <a:rPr lang="ko-KR" altLang="en-US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를 통한 객체 단위 복제 프로세스</a:t>
            </a:r>
            <a: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.</a:t>
            </a:r>
            <a:b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</a:br>
            <a:endParaRPr lang="en-US" altLang="ko-KR" sz="1400" dirty="0">
              <a:solidFill>
                <a:schemeClr val="bg1"/>
              </a:solidFill>
              <a:latin typeface="Century Gothic" panose="020B0502020202020204" pitchFamily="34" charset="0"/>
              <a:ea typeface="Noto Sans KR Light" panose="020B0200000000000000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Shallow Copy</a:t>
            </a:r>
            <a:r>
              <a:rPr lang="ko-KR" altLang="en-US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로 변경되지 않는 자원</a:t>
            </a:r>
            <a: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(Texture, StaticMesh)</a:t>
            </a:r>
            <a:r>
              <a:rPr lang="ko-KR" altLang="en-US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은</a:t>
            </a:r>
            <a:endParaRPr lang="en-US" altLang="ko-KR" sz="1400" dirty="0">
              <a:solidFill>
                <a:schemeClr val="bg1"/>
              </a:solidFill>
              <a:latin typeface="Century Gothic" panose="020B0502020202020204" pitchFamily="34" charset="0"/>
              <a:ea typeface="Noto Sans KR Light" panose="020B0200000000000000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포인터만 복사하여 메모리 낭비 방지</a:t>
            </a:r>
            <a: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.</a:t>
            </a:r>
            <a:b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</a:br>
            <a:endParaRPr lang="en-US" altLang="ko-KR" sz="1400" dirty="0">
              <a:solidFill>
                <a:schemeClr val="bg1"/>
              </a:solidFill>
              <a:latin typeface="Century Gothic" panose="020B0502020202020204" pitchFamily="34" charset="0"/>
              <a:ea typeface="Noto Sans KR Light" panose="020B0200000000000000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Deep Copy</a:t>
            </a:r>
            <a:r>
              <a:rPr lang="ko-KR" altLang="en-US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로 상태가 변하는 객체</a:t>
            </a:r>
            <a: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(Actor, Component)</a:t>
            </a:r>
            <a:r>
              <a:rPr lang="ko-KR" altLang="en-US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는</a:t>
            </a:r>
            <a:endParaRPr lang="en-US" altLang="ko-KR" sz="1400" dirty="0">
              <a:solidFill>
                <a:schemeClr val="bg1"/>
              </a:solidFill>
              <a:latin typeface="Century Gothic" panose="020B0502020202020204" pitchFamily="34" charset="0"/>
              <a:ea typeface="Noto Sans KR Light" panose="020B0200000000000000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새로운 메모리 공간에 할당하여 에디터 원본 보호</a:t>
            </a:r>
            <a: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.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06BA0A6-D30F-2C52-C573-476B78DD955A}"/>
              </a:ext>
            </a:extLst>
          </p:cNvPr>
          <p:cNvSpPr txBox="1">
            <a:spLocks/>
          </p:cNvSpPr>
          <p:nvPr/>
        </p:nvSpPr>
        <p:spPr>
          <a:xfrm>
            <a:off x="2000251" y="1066390"/>
            <a:ext cx="4294186" cy="188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4000" dirty="0">
                <a:solidFill>
                  <a:schemeClr val="bg1"/>
                </a:solidFill>
                <a:latin typeface="Century Gothic" panose="020B0502020202020204" pitchFamily="34" charset="0"/>
              </a:rPr>
              <a:t>Object</a:t>
            </a:r>
          </a:p>
          <a:p>
            <a:pPr algn="r"/>
            <a:r>
              <a:rPr lang="en-US" altLang="ko-KR" sz="4000" dirty="0">
                <a:solidFill>
                  <a:schemeClr val="bg1"/>
                </a:solidFill>
                <a:latin typeface="Century Gothic" panose="020B0502020202020204" pitchFamily="34" charset="0"/>
              </a:rPr>
              <a:t>Duplication</a:t>
            </a:r>
            <a:endParaRPr lang="ko-KR" altLang="en-US" sz="40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48538B-660E-B1B7-C47A-BA7A23D5BEAE}"/>
              </a:ext>
            </a:extLst>
          </p:cNvPr>
          <p:cNvSpPr txBox="1"/>
          <p:nvPr/>
        </p:nvSpPr>
        <p:spPr>
          <a:xfrm>
            <a:off x="10896600" y="101602"/>
            <a:ext cx="1159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Paramount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Pictures ⓒ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923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9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32EEC6-6F71-6ADA-E5B8-8D38659AC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>
            <a:extLst>
              <a:ext uri="{FF2B5EF4-FFF2-40B4-BE49-F238E27FC236}">
                <a16:creationId xmlns:a16="http://schemas.microsoft.com/office/drawing/2014/main" id="{DCC36237-12F1-5163-3048-1C5943877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601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부제목 2">
            <a:extLst>
              <a:ext uri="{FF2B5EF4-FFF2-40B4-BE49-F238E27FC236}">
                <a16:creationId xmlns:a16="http://schemas.microsoft.com/office/drawing/2014/main" id="{72644FEB-B6B0-9DBE-2BDD-C1FB58063CDC}"/>
              </a:ext>
            </a:extLst>
          </p:cNvPr>
          <p:cNvSpPr txBox="1">
            <a:spLocks/>
          </p:cNvSpPr>
          <p:nvPr/>
        </p:nvSpPr>
        <p:spPr>
          <a:xfrm>
            <a:off x="5568058" y="2275869"/>
            <a:ext cx="6256337" cy="3873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AActor</a:t>
            </a:r>
            <a:r>
              <a:rPr lang="ko-KR" altLang="en-US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가 </a:t>
            </a:r>
            <a: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OwnedComponents </a:t>
            </a:r>
            <a:r>
              <a:rPr lang="ko-KR" altLang="en-US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집합을 관리하며</a:t>
            </a:r>
            <a: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,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ko-KR" altLang="en-US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각 기능을 독립적인 클래스</a:t>
            </a:r>
            <a: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(TextRender, Billboard)</a:t>
            </a:r>
            <a:r>
              <a:rPr lang="ko-KR" altLang="en-US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로 분리한 설계</a:t>
            </a:r>
            <a: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.</a:t>
            </a:r>
          </a:p>
          <a:p>
            <a:pPr marL="0" indent="0" algn="r">
              <a:lnSpc>
                <a:spcPct val="150000"/>
              </a:lnSpc>
              <a:buNone/>
            </a:pPr>
            <a:endParaRPr lang="en-US" altLang="ko-KR" sz="1400" dirty="0">
              <a:solidFill>
                <a:schemeClr val="bg1"/>
              </a:solidFill>
              <a:latin typeface="Century Gothic" panose="020B0502020202020204" pitchFamily="34" charset="0"/>
              <a:ea typeface="Noto Sans KR Light" panose="020B0200000000000000" pitchFamily="50" charset="-127"/>
            </a:endParaRPr>
          </a:p>
          <a:p>
            <a:pPr marL="0" indent="0" algn="r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TextRenderComponent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ko-KR" altLang="en-US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기존 </a:t>
            </a:r>
            <a: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UUID </a:t>
            </a:r>
            <a:r>
              <a:rPr lang="ko-KR" altLang="en-US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로직을 컴포넌트화하여 범용적인 </a:t>
            </a:r>
            <a: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3D </a:t>
            </a:r>
            <a:r>
              <a:rPr lang="ko-KR" altLang="en-US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텍스트 출력</a:t>
            </a:r>
            <a: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.</a:t>
            </a:r>
          </a:p>
          <a:p>
            <a:pPr marL="0" indent="0" algn="r">
              <a:lnSpc>
                <a:spcPct val="150000"/>
              </a:lnSpc>
              <a:buNone/>
            </a:pPr>
            <a:b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</a:br>
            <a:b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</a:br>
            <a: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BillboardComponent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ko-KR" altLang="en-US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카메라를 항상 정면으로 응시하는 쿼드 렌더링 기법</a:t>
            </a:r>
            <a:r>
              <a:rPr lang="en-US" altLang="ko-KR" sz="1400" dirty="0">
                <a:solidFill>
                  <a:schemeClr val="bg1"/>
                </a:solidFill>
                <a:latin typeface="Century Gothic" panose="020B0502020202020204" pitchFamily="34" charset="0"/>
                <a:ea typeface="Noto Sans KR Light" panose="020B0200000000000000" pitchFamily="50" charset="-127"/>
              </a:rPr>
              <a:t>.</a:t>
            </a:r>
          </a:p>
          <a:p>
            <a:pPr marL="0" indent="0" algn="r">
              <a:lnSpc>
                <a:spcPct val="150000"/>
              </a:lnSpc>
              <a:buNone/>
            </a:pPr>
            <a:endParaRPr lang="en-US" altLang="ko-KR" sz="1400" dirty="0">
              <a:solidFill>
                <a:schemeClr val="bg1"/>
              </a:solidFill>
              <a:latin typeface="Century Gothic" panose="020B0502020202020204" pitchFamily="34" charset="0"/>
              <a:ea typeface="Noto Sans KR Light" panose="020B0200000000000000" pitchFamily="50" charset="-127"/>
            </a:endParaRPr>
          </a:p>
          <a:p>
            <a:pPr marL="0" indent="0" algn="r">
              <a:lnSpc>
                <a:spcPct val="150000"/>
              </a:lnSpc>
              <a:buNone/>
            </a:pPr>
            <a:endParaRPr lang="en-US" altLang="ko-KR" sz="1400" dirty="0">
              <a:solidFill>
                <a:schemeClr val="bg1"/>
              </a:solidFill>
              <a:latin typeface="Century Gothic" panose="020B0502020202020204" pitchFamily="34" charset="0"/>
              <a:ea typeface="Noto Sans KR Light" panose="020B0200000000000000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F8B1463-CF75-CFF1-B86E-250B2ADA7A51}"/>
              </a:ext>
            </a:extLst>
          </p:cNvPr>
          <p:cNvSpPr txBox="1">
            <a:spLocks/>
          </p:cNvSpPr>
          <p:nvPr/>
        </p:nvSpPr>
        <p:spPr>
          <a:xfrm>
            <a:off x="8574782" y="345583"/>
            <a:ext cx="3249613" cy="188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4000" dirty="0">
                <a:solidFill>
                  <a:schemeClr val="bg1"/>
                </a:solidFill>
                <a:latin typeface="Century Gothic" panose="020B0502020202020204" pitchFamily="34" charset="0"/>
              </a:rPr>
              <a:t>Component Pattern</a:t>
            </a:r>
            <a:endParaRPr lang="ko-KR" altLang="en-US" sz="40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5293D-2956-4E03-3A91-9047AF022663}"/>
              </a:ext>
            </a:extLst>
          </p:cNvPr>
          <p:cNvSpPr txBox="1"/>
          <p:nvPr/>
        </p:nvSpPr>
        <p:spPr>
          <a:xfrm>
            <a:off x="10896600" y="101602"/>
            <a:ext cx="1159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Paramount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Pictures ⓒ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C9AB6F8-F740-B96A-A8B4-4ECBE30052BB}"/>
              </a:ext>
            </a:extLst>
          </p:cNvPr>
          <p:cNvSpPr/>
          <p:nvPr/>
        </p:nvSpPr>
        <p:spPr>
          <a:xfrm>
            <a:off x="8574782" y="-1"/>
            <a:ext cx="1238446" cy="603315"/>
          </a:xfrm>
          <a:prstGeom prst="rect">
            <a:avLst/>
          </a:prstGeom>
          <a:solidFill>
            <a:srgbClr val="1819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D06474F-B4C8-EB7C-DC49-FF1628E43EAA}"/>
              </a:ext>
            </a:extLst>
          </p:cNvPr>
          <p:cNvSpPr/>
          <p:nvPr/>
        </p:nvSpPr>
        <p:spPr>
          <a:xfrm>
            <a:off x="0" y="0"/>
            <a:ext cx="771525" cy="387287"/>
          </a:xfrm>
          <a:prstGeom prst="rect">
            <a:avLst/>
          </a:prstGeom>
          <a:solidFill>
            <a:srgbClr val="1819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2739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F5F4D-3118-B3E1-7A99-7690BC4A4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F4061F52-92B7-49E2-5767-59F514807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-1"/>
            <a:ext cx="12190412" cy="6858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8500E97-723D-8C70-FD71-58CBA9E61665}"/>
              </a:ext>
            </a:extLst>
          </p:cNvPr>
          <p:cNvSpPr txBox="1">
            <a:spLocks/>
          </p:cNvSpPr>
          <p:nvPr/>
        </p:nvSpPr>
        <p:spPr>
          <a:xfrm>
            <a:off x="8147843" y="2485820"/>
            <a:ext cx="3249613" cy="188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4000" dirty="0">
                <a:solidFill>
                  <a:schemeClr val="bg1"/>
                </a:solidFill>
                <a:latin typeface="Century Gothic" panose="020B0502020202020204" pitchFamily="34" charset="0"/>
              </a:rPr>
              <a:t>Showcase</a:t>
            </a:r>
            <a:endParaRPr lang="ko-KR" altLang="en-US" sz="40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640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289</Words>
  <Application>Microsoft Office PowerPoint</Application>
  <PresentationFormat>와이드스크린</PresentationFormat>
  <Paragraphs>43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Noto Sans KR Light</vt:lpstr>
      <vt:lpstr>맑은 고딕</vt:lpstr>
      <vt:lpstr>Arial</vt:lpstr>
      <vt:lpstr>Century Gothic</vt:lpstr>
      <vt:lpstr>Office 테마</vt:lpstr>
      <vt:lpstr>Player  In  Editor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김기훈</dc:creator>
  <cp:lastModifiedBy>김기훈</cp:lastModifiedBy>
  <cp:revision>48</cp:revision>
  <dcterms:created xsi:type="dcterms:W3CDTF">2026-04-08T12:23:13Z</dcterms:created>
  <dcterms:modified xsi:type="dcterms:W3CDTF">2026-04-08T16:09:13Z</dcterms:modified>
</cp:coreProperties>
</file>