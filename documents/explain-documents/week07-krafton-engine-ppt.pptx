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4"/>
  </p:sldMasterIdLst>
  <p:notesMasterIdLst>
    <p:notesMasterId r:id="rId18"/>
  </p:notesMasterIdLst>
  <p:sldIdLst>
    <p:sldId id="256" r:id="rId5"/>
    <p:sldId id="257" r:id="rId6"/>
    <p:sldId id="277" r:id="rId7"/>
    <p:sldId id="271" r:id="rId8"/>
    <p:sldId id="272" r:id="rId9"/>
    <p:sldId id="273" r:id="rId10"/>
    <p:sldId id="268" r:id="rId11"/>
    <p:sldId id="270" r:id="rId12"/>
    <p:sldId id="269" r:id="rId13"/>
    <p:sldId id="261" r:id="rId14"/>
    <p:sldId id="262" r:id="rId15"/>
    <p:sldId id="275" r:id="rId16"/>
    <p:sldId id="26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3232"/>
    <a:srgbClr val="0F0F0F"/>
    <a:srgbClr val="000000"/>
    <a:srgbClr val="F3D387"/>
    <a:srgbClr val="F8E9B5"/>
    <a:srgbClr val="E3E4E6"/>
    <a:srgbClr val="ED7D31"/>
    <a:srgbClr val="000103"/>
    <a:srgbClr val="B51B17"/>
    <a:srgbClr val="E434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905CB-1CB1-007F-14FE-3D2BE9FB69EF}" v="3" dt="2026-04-22T10:22:59.558"/>
    <p1510:client id="{1D8CB806-4CAB-4528-930E-0D076D674621}" v="6224" dt="2026-04-22T18:50:30.184"/>
    <p1510:client id="{280E854E-B8C5-B32B-25AB-B5E45B13A2B6}" v="43" dt="2026-04-22T18:22:49.312"/>
    <p1510:client id="{454C0FE0-26F4-93E4-CD74-54E7BC06D4CB}" v="3" dt="2026-04-22T18:06:35.522"/>
    <p1510:client id="{594BB325-381E-2E7E-5508-212306085C3B}" v="220" dt="2026-04-23T00:53:50.245"/>
    <p1510:client id="{6EF740DA-9925-AAA8-71FC-6E41025FF33E}" v="17" dt="2026-04-22T18:23:39.098"/>
    <p1510:client id="{7F95298C-FE34-F69E-2C99-ECE8A0E6C1FE}" v="35" dt="2026-04-22T06:23:44.751"/>
    <p1510:client id="{978C92A1-54DC-2F50-F5D2-27753277C96A}" v="582" dt="2026-04-22T08:36:08.222"/>
    <p1510:client id="{998E55C2-388C-9994-B3F5-B534A0DF1E48}" v="11" dt="2026-04-22T10:23:29.827"/>
    <p1510:client id="{AC1963C2-D3C8-1C42-09B4-2AD8B5EB06D3}" v="247" dt="2026-04-22T18:05:15.172"/>
    <p1510:client id="{B0D84D7A-8873-7DE4-6CD8-9EF118B78EFC}" v="1489" dt="2026-04-22T15:31:05.101"/>
    <p1510:client id="{D16F64A8-F908-00C1-F0DF-FEBD861F4F64}" v="61" dt="2026-04-22T17:26:53.646"/>
    <p1510:client id="{F37D9F16-74DA-01CA-4126-19E508BEF807}" v="492" dt="2026-04-22T14:49:32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744BA-4CC9-41A8-86AD-6E641F0AAC82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2BABB-961A-448B-9C2C-CB654ED28E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157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02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9920-1B9F-703C-1F1C-A58ED08B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F3A36-57AC-CCE6-D412-7981DE99C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0C6237-18D4-746F-265E-0872A1B96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D45552-E731-D91E-B0E8-1E4B8E6C8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26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56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DAAA-5EB2-2C2C-9DE8-F4E8A4CA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EEDDB-B96C-94D6-2C59-23AD381DC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235296-03AE-203D-3BD8-3A616F43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6588C-E5D5-5132-E0B8-2C1F59C4C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5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759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771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933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98BD-1167-C996-43BC-F4076F1A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422FC0-E67E-253D-ACE3-9924C643F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7DFB3-757A-3787-3CD9-A61E792E1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A1952-9393-F4FD-2976-0A488E5A9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2BABB-961A-448B-9C2C-CB654ED28EF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3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5BD2A-0F63-E278-C335-F3CE1D777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05F6ED-2E24-5DCA-3368-B949521EA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5A5DA-3454-D5E4-28AA-8CA0365E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B4BD0-1FFD-75BD-414A-7815C5DF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8F808D-1C06-F22E-6A4B-7ED5F43F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506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0D69C-3DA2-7FFF-9425-CDFE8E0B3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6AEBE5-B08F-63C3-384A-ED71D5D0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F8E97-4B74-8394-0AB3-F6BF1DD9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253CE5-32EB-44F9-2D57-CD8E593F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FAC96-1B5C-441C-8F05-C182DA0C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975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B80D7-0777-0110-64EB-62A612DE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04404C-AC0A-1127-6141-792EAC12F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4A1932-442A-8174-2B97-592EABDD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2A0BCE-59CE-E3AF-B949-FF95B24E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A350A-81EB-9218-A727-B7A80B75E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17713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1A83-47BC-0A6D-4A6A-FFDDC2A8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F870E-2618-9B08-EE03-01A94DD5B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E8F32E-59DF-CD11-50F9-87337D724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EA206-C9E4-B66F-9AD9-FECEFB68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A68716-E816-13C8-BE57-4696A895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BA08B1-D584-34AB-8A86-24A0F850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6044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FABA1-3053-3056-3DB4-84AA0961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AF0E8-07BF-6CC3-32D2-A54A30E55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08077B-A3A1-5A1D-C325-2CA67A79B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1C7D70-3D87-A221-8AD8-15C9C6E42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CB45FF-3F58-0C8D-158F-E2933234C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2E7224-C814-1A20-311A-6C1767FE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E8EBD9-E982-1E7C-3D6F-77C7A4F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145F81-E238-F34E-B220-F93723B2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0380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0D3FE-6957-6338-9EDA-D96D059B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8D0D7D-14E4-3E0D-B799-BB05A19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DAFEB6-679F-0C9A-0D26-1034FD91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6555B2-5BFB-A70B-98F4-43259D38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0361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F65003-B94F-1238-28E3-D16400EF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A59182-6D24-1CAB-78BB-9236FBA0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729CC-1503-B6C0-CDFF-157A90E8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713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41D81-6A63-D53F-2645-5744E6B5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9F8575-5AFC-565A-0AAD-51309825F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EAF976-3CB2-3750-7934-F17E21D38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B1EB30-6543-0EEF-9009-D46A8199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3143D-C5F3-B9AE-1AD3-7AA6506F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C10D7C-A1BD-FD1D-7090-9965D925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554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83221-B21C-DF02-434D-ACDA6E20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35AE9D-0DFD-ADB1-C537-22EFC8223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AB51A8-8ED0-D7DF-DC45-4D6D90DB9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D37549-65B7-3861-995F-526077B5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7ABF81-5D2F-8DDA-CB82-18B09FFA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D12F57-594B-7E03-7115-BFE07A23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9831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72ABB-A820-1059-A336-065AC3CD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AF5CFB-6964-0698-E0A4-382498BEC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BD12BC-ED8B-FE8C-FD96-B008B60B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E4A69-CB3B-C235-0E49-F5995CA2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E9391-ACE8-8D83-CF85-60C17787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1226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2CFBF1-B544-63EE-BBD9-95E2153F6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87A7F8-C3BA-355A-7B87-D71EE326A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881CA9-89D3-E6B5-8225-CDFC2859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A521A-1173-83D7-18C5-58C22630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87F35-6F4C-1BE1-A752-22427B72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9047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EA2B17-04E9-9C02-F6FA-88312D88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7D1CE-F653-1251-2B6F-DA1D6C53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3D3F6-E0F7-4017-E92D-CAB0EF43D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A3DFD-A535-46B2-84C1-61DC8B16A90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BC53A-54E9-9710-F3F5-CF27F28F9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CCAC22-AFFA-0806-703E-60C8DD6B2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A61CA-0502-4EE4-9724-96EA8225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9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5D8013B2-6311-9D66-E693-1AB66A626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8" t="12108" r="9095" b="6774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9B85E1-9F59-824E-DC78-DE9ED8655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4123" y="1457324"/>
            <a:ext cx="4528428" cy="1971676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 b="0">
                <a:solidFill>
                  <a:srgbClr val="E4342E"/>
                </a:solidFill>
                <a:latin typeface="Century Gothic" panose="020B0502020202020204" pitchFamily="34" charset="0"/>
              </a:rPr>
              <a:t>INTRODUCTION TO</a:t>
            </a:r>
            <a:br>
              <a:rPr lang="en-US" altLang="ko-KR" sz="4000" b="0">
                <a:solidFill>
                  <a:srgbClr val="E4342E"/>
                </a:solidFill>
                <a:latin typeface="Century Gothic" panose="020B0502020202020204" pitchFamily="34" charset="0"/>
              </a:rPr>
            </a:br>
            <a:r>
              <a:rPr lang="en-US" altLang="ko-KR" sz="4000" b="0">
                <a:solidFill>
                  <a:srgbClr val="E4342E"/>
                </a:solidFill>
                <a:latin typeface="Century Gothic" panose="020B0502020202020204" pitchFamily="34" charset="0"/>
              </a:rPr>
              <a:t>LIGHTING</a:t>
            </a:r>
            <a:endParaRPr lang="ko-KR" altLang="en-US" sz="4000" b="0">
              <a:solidFill>
                <a:srgbClr val="E4342E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F4B541-168E-5699-8CC0-78A943FA0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4738" y="3951220"/>
            <a:ext cx="1387813" cy="512762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>
                <a:solidFill>
                  <a:srgbClr val="E3E4E6"/>
                </a:solidFill>
                <a:latin typeface="Century Gothic" panose="020B0502020202020204" pitchFamily="34" charset="0"/>
              </a:rPr>
              <a:t>TEAM 7</a:t>
            </a:r>
            <a:endParaRPr lang="ko-KR" altLang="en-US" sz="1800">
              <a:solidFill>
                <a:srgbClr val="E3E4E6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3DEEA-BE2E-7B5F-824F-702CE0360A78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2017 Alcon Entertainment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11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062B4-7A2F-9D87-3426-4E503668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260" y="98291"/>
            <a:ext cx="8599176" cy="756784"/>
          </a:xfrm>
        </p:spPr>
        <p:txBody>
          <a:bodyPr>
            <a:normAutofit/>
          </a:bodyPr>
          <a:lstStyle/>
          <a:p>
            <a:pPr algn="r"/>
            <a:r>
              <a:rPr lang="en-US" altLang="ko-KR" sz="2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25000"/>
                    </a:srgbClr>
                  </a:glow>
                </a:effectLst>
                <a:latin typeface="Consolas" panose="020B0609020204030204" pitchFamily="49" charset="0"/>
              </a:rPr>
              <a:t>INITIATING RENDERING PASS...|</a:t>
            </a:r>
            <a:endParaRPr lang="ko-KR" altLang="en-US" sz="2400">
              <a:solidFill>
                <a:srgbClr val="F3D387">
                  <a:alpha val="85000"/>
                </a:srgbClr>
              </a:solidFill>
              <a:effectLst>
                <a:glow rad="127000">
                  <a:srgbClr val="F1DA96">
                    <a:alpha val="25000"/>
                  </a:srgbClr>
                </a:glow>
              </a:effectLst>
              <a:latin typeface="Consolas" panose="020B0609020204030204" pitchFamily="49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6516DD-2AB8-C48E-B05A-D9DFC3F544EB}"/>
              </a:ext>
            </a:extLst>
          </p:cNvPr>
          <p:cNvSpPr/>
          <p:nvPr/>
        </p:nvSpPr>
        <p:spPr>
          <a:xfrm>
            <a:off x="2045169" y="2742571"/>
            <a:ext cx="1849574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DEPTH PREPASS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91986E8-850C-08EE-A4E3-0353DD1D0E92}"/>
              </a:ext>
            </a:extLst>
          </p:cNvPr>
          <p:cNvSpPr/>
          <p:nvPr/>
        </p:nvSpPr>
        <p:spPr>
          <a:xfrm>
            <a:off x="4239729" y="2742571"/>
            <a:ext cx="1849574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LIGHT CULLING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41EFE43-31CB-B694-19B3-525C3763D9B8}"/>
              </a:ext>
            </a:extLst>
          </p:cNvPr>
          <p:cNvSpPr/>
          <p:nvPr/>
        </p:nvSpPr>
        <p:spPr>
          <a:xfrm>
            <a:off x="6357943" y="2744209"/>
            <a:ext cx="2054439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OPAQUE</a:t>
            </a:r>
          </a:p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(PRIMITIVE, DECAL)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E1F97F-2564-E73A-BF11-6D503EA2219E}"/>
              </a:ext>
            </a:extLst>
          </p:cNvPr>
          <p:cNvSpPr/>
          <p:nvPr/>
        </p:nvSpPr>
        <p:spPr>
          <a:xfrm>
            <a:off x="8707738" y="2742570"/>
            <a:ext cx="1849574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LIGHTING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25A0219-4446-48B8-A8D3-B7B513340998}"/>
              </a:ext>
            </a:extLst>
          </p:cNvPr>
          <p:cNvSpPr/>
          <p:nvPr/>
        </p:nvSpPr>
        <p:spPr>
          <a:xfrm>
            <a:off x="3626543" y="3603182"/>
            <a:ext cx="2054440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POST PROCESS</a:t>
            </a:r>
          </a:p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(BLEND, FOG, FXAA)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D64A53D-AB60-0671-E4CE-C16C32282310}"/>
              </a:ext>
            </a:extLst>
          </p:cNvPr>
          <p:cNvCxnSpPr>
            <a:cxnSpLocks/>
          </p:cNvCxnSpPr>
          <p:nvPr/>
        </p:nvCxnSpPr>
        <p:spPr>
          <a:xfrm>
            <a:off x="3894743" y="3025948"/>
            <a:ext cx="344986" cy="0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17D9A63-2B6A-3049-FFA2-3BAB27E966CA}"/>
              </a:ext>
            </a:extLst>
          </p:cNvPr>
          <p:cNvSpPr/>
          <p:nvPr/>
        </p:nvSpPr>
        <p:spPr>
          <a:xfrm>
            <a:off x="6192242" y="3600777"/>
            <a:ext cx="2906403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EDITOR OVERLAY</a:t>
            </a:r>
          </a:p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(OUTLINE, DEBUGLINE, GIZMO)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35874-03EC-816A-3408-7C05EED1999C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rgbClr val="C59977"/>
                </a:solidFill>
              </a:rPr>
              <a:t>ⓒ </a:t>
            </a:r>
            <a:r>
              <a:rPr lang="en-US" altLang="ko-KR" sz="900">
                <a:solidFill>
                  <a:srgbClr val="C59977"/>
                </a:solidFill>
              </a:rPr>
              <a:t>2017 Alcon Entertainment</a:t>
            </a:r>
            <a:endParaRPr lang="ko-KR" altLang="en-US" sz="900">
              <a:solidFill>
                <a:srgbClr val="C59977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DDC44F3-AE65-A5AE-BF68-4184EC79C022}"/>
              </a:ext>
            </a:extLst>
          </p:cNvPr>
          <p:cNvCxnSpPr>
            <a:cxnSpLocks/>
          </p:cNvCxnSpPr>
          <p:nvPr/>
        </p:nvCxnSpPr>
        <p:spPr>
          <a:xfrm>
            <a:off x="6089303" y="3025946"/>
            <a:ext cx="344986" cy="0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BB12161-A208-38F6-4CA0-B678AEF2CA28}"/>
              </a:ext>
            </a:extLst>
          </p:cNvPr>
          <p:cNvCxnSpPr>
            <a:cxnSpLocks/>
          </p:cNvCxnSpPr>
          <p:nvPr/>
        </p:nvCxnSpPr>
        <p:spPr>
          <a:xfrm>
            <a:off x="8536886" y="3025946"/>
            <a:ext cx="344986" cy="0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86CA140-DA85-3ECA-7FF6-2BE8E1ABCD45}"/>
              </a:ext>
            </a:extLst>
          </p:cNvPr>
          <p:cNvCxnSpPr>
            <a:cxnSpLocks/>
          </p:cNvCxnSpPr>
          <p:nvPr/>
        </p:nvCxnSpPr>
        <p:spPr>
          <a:xfrm>
            <a:off x="3135988" y="3880729"/>
            <a:ext cx="344986" cy="0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467CEE8-C085-F520-D5BB-62543B40EB96}"/>
              </a:ext>
            </a:extLst>
          </p:cNvPr>
          <p:cNvCxnSpPr>
            <a:cxnSpLocks/>
          </p:cNvCxnSpPr>
          <p:nvPr/>
        </p:nvCxnSpPr>
        <p:spPr>
          <a:xfrm>
            <a:off x="5847256" y="3884154"/>
            <a:ext cx="344986" cy="0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95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CC3C-A696-AE75-AA85-8525FDAA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49D00B-A88B-014A-6F76-5F7C4E5C6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  <a14:imgEffect>
                      <a14:brightnessContrast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91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8C8E315-0C48-9A11-6FA3-9BA7DAD99274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rgbClr val="C59977"/>
                </a:solidFill>
              </a:rPr>
              <a:t>ⓒ </a:t>
            </a:r>
            <a:r>
              <a:rPr lang="en-US" altLang="ko-KR" sz="900">
                <a:solidFill>
                  <a:srgbClr val="C59977"/>
                </a:solidFill>
              </a:rPr>
              <a:t>2017 Alcon Entertainment</a:t>
            </a:r>
            <a:endParaRPr lang="ko-KR" altLang="en-US" sz="900">
              <a:solidFill>
                <a:srgbClr val="C59977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4F63CCE-A8F2-4ED8-18EC-E3672E7DBBEA}"/>
              </a:ext>
            </a:extLst>
          </p:cNvPr>
          <p:cNvSpPr/>
          <p:nvPr/>
        </p:nvSpPr>
        <p:spPr>
          <a:xfrm>
            <a:off x="3623052" y="2739156"/>
            <a:ext cx="5247704" cy="1379688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latin typeface="Consolas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97988E1-FE8B-9237-63D3-4572CF97597F}"/>
              </a:ext>
            </a:extLst>
          </p:cNvPr>
          <p:cNvSpPr/>
          <p:nvPr/>
        </p:nvSpPr>
        <p:spPr>
          <a:xfrm>
            <a:off x="3807138" y="3156141"/>
            <a:ext cx="3318354" cy="729263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effectLst>
                <a:glow rad="127000">
                  <a:srgbClr val="F3D387">
                    <a:alpha val="10000"/>
                  </a:srgbClr>
                </a:glow>
              </a:effectLst>
              <a:latin typeface="Consola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1889D4-31DC-7771-C602-153E00F67EFD}"/>
              </a:ext>
            </a:extLst>
          </p:cNvPr>
          <p:cNvSpPr/>
          <p:nvPr/>
        </p:nvSpPr>
        <p:spPr>
          <a:xfrm>
            <a:off x="3951123" y="3286131"/>
            <a:ext cx="576993" cy="435918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Lit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B7D3021-8FAF-8EFF-1035-4D78714888F0}"/>
              </a:ext>
            </a:extLst>
          </p:cNvPr>
          <p:cNvCxnSpPr>
            <a:cxnSpLocks/>
          </p:cNvCxnSpPr>
          <p:nvPr/>
        </p:nvCxnSpPr>
        <p:spPr>
          <a:xfrm>
            <a:off x="4218878" y="2338388"/>
            <a:ext cx="0" cy="400768"/>
          </a:xfrm>
          <a:prstGeom prst="straightConnector1">
            <a:avLst/>
          </a:prstGeom>
          <a:ln>
            <a:solidFill>
              <a:srgbClr val="F3D387">
                <a:alpha val="8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0400D9F-ECB2-1488-1F15-B54435430876}"/>
              </a:ext>
            </a:extLst>
          </p:cNvPr>
          <p:cNvSpPr/>
          <p:nvPr/>
        </p:nvSpPr>
        <p:spPr>
          <a:xfrm>
            <a:off x="3382367" y="1925628"/>
            <a:ext cx="1849574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EditorRoot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CB4ED20-86D4-8DBA-B15C-E7647D6226C8}"/>
              </a:ext>
            </a:extLst>
          </p:cNvPr>
          <p:cNvSpPr/>
          <p:nvPr/>
        </p:nvSpPr>
        <p:spPr>
          <a:xfrm>
            <a:off x="3735700" y="2667256"/>
            <a:ext cx="966356" cy="566753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15000"/>
                    </a:srgbClr>
                  </a:glow>
                </a:effectLst>
                <a:latin typeface="Consolas" panose="020B0609020204030204" pitchFamily="49" charset="0"/>
              </a:rPr>
              <a:t>Scene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66084C5-A9D3-DD83-3698-CB3F9F51A6B9}"/>
              </a:ext>
            </a:extLst>
          </p:cNvPr>
          <p:cNvSpPr/>
          <p:nvPr/>
        </p:nvSpPr>
        <p:spPr>
          <a:xfrm>
            <a:off x="4702056" y="3291734"/>
            <a:ext cx="833165" cy="435918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NonLit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A08516A-A66C-57AF-989D-2DA72364C764}"/>
              </a:ext>
            </a:extLst>
          </p:cNvPr>
          <p:cNvSpPr/>
          <p:nvPr/>
        </p:nvSpPr>
        <p:spPr>
          <a:xfrm>
            <a:off x="5709161" y="3280079"/>
            <a:ext cx="1252804" cy="435918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DepthOnly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EB33F639-A9A3-B858-FE11-250D750764D4}"/>
              </a:ext>
            </a:extLst>
          </p:cNvPr>
          <p:cNvSpPr/>
          <p:nvPr/>
        </p:nvSpPr>
        <p:spPr>
          <a:xfrm>
            <a:off x="7364865" y="3156140"/>
            <a:ext cx="1358340" cy="729264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PostProcess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486292BD-909A-8689-F0CC-C0120457BA49}"/>
              </a:ext>
            </a:extLst>
          </p:cNvPr>
          <p:cNvSpPr/>
          <p:nvPr/>
        </p:nvSpPr>
        <p:spPr>
          <a:xfrm>
            <a:off x="5391237" y="4403882"/>
            <a:ext cx="1084084" cy="450621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Overlay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1C6C1A72-80E2-4DCB-95DA-6F1D8ED08AEF}"/>
              </a:ext>
            </a:extLst>
          </p:cNvPr>
          <p:cNvSpPr/>
          <p:nvPr/>
        </p:nvSpPr>
        <p:spPr>
          <a:xfrm>
            <a:off x="6742757" y="4393900"/>
            <a:ext cx="1084083" cy="470584"/>
          </a:xfrm>
          <a:prstGeom prst="roundRect">
            <a:avLst/>
          </a:prstGeom>
          <a:noFill/>
          <a:ln w="28575">
            <a:solidFill>
              <a:srgbClr val="F3D387">
                <a:alpha val="75000"/>
              </a:srgbClr>
            </a:solidFill>
          </a:ln>
          <a:effectLst>
            <a:glow rad="127000">
              <a:srgbClr val="F3D387">
                <a:alpha val="1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3D387">
                      <a:alpha val="15000"/>
                    </a:srgbClr>
                  </a:glow>
                </a:effectLst>
                <a:latin typeface="Consolas"/>
              </a:rPr>
              <a:t>Present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0BC9C16-D39A-B703-3565-03F3FDBCF0B9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475321" y="4629192"/>
            <a:ext cx="267436" cy="1"/>
          </a:xfrm>
          <a:prstGeom prst="straightConnector1">
            <a:avLst/>
          </a:prstGeom>
          <a:ln>
            <a:solidFill>
              <a:srgbClr val="F3D387">
                <a:alpha val="7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658DA78-A4C4-98F6-6A02-3D3AEB1E56A1}"/>
              </a:ext>
            </a:extLst>
          </p:cNvPr>
          <p:cNvCxnSpPr>
            <a:cxnSpLocks/>
          </p:cNvCxnSpPr>
          <p:nvPr/>
        </p:nvCxnSpPr>
        <p:spPr>
          <a:xfrm>
            <a:off x="4307154" y="4118844"/>
            <a:ext cx="1084083" cy="530151"/>
          </a:xfrm>
          <a:prstGeom prst="bentConnector3">
            <a:avLst/>
          </a:prstGeom>
          <a:ln>
            <a:solidFill>
              <a:srgbClr val="F3D387">
                <a:alpha val="75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7349DDE-4469-4BC5-E0CA-3F58539DC90B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 flipV="1">
            <a:off x="7125492" y="3520772"/>
            <a:ext cx="239373" cy="1"/>
          </a:xfrm>
          <a:prstGeom prst="straightConnector1">
            <a:avLst/>
          </a:prstGeom>
          <a:ln>
            <a:solidFill>
              <a:srgbClr val="F3D387">
                <a:alpha val="75000"/>
              </a:srgbClr>
            </a:solidFill>
            <a:tailEnd type="triangle"/>
          </a:ln>
          <a:effectLst>
            <a:glow rad="127000">
              <a:srgbClr val="E9C8A2">
                <a:alpha val="1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제목 1">
            <a:extLst>
              <a:ext uri="{FF2B5EF4-FFF2-40B4-BE49-F238E27FC236}">
                <a16:creationId xmlns:a16="http://schemas.microsoft.com/office/drawing/2014/main" id="{D1C91D6C-A1F1-7F74-2587-938A5F27C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260" y="98291"/>
            <a:ext cx="8599176" cy="756784"/>
          </a:xfrm>
        </p:spPr>
        <p:txBody>
          <a:bodyPr>
            <a:normAutofit/>
          </a:bodyPr>
          <a:lstStyle/>
          <a:p>
            <a:pPr algn="r"/>
            <a:r>
              <a:rPr lang="en-US" altLang="ko-KR" sz="2400">
                <a:solidFill>
                  <a:srgbClr val="F3D387">
                    <a:alpha val="85000"/>
                  </a:srgbClr>
                </a:solidFill>
                <a:effectLst>
                  <a:glow rad="127000">
                    <a:srgbClr val="F1DA96">
                      <a:alpha val="25000"/>
                    </a:srgbClr>
                  </a:glow>
                </a:effectLst>
                <a:latin typeface="Consolas" panose="020B0609020204030204" pitchFamily="49" charset="0"/>
              </a:rPr>
              <a:t>INITIATION SUCCESS...|</a:t>
            </a:r>
            <a:endParaRPr lang="ko-KR" altLang="en-US" sz="2400">
              <a:solidFill>
                <a:srgbClr val="F3D387">
                  <a:alpha val="85000"/>
                </a:srgbClr>
              </a:solidFill>
              <a:effectLst>
                <a:glow rad="127000">
                  <a:srgbClr val="F1DA96">
                    <a:alpha val="25000"/>
                  </a:srgbClr>
                </a:glo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48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F0F4-B443-A66C-1473-DE388DC8D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>
            <a:extLst>
              <a:ext uri="{FF2B5EF4-FFF2-40B4-BE49-F238E27FC236}">
                <a16:creationId xmlns:a16="http://schemas.microsoft.com/office/drawing/2014/main" id="{66EE81CD-F738-7768-3755-2ABDCC428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8F421-CC73-7C61-9392-47BC371A2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3412" y="2064534"/>
            <a:ext cx="5257800" cy="4351338"/>
          </a:xfrm>
        </p:spPr>
        <p:txBody>
          <a:bodyPr>
            <a:norm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342E"/>
                </a:solidFill>
              </a:rPr>
              <a:t>ULightComponentBase : USceneComponent</a:t>
            </a:r>
            <a:br>
              <a:rPr lang="en-US" altLang="ko-KR" sz="1400">
                <a:solidFill>
                  <a:srgbClr val="E4342E"/>
                </a:solidFill>
              </a:rPr>
            </a:br>
            <a:br>
              <a:rPr lang="en-US" altLang="ko-KR" sz="1400">
                <a:solidFill>
                  <a:srgbClr val="E3E4E6"/>
                </a:solidFill>
              </a:rPr>
            </a:br>
            <a:r>
              <a:rPr lang="en-US" altLang="ko-KR" sz="1400">
                <a:solidFill>
                  <a:srgbClr val="E3E4E6"/>
                </a:solidFill>
              </a:rPr>
              <a:t>UAmbientLightComponent / UDirectionalLightComponent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3E4E6"/>
                </a:solidFill>
              </a:rPr>
              <a:t> / UPointLightComponent</a:t>
            </a:r>
            <a:r>
              <a:rPr lang="ko-KR" altLang="en-US" sz="1400">
                <a:solidFill>
                  <a:srgbClr val="E3E4E6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/</a:t>
            </a:r>
            <a:r>
              <a:rPr lang="ko-KR" altLang="en-US" sz="1400">
                <a:solidFill>
                  <a:srgbClr val="E3E4E6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USpotLightComponent</a:t>
            </a:r>
            <a:br>
              <a:rPr lang="en-US" altLang="ko-KR" sz="1400">
                <a:solidFill>
                  <a:srgbClr val="E3E4E6"/>
                </a:solidFill>
              </a:rPr>
            </a:br>
            <a:br>
              <a:rPr lang="en-US" altLang="ko-KR" sz="1400">
                <a:solidFill>
                  <a:srgbClr val="E3E4E6"/>
                </a:solidFill>
              </a:rPr>
            </a:br>
            <a:endParaRPr lang="en-US" altLang="ko-KR" sz="1400">
              <a:solidFill>
                <a:srgbClr val="E3E4E6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A2EDAD4-EAB2-D74B-4BFB-96C16FCA96F4}"/>
              </a:ext>
            </a:extLst>
          </p:cNvPr>
          <p:cNvSpPr txBox="1">
            <a:spLocks/>
          </p:cNvSpPr>
          <p:nvPr/>
        </p:nvSpPr>
        <p:spPr>
          <a:xfrm>
            <a:off x="370788" y="3420036"/>
            <a:ext cx="6276618" cy="29946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342E"/>
                </a:solidFill>
              </a:rPr>
              <a:t>COMPONENT</a:t>
            </a:r>
            <a:r>
              <a:rPr lang="en-US" altLang="ko-KR" sz="1400">
                <a:solidFill>
                  <a:srgbClr val="E3E4E6"/>
                </a:solidFill>
              </a:rPr>
              <a:t> </a:t>
            </a:r>
            <a:r>
              <a:rPr lang="ko-KR" altLang="en-US" sz="1400">
                <a:solidFill>
                  <a:srgbClr val="E3E4E6"/>
                </a:solidFill>
              </a:rPr>
              <a:t>기반 아키텍처를 채택</a:t>
            </a:r>
            <a:r>
              <a:rPr lang="en-US" altLang="ko-KR" sz="1400">
                <a:solidFill>
                  <a:srgbClr val="E4342E"/>
                </a:solidFill>
              </a:rPr>
              <a:t>,</a:t>
            </a:r>
            <a:r>
              <a:rPr lang="ko-KR" altLang="en-US" sz="1400">
                <a:solidFill>
                  <a:srgbClr val="E3E4E6"/>
                </a:solidFill>
              </a:rPr>
              <a:t> 구조화하여</a:t>
            </a:r>
            <a:endParaRPr lang="en-US" altLang="ko-KR" sz="1400">
              <a:solidFill>
                <a:srgbClr val="E3E4E6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1400">
                <a:solidFill>
                  <a:srgbClr val="E3E4E6"/>
                </a:solidFill>
              </a:rPr>
              <a:t>아티스트가 조명을 오브젝트의 일부로 자유롭게 배치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altLang="ko-KR" sz="1400" dirty="0"/>
            </a:br>
            <a:r>
              <a:rPr lang="ko-KR" altLang="en-US" sz="1400">
                <a:solidFill>
                  <a:srgbClr val="E3E4E6"/>
                </a:solidFill>
              </a:rPr>
              <a:t>수집된 각 광원의 파라미터는 </a:t>
            </a:r>
            <a:r>
              <a:rPr lang="en-US" altLang="ko-KR" sz="1400">
                <a:solidFill>
                  <a:srgbClr val="E4342E"/>
                </a:solidFill>
              </a:rPr>
              <a:t>CONSTANT / STRUCTERED BUFFER</a:t>
            </a:r>
            <a:r>
              <a:rPr lang="ko-KR" altLang="en-US" sz="1400">
                <a:solidFill>
                  <a:srgbClr val="E3E4E6"/>
                </a:solidFill>
              </a:rPr>
              <a:t>를 통해 </a:t>
            </a:r>
            <a:endParaRPr lang="en-US" altLang="ko-KR" sz="1400">
              <a:solidFill>
                <a:srgbClr val="E3E4E6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>
                <a:solidFill>
                  <a:srgbClr val="E3E4E6"/>
                </a:solidFill>
              </a:rPr>
              <a:t>셰이더로 일괄 전달되어 조명 연산의 효율적인 데이터 관리를 지원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79A95-C06C-7C97-940F-FF9A371FBE1A}"/>
              </a:ext>
            </a:extLst>
          </p:cNvPr>
          <p:cNvSpPr txBox="1"/>
          <p:nvPr/>
        </p:nvSpPr>
        <p:spPr>
          <a:xfrm>
            <a:off x="9921682" y="6627168"/>
            <a:ext cx="20900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2020 Eyþór Hærvarðrsson Pohl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58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9E70-BACC-A4B1-EEED-F785FFB7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>
            <a:extLst>
              <a:ext uri="{FF2B5EF4-FFF2-40B4-BE49-F238E27FC236}">
                <a16:creationId xmlns:a16="http://schemas.microsoft.com/office/drawing/2014/main" id="{E27C6F76-E867-DF06-2223-0801FF047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38" b="1781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0F9A40-7B11-8252-E459-22086395A1DA}"/>
              </a:ext>
            </a:extLst>
          </p:cNvPr>
          <p:cNvSpPr txBox="1"/>
          <p:nvPr/>
        </p:nvSpPr>
        <p:spPr>
          <a:xfrm>
            <a:off x="1689233" y="1809122"/>
            <a:ext cx="271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>
                <a:solidFill>
                  <a:srgbClr val="E4342E"/>
                </a:solidFill>
              </a:rPr>
              <a:t>GLOBAL 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68042-8430-9EB0-5260-A480367FF444}"/>
              </a:ext>
            </a:extLst>
          </p:cNvPr>
          <p:cNvSpPr txBox="1"/>
          <p:nvPr/>
        </p:nvSpPr>
        <p:spPr>
          <a:xfrm>
            <a:off x="7697709" y="1809122"/>
            <a:ext cx="27191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rgbClr val="E4342E"/>
                </a:solidFill>
              </a:rPr>
              <a:t>LOCAL LIGHTS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7B77884-4FDA-0366-D214-924835CDF4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435"/>
          <a:stretch>
            <a:fillRect/>
          </a:stretch>
        </p:blipFill>
        <p:spPr>
          <a:xfrm>
            <a:off x="3286198" y="2585295"/>
            <a:ext cx="2411640" cy="2371678"/>
          </a:xfrm>
          <a:prstGeom prst="rect">
            <a:avLst/>
          </a:prstGeom>
          <a:ln>
            <a:solidFill>
              <a:srgbClr val="E4342E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FF97D7-C9F3-606C-F8DD-89DC0E471815}"/>
              </a:ext>
            </a:extLst>
          </p:cNvPr>
          <p:cNvSpPr txBox="1"/>
          <p:nvPr/>
        </p:nvSpPr>
        <p:spPr>
          <a:xfrm>
            <a:off x="3306526" y="5048451"/>
            <a:ext cx="23709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E3E4E6"/>
                </a:solidFill>
              </a:rPr>
              <a:t>DIRECTIONAL LIGHT</a:t>
            </a:r>
          </a:p>
        </p:txBody>
      </p:sp>
      <p:pic>
        <p:nvPicPr>
          <p:cNvPr id="1026" name="Picture 2" descr="full-image">
            <a:extLst>
              <a:ext uri="{FF2B5EF4-FFF2-40B4-BE49-F238E27FC236}">
                <a16:creationId xmlns:a16="http://schemas.microsoft.com/office/drawing/2014/main" id="{F6804C1D-02CF-C477-8FDF-FCB853B61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9" r="19746"/>
          <a:stretch>
            <a:fillRect/>
          </a:stretch>
        </p:blipFill>
        <p:spPr bwMode="auto">
          <a:xfrm>
            <a:off x="585570" y="2585295"/>
            <a:ext cx="2411640" cy="2371678"/>
          </a:xfrm>
          <a:prstGeom prst="rect">
            <a:avLst/>
          </a:prstGeom>
          <a:noFill/>
          <a:ln>
            <a:solidFill>
              <a:srgbClr val="E4342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AE5BBD-4DED-E33C-7456-E86E02750FFB}"/>
              </a:ext>
            </a:extLst>
          </p:cNvPr>
          <p:cNvSpPr txBox="1"/>
          <p:nvPr/>
        </p:nvSpPr>
        <p:spPr>
          <a:xfrm>
            <a:off x="809484" y="5048451"/>
            <a:ext cx="1963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E3E4E6"/>
                </a:solidFill>
              </a:rPr>
              <a:t>AMBIENT LIGHT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3225749-721E-A1BE-0C14-CB77A0AF2B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163" y="2585295"/>
            <a:ext cx="2356327" cy="2371678"/>
          </a:xfrm>
          <a:prstGeom prst="rect">
            <a:avLst/>
          </a:prstGeom>
          <a:ln>
            <a:solidFill>
              <a:srgbClr val="E4342E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223186-F205-A64B-1B34-94EA497948D9}"/>
              </a:ext>
            </a:extLst>
          </p:cNvPr>
          <p:cNvSpPr txBox="1"/>
          <p:nvPr/>
        </p:nvSpPr>
        <p:spPr>
          <a:xfrm>
            <a:off x="9418900" y="5048451"/>
            <a:ext cx="1881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E3E4E6"/>
                </a:solidFill>
              </a:rPr>
              <a:t>SPOTLIGHT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883E8A-7BF4-923E-59D7-F5809E43BE43}"/>
              </a:ext>
            </a:extLst>
          </p:cNvPr>
          <p:cNvSpPr txBox="1"/>
          <p:nvPr/>
        </p:nvSpPr>
        <p:spPr>
          <a:xfrm>
            <a:off x="6744680" y="5048451"/>
            <a:ext cx="1906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E3E4E6"/>
                </a:solidFill>
              </a:rPr>
              <a:t>POINT LIGHT</a:t>
            </a:r>
          </a:p>
        </p:txBody>
      </p:sp>
      <p:pic>
        <p:nvPicPr>
          <p:cNvPr id="1034" name="Picture 10" descr="Spotlight (theatre lighting) - Wikipedia">
            <a:extLst>
              <a:ext uri="{FF2B5EF4-FFF2-40B4-BE49-F238E27FC236}">
                <a16:creationId xmlns:a16="http://schemas.microsoft.com/office/drawing/2014/main" id="{28E26D84-FFCB-FD09-0DDA-7A445E97D5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08" b="53403"/>
          <a:stretch>
            <a:fillRect/>
          </a:stretch>
        </p:blipFill>
        <p:spPr bwMode="auto">
          <a:xfrm>
            <a:off x="9112591" y="2585295"/>
            <a:ext cx="2493839" cy="2371678"/>
          </a:xfrm>
          <a:prstGeom prst="rect">
            <a:avLst/>
          </a:prstGeom>
          <a:noFill/>
          <a:ln>
            <a:solidFill>
              <a:srgbClr val="E4342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CE2EA1-CD61-2708-2C5C-8352F0C7DC1D}"/>
              </a:ext>
            </a:extLst>
          </p:cNvPr>
          <p:cNvSpPr txBox="1"/>
          <p:nvPr/>
        </p:nvSpPr>
        <p:spPr>
          <a:xfrm>
            <a:off x="10140757" y="6627168"/>
            <a:ext cx="17750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2018 Rutger van de Steeg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591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30305-4FCB-C656-978A-84E577C3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0B6C067E-7E5C-B852-F38A-094F1FE7B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38" b="1781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1EEBF439-F258-2C9A-ECD8-4B9210D1DECE}"/>
              </a:ext>
            </a:extLst>
          </p:cNvPr>
          <p:cNvSpPr/>
          <p:nvPr/>
        </p:nvSpPr>
        <p:spPr>
          <a:xfrm>
            <a:off x="74696" y="722697"/>
            <a:ext cx="3951250" cy="2706303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E4342E"/>
                </a:solidFill>
              </a:rPr>
              <a:t>GLOBAL LIGHTS</a:t>
            </a:r>
            <a:br>
              <a:rPr lang="en-US" altLang="ko-KR" sz="1400">
                <a:solidFill>
                  <a:schemeClr val="tx1"/>
                </a:solidFill>
              </a:rPr>
            </a:br>
            <a:r>
              <a:rPr lang="en-US" altLang="ko-KR" sz="1400">
                <a:solidFill>
                  <a:srgbClr val="E3E4E6"/>
                </a:solidFill>
              </a:rPr>
              <a:t>AMBIENT LIGHT 1</a:t>
            </a:r>
            <a:r>
              <a:rPr lang="ko-KR" altLang="en-US" sz="1400">
                <a:solidFill>
                  <a:srgbClr val="E3E4E6"/>
                </a:solidFill>
              </a:rPr>
              <a:t>개와</a:t>
            </a:r>
            <a:r>
              <a:rPr lang="en-US" altLang="ko-KR" sz="1400">
                <a:solidFill>
                  <a:srgbClr val="E3E4E6"/>
                </a:solidFill>
              </a:rPr>
              <a:t> DIRECTIONAL LIGHT 4</a:t>
            </a:r>
            <a:r>
              <a:rPr lang="ko-KR" altLang="en-US" sz="1400">
                <a:solidFill>
                  <a:srgbClr val="E3E4E6"/>
                </a:solidFill>
              </a:rPr>
              <a:t>개를 </a:t>
            </a:r>
            <a:r>
              <a:rPr lang="en-US" altLang="ko-KR" sz="1400">
                <a:solidFill>
                  <a:srgbClr val="E4342E"/>
                </a:solidFill>
              </a:rPr>
              <a:t>CONSTANT BUFFER</a:t>
            </a:r>
            <a:r>
              <a:rPr lang="ko-KR" altLang="en-US" sz="1400">
                <a:solidFill>
                  <a:srgbClr val="E3E4E6"/>
                </a:solidFill>
              </a:rPr>
              <a:t>로 전송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2E12C95-7E8D-CED7-998F-BA71906F14EB}"/>
              </a:ext>
            </a:extLst>
          </p:cNvPr>
          <p:cNvSpPr/>
          <p:nvPr/>
        </p:nvSpPr>
        <p:spPr>
          <a:xfrm>
            <a:off x="74696" y="2798545"/>
            <a:ext cx="3951250" cy="2706303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E4342E"/>
                </a:solidFill>
              </a:rPr>
              <a:t>LOCAL LIGHTS</a:t>
            </a:r>
            <a:endParaRPr lang="en-US" altLang="ko-KR" sz="1400">
              <a:solidFill>
                <a:srgbClr val="E4342E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3E4E6"/>
                </a:solidFill>
              </a:rPr>
              <a:t>SPOTLIGHT</a:t>
            </a:r>
            <a:r>
              <a:rPr lang="ko-KR" altLang="en-US" sz="1400">
                <a:solidFill>
                  <a:srgbClr val="E3E4E6"/>
                </a:solidFill>
              </a:rPr>
              <a:t>와</a:t>
            </a:r>
            <a:r>
              <a:rPr lang="en-US" altLang="ko-KR" sz="1400">
                <a:solidFill>
                  <a:srgbClr val="E3E4E6"/>
                </a:solidFill>
              </a:rPr>
              <a:t> POINTLIGHT</a:t>
            </a:r>
            <a:r>
              <a:rPr lang="ko-KR" altLang="en-US" sz="1400">
                <a:solidFill>
                  <a:srgbClr val="E3E4E6"/>
                </a:solidFill>
              </a:rPr>
              <a:t>를</a:t>
            </a:r>
            <a:endParaRPr lang="en-US" altLang="ko-KR" sz="1400">
              <a:solidFill>
                <a:srgbClr val="E3E4E6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4342E"/>
                </a:solidFill>
              </a:rPr>
              <a:t>STRUCTURED BUFFER</a:t>
            </a:r>
            <a:r>
              <a:rPr lang="ko-KR" altLang="en-US" sz="1400">
                <a:solidFill>
                  <a:srgbClr val="E3E4E6"/>
                </a:solidFill>
              </a:rPr>
              <a:t>로 전송 후</a:t>
            </a:r>
            <a:endParaRPr lang="en-US" altLang="ko-KR" sz="1400">
              <a:solidFill>
                <a:srgbClr val="E3E4E6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3E4E6"/>
                </a:solidFill>
              </a:rPr>
              <a:t>PIXEL</a:t>
            </a:r>
            <a:r>
              <a:rPr lang="ko-KR" altLang="en-US" sz="1400">
                <a:solidFill>
                  <a:srgbClr val="E3E4E6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SHADER</a:t>
            </a:r>
            <a:r>
              <a:rPr lang="ko-KR" altLang="en-US" sz="1400">
                <a:solidFill>
                  <a:srgbClr val="E3E4E6"/>
                </a:solidFill>
              </a:rPr>
              <a:t>에서 일괄 처리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  <a:endParaRPr lang="ko-KR" altLang="en-US" sz="1400">
              <a:solidFill>
                <a:srgbClr val="E4342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A0EA9-A42A-5978-32CA-989BF102A29E}"/>
              </a:ext>
            </a:extLst>
          </p:cNvPr>
          <p:cNvSpPr txBox="1"/>
          <p:nvPr/>
        </p:nvSpPr>
        <p:spPr>
          <a:xfrm>
            <a:off x="10140757" y="6627168"/>
            <a:ext cx="17750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2018 Rutger van de Steeg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0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99FD-44A7-98D0-624A-70F5310F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>
            <a:extLst>
              <a:ext uri="{FF2B5EF4-FFF2-40B4-BE49-F238E27FC236}">
                <a16:creationId xmlns:a16="http://schemas.microsoft.com/office/drawing/2014/main" id="{29D9203F-C068-7322-F6E7-A17E246C2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93" b="10074"/>
          <a:stretch>
            <a:fillRect/>
          </a:stretch>
        </p:blipFill>
        <p:spPr bwMode="auto">
          <a:xfrm>
            <a:off x="-1" y="19050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617B150-C8A0-C059-E973-41DCC79DA53B}"/>
              </a:ext>
            </a:extLst>
          </p:cNvPr>
          <p:cNvSpPr/>
          <p:nvPr/>
        </p:nvSpPr>
        <p:spPr>
          <a:xfrm>
            <a:off x="218570" y="1557288"/>
            <a:ext cx="2281188" cy="914401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E4342E"/>
                </a:solidFill>
              </a:rPr>
              <a:t>ULightComponent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994013C-DA6F-A83E-87DB-6242A2294EF2}"/>
              </a:ext>
            </a:extLst>
          </p:cNvPr>
          <p:cNvSpPr/>
          <p:nvPr/>
        </p:nvSpPr>
        <p:spPr>
          <a:xfrm>
            <a:off x="218570" y="3220053"/>
            <a:ext cx="2281188" cy="1395664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4342E"/>
                </a:solidFill>
              </a:rPr>
              <a:t>RenderPipeline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RenderCollector </a:t>
            </a:r>
            <a:r>
              <a:rPr lang="ko-KR" altLang="en-US" sz="1400">
                <a:solidFill>
                  <a:schemeClr val="tx1"/>
                </a:solidFill>
              </a:rPr>
              <a:t>호출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DA0B3D1-E01E-50D0-E7BF-08860CB51A71}"/>
              </a:ext>
            </a:extLst>
          </p:cNvPr>
          <p:cNvSpPr/>
          <p:nvPr/>
        </p:nvSpPr>
        <p:spPr>
          <a:xfrm>
            <a:off x="2919258" y="3220053"/>
            <a:ext cx="3199598" cy="1395664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4342E"/>
                </a:solidFill>
              </a:rPr>
              <a:t>FRenderCollector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FFrameContext</a:t>
            </a:r>
            <a:r>
              <a:rPr lang="ko-KR" altLang="en-US" sz="1400">
                <a:solidFill>
                  <a:schemeClr val="tx1"/>
                </a:solidFill>
              </a:rPr>
              <a:t>에 조명 정보를</a:t>
            </a:r>
            <a:endParaRPr lang="en-US" altLang="ko-KR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3E4E6"/>
                </a:solidFill>
              </a:rPr>
              <a:t>PER FRAME </a:t>
            </a:r>
            <a:r>
              <a:rPr lang="ko-KR" altLang="en-US" sz="1400">
                <a:solidFill>
                  <a:schemeClr val="tx1"/>
                </a:solidFill>
              </a:rPr>
              <a:t>업데이트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88F62A-84A4-295F-6707-220CA9C957E8}"/>
              </a:ext>
            </a:extLst>
          </p:cNvPr>
          <p:cNvSpPr/>
          <p:nvPr/>
        </p:nvSpPr>
        <p:spPr>
          <a:xfrm>
            <a:off x="6538356" y="3220053"/>
            <a:ext cx="2478506" cy="1395664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4342E"/>
                </a:solidFill>
              </a:rPr>
              <a:t>FRenderer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GLOBAL / LOCAL LIGHT</a:t>
            </a:r>
          </a:p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chemeClr val="tx1"/>
                </a:solidFill>
              </a:rPr>
              <a:t>버퍼 생성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60F091E-3F2A-E6CA-A4AA-709115209AFD}"/>
              </a:ext>
            </a:extLst>
          </p:cNvPr>
          <p:cNvSpPr/>
          <p:nvPr/>
        </p:nvSpPr>
        <p:spPr>
          <a:xfrm>
            <a:off x="3094518" y="1562099"/>
            <a:ext cx="2849078" cy="914401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91440" tIns="45720" rIns="91440" bIns="45720" rtlCol="0" anchor="ctr"/>
          <a:lstStyle/>
          <a:p>
            <a:r>
              <a:rPr lang="en-US" altLang="ko-KR" sz="1400">
                <a:solidFill>
                  <a:srgbClr val="E4342E"/>
                </a:solidFill>
              </a:rPr>
              <a:t>FScene</a:t>
            </a:r>
          </a:p>
          <a:p>
            <a:r>
              <a:rPr lang="en-US" altLang="ko-KR" sz="1400">
                <a:solidFill>
                  <a:srgbClr val="E4342E"/>
                </a:solidFill>
              </a:rPr>
              <a:t>TArray&lt;FLightSceneProxy&gt;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BC21D2F-2767-00BE-E4EA-DF7E08649E8F}"/>
              </a:ext>
            </a:extLst>
          </p:cNvPr>
          <p:cNvCxnSpPr>
            <a:cxnSpLocks/>
          </p:cNvCxnSpPr>
          <p:nvPr/>
        </p:nvCxnSpPr>
        <p:spPr>
          <a:xfrm>
            <a:off x="2324498" y="2028726"/>
            <a:ext cx="594760" cy="4811"/>
          </a:xfrm>
          <a:prstGeom prst="straightConnector1">
            <a:avLst/>
          </a:prstGeom>
          <a:ln>
            <a:solidFill>
              <a:srgbClr val="E3E4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0D1AB22-57D1-1E4A-F452-2C48097214D8}"/>
              </a:ext>
            </a:extLst>
          </p:cNvPr>
          <p:cNvCxnSpPr>
            <a:cxnSpLocks/>
          </p:cNvCxnSpPr>
          <p:nvPr/>
        </p:nvCxnSpPr>
        <p:spPr>
          <a:xfrm>
            <a:off x="4242832" y="2476500"/>
            <a:ext cx="0" cy="743553"/>
          </a:xfrm>
          <a:prstGeom prst="straightConnector1">
            <a:avLst/>
          </a:prstGeom>
          <a:ln>
            <a:solidFill>
              <a:srgbClr val="E3E4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5C80201-F08D-F5AA-A1C9-A3A60FD0B564}"/>
              </a:ext>
            </a:extLst>
          </p:cNvPr>
          <p:cNvSpPr/>
          <p:nvPr/>
        </p:nvSpPr>
        <p:spPr>
          <a:xfrm>
            <a:off x="6485353" y="5071848"/>
            <a:ext cx="2478506" cy="1395664"/>
          </a:xfrm>
          <a:prstGeom prst="roundRect">
            <a:avLst/>
          </a:prstGeom>
          <a:noFill/>
          <a:ln w="9525" cap="flat" cmpd="sng" algn="ctr">
            <a:solidFill>
              <a:srgbClr val="E3E4E6">
                <a:alpha val="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E4342E"/>
                </a:solidFill>
              </a:rPr>
              <a:t>FLightingPass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chemeClr val="tx1"/>
                </a:solidFill>
              </a:rPr>
              <a:t>PIXEL SHADER</a:t>
            </a:r>
            <a:r>
              <a:rPr lang="ko-KR" altLang="en-US" sz="1400">
                <a:solidFill>
                  <a:schemeClr val="tx1"/>
                </a:solidFill>
              </a:rPr>
              <a:t>에 바인딩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EA067BD-6D02-1D86-495F-0EDA57A8AD6E}"/>
              </a:ext>
            </a:extLst>
          </p:cNvPr>
          <p:cNvCxnSpPr>
            <a:cxnSpLocks/>
          </p:cNvCxnSpPr>
          <p:nvPr/>
        </p:nvCxnSpPr>
        <p:spPr>
          <a:xfrm>
            <a:off x="2331520" y="3887512"/>
            <a:ext cx="594760" cy="4811"/>
          </a:xfrm>
          <a:prstGeom prst="straightConnector1">
            <a:avLst/>
          </a:prstGeom>
          <a:ln>
            <a:solidFill>
              <a:srgbClr val="E3E4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D51D09F-B820-4E86-A316-24EB9E0F47A0}"/>
              </a:ext>
            </a:extLst>
          </p:cNvPr>
          <p:cNvCxnSpPr>
            <a:cxnSpLocks/>
          </p:cNvCxnSpPr>
          <p:nvPr/>
        </p:nvCxnSpPr>
        <p:spPr>
          <a:xfrm>
            <a:off x="7596634" y="4734565"/>
            <a:ext cx="0" cy="508733"/>
          </a:xfrm>
          <a:prstGeom prst="straightConnector1">
            <a:avLst/>
          </a:prstGeom>
          <a:ln>
            <a:solidFill>
              <a:srgbClr val="E3E4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59C579-9E61-3B94-0F18-101661DD1EF0}"/>
              </a:ext>
            </a:extLst>
          </p:cNvPr>
          <p:cNvSpPr txBox="1"/>
          <p:nvPr/>
        </p:nvSpPr>
        <p:spPr>
          <a:xfrm>
            <a:off x="10168645" y="0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2017 Alcon Entertainment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8D0897BF-B238-646B-A24B-5C2D989B9D6B}"/>
              </a:ext>
            </a:extLst>
          </p:cNvPr>
          <p:cNvSpPr txBox="1">
            <a:spLocks/>
          </p:cNvSpPr>
          <p:nvPr/>
        </p:nvSpPr>
        <p:spPr>
          <a:xfrm>
            <a:off x="0" y="17268"/>
            <a:ext cx="5257800" cy="8012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4000">
                <a:solidFill>
                  <a:srgbClr val="E4342E"/>
                </a:solidFill>
              </a:rPr>
              <a:t>LIGHT DATA FLOW</a:t>
            </a:r>
            <a:endParaRPr lang="ko-KR" altLang="en-US" sz="4000">
              <a:solidFill>
                <a:srgbClr val="E4342E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4E46738-9288-7050-9402-22C09C71A1F1}"/>
              </a:ext>
            </a:extLst>
          </p:cNvPr>
          <p:cNvCxnSpPr>
            <a:cxnSpLocks/>
          </p:cNvCxnSpPr>
          <p:nvPr/>
        </p:nvCxnSpPr>
        <p:spPr>
          <a:xfrm>
            <a:off x="5798619" y="3887512"/>
            <a:ext cx="594760" cy="4811"/>
          </a:xfrm>
          <a:prstGeom prst="straightConnector1">
            <a:avLst/>
          </a:prstGeom>
          <a:ln>
            <a:solidFill>
              <a:srgbClr val="E3E4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39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548C6-11D8-86D2-BDE3-90AA8093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6397EA5-9E39-47AB-ED64-CA0B9B01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472" y="1906126"/>
            <a:ext cx="2694413" cy="240815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0A5A748-4858-BCFD-F825-D62905C03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011" y="1906126"/>
            <a:ext cx="2702006" cy="24081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A9DE19-1156-8623-6812-604BF7D23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3178" y="1906126"/>
            <a:ext cx="2702006" cy="241135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39E3EC-D864-DD12-64E1-1E765F39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0"/>
            <a:ext cx="5257800" cy="801278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>
                <a:solidFill>
                  <a:srgbClr val="E4342E"/>
                </a:solidFill>
              </a:rPr>
              <a:t>SHADING MODELS</a:t>
            </a:r>
            <a:endParaRPr lang="ko-KR" altLang="en-US" sz="4000">
              <a:solidFill>
                <a:srgbClr val="E4342E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A5613-7136-522B-F2C5-2A8F0EAAE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983" y="4850680"/>
            <a:ext cx="3946034" cy="2007320"/>
          </a:xfrm>
        </p:spPr>
        <p:txBody>
          <a:bodyPr>
            <a:norm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342E"/>
                </a:solidFill>
              </a:rPr>
              <a:t>LAMBERT SHADING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3E4E6"/>
                </a:solidFill>
              </a:rPr>
              <a:t>NORMAL VECTOR </a:t>
            </a:r>
            <a:r>
              <a:rPr lang="en-US" altLang="ko-KR" sz="1400">
                <a:solidFill>
                  <a:srgbClr val="E4342E"/>
                </a:solidFill>
              </a:rPr>
              <a:t>*</a:t>
            </a:r>
            <a:r>
              <a:rPr lang="en-US" altLang="ko-KR" sz="1400">
                <a:solidFill>
                  <a:srgbClr val="E2E4E3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LIGHT VECTOR</a:t>
            </a:r>
            <a:br>
              <a:rPr lang="en-US" altLang="ko-KR" sz="1400">
                <a:solidFill>
                  <a:srgbClr val="E3E4E6"/>
                </a:solidFill>
              </a:rPr>
            </a:br>
            <a:r>
              <a:rPr lang="ko-KR" altLang="en-US" sz="1400">
                <a:solidFill>
                  <a:srgbClr val="E3E4E6"/>
                </a:solidFill>
              </a:rPr>
              <a:t>를 이용한 픽셀 단위 연산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C59D2D8-6BCB-6E02-CFAC-18D8EB2293C8}"/>
              </a:ext>
            </a:extLst>
          </p:cNvPr>
          <p:cNvSpPr txBox="1">
            <a:spLocks/>
          </p:cNvSpPr>
          <p:nvPr/>
        </p:nvSpPr>
        <p:spPr>
          <a:xfrm>
            <a:off x="201760" y="4850680"/>
            <a:ext cx="4153424" cy="200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400">
                <a:solidFill>
                  <a:srgbClr val="E4342E"/>
                </a:solidFill>
              </a:rPr>
              <a:t>GOURAUD</a:t>
            </a:r>
            <a:r>
              <a:rPr lang="ko-KR" altLang="en-US" sz="1400">
                <a:solidFill>
                  <a:srgbClr val="E4342E"/>
                </a:solidFill>
              </a:rPr>
              <a:t> </a:t>
            </a:r>
            <a:r>
              <a:rPr lang="en-US" altLang="ko-KR" sz="1400">
                <a:solidFill>
                  <a:srgbClr val="E4342E"/>
                </a:solidFill>
              </a:rPr>
              <a:t>SHADING</a:t>
            </a:r>
          </a:p>
          <a:p>
            <a:pPr marL="0" indent="0" algn="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1400">
                <a:solidFill>
                  <a:srgbClr val="E3E4E6"/>
                </a:solidFill>
              </a:rPr>
              <a:t>VERTEX SHADER</a:t>
            </a:r>
            <a:r>
              <a:rPr lang="ko-KR" altLang="en-US" sz="1400">
                <a:solidFill>
                  <a:srgbClr val="E3E4E6"/>
                </a:solidFill>
              </a:rPr>
              <a:t>에서 조명을 계산하고 </a:t>
            </a:r>
            <a:r>
              <a:rPr lang="en-US" altLang="ko-KR" sz="1400">
                <a:solidFill>
                  <a:srgbClr val="E3E4E6"/>
                </a:solidFill>
              </a:rPr>
              <a:t>PIXEL SHADER</a:t>
            </a:r>
            <a:r>
              <a:rPr lang="ko-KR" altLang="en-US" sz="1400">
                <a:solidFill>
                  <a:srgbClr val="E3E4E6"/>
                </a:solidFill>
              </a:rPr>
              <a:t>에서 </a:t>
            </a:r>
            <a:r>
              <a:rPr lang="en-US" altLang="ko-KR" sz="1400">
                <a:solidFill>
                  <a:srgbClr val="E3E4E6"/>
                </a:solidFill>
              </a:rPr>
              <a:t>INTERPOLATION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25F1EEB-93A8-2BA5-FC94-C78F21863C40}"/>
              </a:ext>
            </a:extLst>
          </p:cNvPr>
          <p:cNvSpPr txBox="1">
            <a:spLocks/>
          </p:cNvSpPr>
          <p:nvPr/>
        </p:nvSpPr>
        <p:spPr>
          <a:xfrm>
            <a:off x="7836818" y="4850679"/>
            <a:ext cx="4162067" cy="200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342E"/>
                </a:solidFill>
              </a:rPr>
              <a:t>BLINN-PHONG</a:t>
            </a:r>
            <a:r>
              <a:rPr lang="ko-KR" altLang="en-US" sz="1400">
                <a:solidFill>
                  <a:srgbClr val="E4342E"/>
                </a:solidFill>
              </a:rPr>
              <a:t> </a:t>
            </a:r>
            <a:r>
              <a:rPr lang="en-US" altLang="ko-KR" sz="1400">
                <a:solidFill>
                  <a:srgbClr val="E4342E"/>
                </a:solidFill>
              </a:rPr>
              <a:t>SHADING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3E4E6"/>
                </a:solidFill>
              </a:rPr>
              <a:t>HALF-VECTOR</a:t>
            </a:r>
            <a:r>
              <a:rPr lang="ko-KR" altLang="en-US" sz="1400">
                <a:solidFill>
                  <a:srgbClr val="E3E4E6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(H = {L + V} / |L + V|) </a:t>
            </a:r>
            <a:br>
              <a:rPr lang="en-US" altLang="ko-KR" sz="1400">
                <a:solidFill>
                  <a:srgbClr val="8E8E8E"/>
                </a:solidFill>
              </a:rPr>
            </a:br>
            <a:r>
              <a:rPr lang="en-US" altLang="ko-KR" sz="1400">
                <a:solidFill>
                  <a:srgbClr val="E4342E"/>
                </a:solidFill>
              </a:rPr>
              <a:t>*</a:t>
            </a:r>
            <a:r>
              <a:rPr lang="en-US" altLang="ko-KR" sz="1400">
                <a:solidFill>
                  <a:srgbClr val="E3E4E6"/>
                </a:solidFill>
              </a:rPr>
              <a:t> NORMAL</a:t>
            </a:r>
            <a:r>
              <a:rPr lang="ko-KR" altLang="en-US" sz="1400">
                <a:solidFill>
                  <a:srgbClr val="E3E4E6"/>
                </a:solidFill>
              </a:rPr>
              <a:t> </a:t>
            </a:r>
            <a:r>
              <a:rPr lang="en-US" altLang="ko-KR" sz="1400">
                <a:solidFill>
                  <a:srgbClr val="E3E4E6"/>
                </a:solidFill>
              </a:rPr>
              <a:t>VECTOR</a:t>
            </a:r>
            <a:br>
              <a:rPr lang="en-US" altLang="ko-KR" sz="1400">
                <a:solidFill>
                  <a:srgbClr val="E3E4E6"/>
                </a:solidFill>
              </a:rPr>
            </a:br>
            <a:r>
              <a:rPr lang="ko-KR" altLang="en-US" sz="1400">
                <a:solidFill>
                  <a:srgbClr val="E3E4E6"/>
                </a:solidFill>
              </a:rPr>
              <a:t>를 이용한 </a:t>
            </a:r>
            <a:r>
              <a:rPr lang="en-US" altLang="ko-KR" sz="1400">
                <a:solidFill>
                  <a:srgbClr val="E3E4E6"/>
                </a:solidFill>
              </a:rPr>
              <a:t>SPECULAR HIGHLIGHT </a:t>
            </a:r>
            <a:r>
              <a:rPr lang="ko-KR" altLang="en-US" sz="1400">
                <a:solidFill>
                  <a:srgbClr val="E3E4E6"/>
                </a:solidFill>
              </a:rPr>
              <a:t>계산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9857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10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0C0E4-6039-F86F-5A3A-8256962F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Picture 6">
            <a:extLst>
              <a:ext uri="{FF2B5EF4-FFF2-40B4-BE49-F238E27FC236}">
                <a16:creationId xmlns:a16="http://schemas.microsoft.com/office/drawing/2014/main" id="{7E484946-A5C5-776B-DAE9-9544B1F7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3607"/>
            <a:ext cx="6934200" cy="39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01B2C-2686-79EE-EB63-0FC535CA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753" y="1653970"/>
            <a:ext cx="5505893" cy="4351338"/>
          </a:xfrm>
        </p:spPr>
        <p:txBody>
          <a:bodyPr>
            <a:norm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>
                <a:solidFill>
                  <a:srgbClr val="E4E5E7"/>
                </a:solidFill>
              </a:rPr>
              <a:t>하나의 </a:t>
            </a:r>
            <a:r>
              <a:rPr lang="en-US" altLang="ko-KR" sz="1400">
                <a:solidFill>
                  <a:srgbClr val="E4E5E7"/>
                </a:solidFill>
              </a:rPr>
              <a:t>HLSL </a:t>
            </a:r>
            <a:r>
              <a:rPr lang="ko-KR" altLang="en-US" sz="1400">
                <a:solidFill>
                  <a:srgbClr val="E4E5E7"/>
                </a:solidFill>
              </a:rPr>
              <a:t>파일에서 </a:t>
            </a:r>
            <a:r>
              <a:rPr lang="en-US" altLang="ko-KR" sz="1400">
                <a:solidFill>
                  <a:srgbClr val="E4342E"/>
                </a:solidFill>
              </a:rPr>
              <a:t>#IF,</a:t>
            </a:r>
            <a:r>
              <a:rPr lang="ko-KR" altLang="en-US" sz="1400">
                <a:solidFill>
                  <a:srgbClr val="E4342E"/>
                </a:solidFill>
              </a:rPr>
              <a:t> </a:t>
            </a:r>
            <a:r>
              <a:rPr lang="en-US" altLang="ko-KR" sz="1400">
                <a:solidFill>
                  <a:srgbClr val="E4342E"/>
                </a:solidFill>
              </a:rPr>
              <a:t>#DEFINE </a:t>
            </a:r>
            <a:r>
              <a:rPr lang="ko-KR" altLang="en-US" sz="1400">
                <a:solidFill>
                  <a:srgbClr val="E4E5E7"/>
                </a:solidFill>
              </a:rPr>
              <a:t>매크로를 이용해 </a:t>
            </a:r>
            <a:r>
              <a:rPr lang="en-US" altLang="ko-KR" sz="1400">
                <a:solidFill>
                  <a:srgbClr val="E4342E"/>
                </a:solidFill>
              </a:rPr>
              <a:t>GOURAUD, BLINN-PHONG, UNLIT </a:t>
            </a:r>
            <a:r>
              <a:rPr lang="ko-KR" altLang="en-US" sz="1400">
                <a:solidFill>
                  <a:srgbClr val="E4E5E7"/>
                </a:solidFill>
              </a:rPr>
              <a:t>등 여러 조명 모델을 관리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  <a:br>
              <a:rPr lang="en-US" altLang="ko-KR" sz="1400">
                <a:solidFill>
                  <a:srgbClr val="E4E5E7"/>
                </a:solidFill>
              </a:rPr>
            </a:br>
            <a:br>
              <a:rPr lang="en-US" altLang="ko-KR" sz="1400">
                <a:solidFill>
                  <a:srgbClr val="E4E5E7"/>
                </a:solidFill>
              </a:rPr>
            </a:br>
            <a:r>
              <a:rPr lang="en-US" altLang="ko-KR" sz="1400">
                <a:solidFill>
                  <a:srgbClr val="E4342E"/>
                </a:solidFill>
              </a:rPr>
              <a:t>GOURAUD</a:t>
            </a:r>
            <a:br>
              <a:rPr lang="en-US" altLang="ko-KR" sz="1400">
                <a:solidFill>
                  <a:srgbClr val="E4E5E7"/>
                </a:solidFill>
              </a:rPr>
            </a:br>
            <a:r>
              <a:rPr lang="ko-KR" altLang="en-US" sz="1400">
                <a:solidFill>
                  <a:srgbClr val="E4E5E7"/>
                </a:solidFill>
              </a:rPr>
              <a:t>조명 연산을 </a:t>
            </a:r>
            <a:r>
              <a:rPr lang="en-US" altLang="ko-KR" sz="1400">
                <a:solidFill>
                  <a:srgbClr val="E4E5E7"/>
                </a:solidFill>
              </a:rPr>
              <a:t>BASE DRAW</a:t>
            </a:r>
            <a:r>
              <a:rPr lang="ko-KR" altLang="en-US" sz="1400">
                <a:solidFill>
                  <a:srgbClr val="E4E5E7"/>
                </a:solidFill>
              </a:rPr>
              <a:t>의 </a:t>
            </a:r>
            <a:r>
              <a:rPr lang="en-US" altLang="ko-KR" sz="1400">
                <a:solidFill>
                  <a:srgbClr val="E4E5E7"/>
                </a:solidFill>
              </a:rPr>
              <a:t>VERTEX SHADER</a:t>
            </a:r>
            <a:r>
              <a:rPr lang="ko-KR" altLang="en-US" sz="1400">
                <a:solidFill>
                  <a:srgbClr val="E4E5E7"/>
                </a:solidFill>
              </a:rPr>
              <a:t>에서 미리 수행</a:t>
            </a:r>
            <a:r>
              <a:rPr lang="en-US" altLang="ko-KR" sz="1400">
                <a:solidFill>
                  <a:srgbClr val="ED3232"/>
                </a:solidFill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E5E7"/>
                </a:solidFill>
              </a:rPr>
              <a:t>FORWARD RENDERING </a:t>
            </a:r>
            <a:r>
              <a:rPr lang="ko-KR" altLang="en-US" sz="1400">
                <a:solidFill>
                  <a:srgbClr val="E4E5E7"/>
                </a:solidFill>
              </a:rPr>
              <a:t>방식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  <a:br>
              <a:rPr lang="en-US" altLang="ko-KR" sz="1400">
                <a:solidFill>
                  <a:srgbClr val="E4E5E7"/>
                </a:solidFill>
              </a:rPr>
            </a:br>
            <a:br>
              <a:rPr lang="en-US" altLang="ko-KR" sz="1400">
                <a:solidFill>
                  <a:srgbClr val="E4E5E7"/>
                </a:solidFill>
              </a:rPr>
            </a:br>
            <a:r>
              <a:rPr lang="en-US" altLang="ko-KR" sz="1400">
                <a:solidFill>
                  <a:srgbClr val="E4342E"/>
                </a:solidFill>
              </a:rPr>
              <a:t>LAMBERT / BLINN-PHONG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sz="1400">
                <a:solidFill>
                  <a:srgbClr val="E4E5E7"/>
                </a:solidFill>
              </a:rPr>
              <a:t>조명 연산을 </a:t>
            </a:r>
            <a:r>
              <a:rPr lang="en-US" altLang="ko-KR" sz="1400">
                <a:solidFill>
                  <a:srgbClr val="E4E5E7"/>
                </a:solidFill>
              </a:rPr>
              <a:t>LIGHTING PASS</a:t>
            </a:r>
            <a:r>
              <a:rPr lang="ko-KR" altLang="en-US" sz="1400">
                <a:solidFill>
                  <a:srgbClr val="E4E5E7"/>
                </a:solidFill>
              </a:rPr>
              <a:t>에서 </a:t>
            </a:r>
            <a:r>
              <a:rPr lang="en-US" altLang="ko-KR" sz="1400">
                <a:solidFill>
                  <a:srgbClr val="E4E5E7"/>
                </a:solidFill>
              </a:rPr>
              <a:t>G-BUFFER </a:t>
            </a:r>
            <a:r>
              <a:rPr lang="ko-KR" altLang="en-US" sz="1400">
                <a:solidFill>
                  <a:srgbClr val="E4E5E7"/>
                </a:solidFill>
              </a:rPr>
              <a:t>데이터를 읽어와 수행</a:t>
            </a:r>
            <a:r>
              <a:rPr lang="en-US" altLang="ko-KR" sz="1400">
                <a:solidFill>
                  <a:srgbClr val="ED3232"/>
                </a:solidFill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sz="1400">
                <a:solidFill>
                  <a:srgbClr val="E4E5E7"/>
                </a:solidFill>
              </a:rPr>
              <a:t>DEFERRED RENDERING </a:t>
            </a:r>
            <a:r>
              <a:rPr lang="ko-KR" altLang="en-US" sz="1400">
                <a:solidFill>
                  <a:srgbClr val="E4E5E7"/>
                </a:solidFill>
              </a:rPr>
              <a:t>방식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  <a:p>
            <a:pPr marL="0" indent="0" algn="r">
              <a:lnSpc>
                <a:spcPct val="150000"/>
              </a:lnSpc>
              <a:buNone/>
            </a:pPr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290BF1-C543-6349-8927-DD7FB4BAC884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2017 Alcon Entertainment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632ECE3B-ECA0-CB08-AC01-DC2A7565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0"/>
            <a:ext cx="5257800" cy="801278"/>
          </a:xfrm>
        </p:spPr>
        <p:txBody>
          <a:bodyPr>
            <a:normAutofit/>
          </a:bodyPr>
          <a:lstStyle/>
          <a:p>
            <a:pPr algn="r"/>
            <a:r>
              <a:rPr lang="en-US" altLang="ko-KR" sz="4000">
                <a:solidFill>
                  <a:srgbClr val="E4342E"/>
                </a:solidFill>
              </a:rPr>
              <a:t>UBER SHADER</a:t>
            </a:r>
            <a:endParaRPr lang="ko-KR" altLang="en-US" sz="4000">
              <a:solidFill>
                <a:srgbClr val="E4342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FF6C1D-C3BA-3AB0-AD6E-312340EA44CD}"/>
              </a:ext>
            </a:extLst>
          </p:cNvPr>
          <p:cNvSpPr txBox="1"/>
          <p:nvPr/>
        </p:nvSpPr>
        <p:spPr>
          <a:xfrm>
            <a:off x="590354" y="4799756"/>
            <a:ext cx="179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SONY PE-91 MEMORIZER</a:t>
            </a:r>
            <a:b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FROM </a:t>
            </a:r>
            <a:r>
              <a:rPr lang="en-US" altLang="ko-KR" sz="900">
                <a:solidFill>
                  <a:srgbClr val="E4342E"/>
                </a:solidFill>
              </a:rPr>
              <a:t>“BLADE RUNNER 2049”</a:t>
            </a:r>
            <a:endParaRPr lang="ko-KR" altLang="en-US" sz="900">
              <a:solidFill>
                <a:srgbClr val="E434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69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F01D7-4979-0635-2A39-5862754A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A7F390-AE97-A7E8-E2E8-941BBF85C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589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A8390-DA3E-FD90-22F2-C574C235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845" y="2362199"/>
            <a:ext cx="6385980" cy="2901147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1400">
                <a:solidFill>
                  <a:srgbClr val="E3E4E6"/>
                </a:solidFill>
              </a:rPr>
              <a:t>폴리곤 수를 늘리지 않고 표면의 요철을 묘사하는 원리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</a:p>
          <a:p>
            <a:pPr marL="0" indent="0" algn="r">
              <a:buNone/>
            </a:pPr>
            <a:br>
              <a:rPr lang="en-US" altLang="ko-KR" sz="1400"/>
            </a:br>
            <a:endParaRPr lang="en-US" altLang="ko-KR" sz="1400"/>
          </a:p>
          <a:p>
            <a:pPr marL="0" indent="0" algn="r">
              <a:buNone/>
            </a:pPr>
            <a:r>
              <a:rPr lang="en-US" altLang="ko-KR" sz="1400">
                <a:solidFill>
                  <a:srgbClr val="E4342E"/>
                </a:solidFill>
              </a:rPr>
              <a:t>TANGENT SPACE</a:t>
            </a:r>
          </a:p>
          <a:p>
            <a:pPr marL="0" indent="0" algn="r">
              <a:buNone/>
            </a:pPr>
            <a:r>
              <a:rPr lang="ko-KR" altLang="en-US" sz="1400">
                <a:solidFill>
                  <a:srgbClr val="E3E4E6"/>
                </a:solidFill>
              </a:rPr>
              <a:t>텍스처 공간의 노멀 데이터</a:t>
            </a:r>
            <a:r>
              <a:rPr lang="en-US" altLang="ko-KR" sz="1400">
                <a:solidFill>
                  <a:srgbClr val="E3E4E6"/>
                </a:solidFill>
              </a:rPr>
              <a:t>(RGB)</a:t>
            </a:r>
            <a:r>
              <a:rPr lang="ko-KR" altLang="en-US" sz="1400">
                <a:solidFill>
                  <a:srgbClr val="E3E4E6"/>
                </a:solidFill>
              </a:rPr>
              <a:t>를 월드 공간으로 변환하기 위한 기준 좌표계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  <a:br>
              <a:rPr lang="en-US" altLang="ko-KR" sz="1400"/>
            </a:br>
            <a:br>
              <a:rPr lang="en-US" altLang="ko-KR" sz="1400"/>
            </a:br>
            <a:endParaRPr lang="en-US" altLang="ko-KR" sz="1400"/>
          </a:p>
          <a:p>
            <a:pPr marL="0" indent="0" algn="r">
              <a:buNone/>
            </a:pPr>
            <a:r>
              <a:rPr lang="en-US" altLang="ko-KR" sz="1400">
                <a:solidFill>
                  <a:srgbClr val="E4342E"/>
                </a:solidFill>
              </a:rPr>
              <a:t>GRAM-SCHMIDT PROCESS</a:t>
            </a:r>
          </a:p>
          <a:p>
            <a:pPr marL="0" indent="0" algn="r">
              <a:buNone/>
            </a:pPr>
            <a:r>
              <a:rPr lang="ko-KR" altLang="en-US" sz="1400">
                <a:solidFill>
                  <a:srgbClr val="E3E4E6"/>
                </a:solidFill>
              </a:rPr>
              <a:t>부동 소수점 오차로 흐트러진 </a:t>
            </a:r>
            <a:r>
              <a:rPr lang="en-US" altLang="ko-KR" sz="1400">
                <a:solidFill>
                  <a:srgbClr val="E3E4E6"/>
                </a:solidFill>
              </a:rPr>
              <a:t>TBN </a:t>
            </a:r>
            <a:r>
              <a:rPr lang="ko-KR" altLang="en-US" sz="1400">
                <a:solidFill>
                  <a:srgbClr val="E3E4E6"/>
                </a:solidFill>
              </a:rPr>
              <a:t>축을 다시 직교화하여 렌더링 품질 유지</a:t>
            </a:r>
            <a:r>
              <a:rPr lang="en-US" altLang="ko-KR" sz="1400">
                <a:solidFill>
                  <a:srgbClr val="E4342E"/>
                </a:solidFill>
              </a:rPr>
              <a:t>.</a:t>
            </a:r>
            <a:endParaRPr lang="ko-KR" altLang="en-US" sz="1400">
              <a:solidFill>
                <a:srgbClr val="E4342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AEAFD-9265-BFFC-9077-8518467D30E9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2017 Alcon Entertainment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9CE06-A6E4-4ECC-4D59-1B66CE817A72}"/>
              </a:ext>
            </a:extLst>
          </p:cNvPr>
          <p:cNvSpPr txBox="1"/>
          <p:nvPr/>
        </p:nvSpPr>
        <p:spPr>
          <a:xfrm>
            <a:off x="168898" y="3244334"/>
            <a:ext cx="1775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SONY POLAROID DEVICE</a:t>
            </a:r>
            <a:b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FROM </a:t>
            </a:r>
            <a:r>
              <a:rPr lang="en-US" altLang="ko-KR" sz="900">
                <a:solidFill>
                  <a:srgbClr val="E4342E"/>
                </a:solidFill>
              </a:rPr>
              <a:t>“BLADE RUNNER 2049”</a:t>
            </a:r>
            <a:endParaRPr lang="ko-KR" altLang="en-US" sz="900">
              <a:solidFill>
                <a:srgbClr val="E4342E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894B54BE-58D5-1466-B02B-7BB1F5D1EA33}"/>
              </a:ext>
            </a:extLst>
          </p:cNvPr>
          <p:cNvSpPr txBox="1">
            <a:spLocks/>
          </p:cNvSpPr>
          <p:nvPr/>
        </p:nvSpPr>
        <p:spPr>
          <a:xfrm>
            <a:off x="6934200" y="0"/>
            <a:ext cx="5257800" cy="801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>
                <a:solidFill>
                  <a:srgbClr val="E4342E"/>
                </a:solidFill>
              </a:rPr>
              <a:t>NORMAL MAPPING</a:t>
            </a:r>
            <a:endParaRPr lang="ko-KR" altLang="en-US" sz="4000">
              <a:solidFill>
                <a:srgbClr val="E434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72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78836-5EF4-E89F-0A03-10E4C4DDF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>
            <a:extLst>
              <a:ext uri="{FF2B5EF4-FFF2-40B4-BE49-F238E27FC236}">
                <a16:creationId xmlns:a16="http://schemas.microsoft.com/office/drawing/2014/main" id="{2351EF13-55A7-8AA3-D22F-F684FDBB7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40" t="9695" r="16786" b="9695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A7D265A-597E-BE26-6CD3-65788405C6F9}"/>
              </a:ext>
            </a:extLst>
          </p:cNvPr>
          <p:cNvSpPr/>
          <p:nvPr/>
        </p:nvSpPr>
        <p:spPr>
          <a:xfrm>
            <a:off x="2078316" y="1319646"/>
            <a:ext cx="8587818" cy="455314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4DDFE-746F-29F7-25BA-14134E2CFE2C}"/>
              </a:ext>
            </a:extLst>
          </p:cNvPr>
          <p:cNvSpPr txBox="1"/>
          <p:nvPr/>
        </p:nvSpPr>
        <p:spPr>
          <a:xfrm>
            <a:off x="2439321" y="2022589"/>
            <a:ext cx="34475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1400">
                <a:solidFill>
                  <a:srgbClr val="E4342E"/>
                </a:solidFill>
              </a:rPr>
              <a:t>TILE-BASED CULLING</a:t>
            </a:r>
            <a:endParaRPr lang="en-US" sz="1400">
              <a:solidFill>
                <a:srgbClr val="E4342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878C0-D0A1-2525-BFCE-689001F76216}"/>
              </a:ext>
            </a:extLst>
          </p:cNvPr>
          <p:cNvSpPr txBox="1"/>
          <p:nvPr/>
        </p:nvSpPr>
        <p:spPr>
          <a:xfrm>
            <a:off x="6305113" y="2022589"/>
            <a:ext cx="33996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altLang="ko-KR" sz="1400">
                <a:solidFill>
                  <a:srgbClr val="E4342E"/>
                </a:solidFill>
              </a:rPr>
              <a:t>2.5D LIGHT CULLING</a:t>
            </a:r>
            <a:endParaRPr lang="ko-KR" altLang="en-US" sz="1400">
              <a:solidFill>
                <a:srgbClr val="E4342E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2EB96E03-B58A-A2CB-A742-2DF709577D67}"/>
              </a:ext>
            </a:extLst>
          </p:cNvPr>
          <p:cNvSpPr txBox="1">
            <a:spLocks/>
          </p:cNvSpPr>
          <p:nvPr/>
        </p:nvSpPr>
        <p:spPr>
          <a:xfrm>
            <a:off x="5580667" y="0"/>
            <a:ext cx="6611333" cy="801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>
                <a:solidFill>
                  <a:srgbClr val="E4342E"/>
                </a:solidFill>
              </a:rPr>
              <a:t>TILE-BASED LIGHT CULLING</a:t>
            </a:r>
            <a:endParaRPr lang="ko-KR" altLang="en-US" sz="4000">
              <a:solidFill>
                <a:srgbClr val="E4342E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8913232-68D3-9FC1-197B-758206421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321" y="2435405"/>
            <a:ext cx="3447566" cy="2454143"/>
          </a:xfrm>
          <a:prstGeom prst="rect">
            <a:avLst/>
          </a:prstGeom>
          <a:ln>
            <a:solidFill>
              <a:srgbClr val="E4342E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C595B7D-0809-DE63-2503-DEAD7C96D6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2" t="-1107" r="535" b="1107"/>
          <a:stretch>
            <a:fillRect/>
          </a:stretch>
        </p:blipFill>
        <p:spPr>
          <a:xfrm>
            <a:off x="6305113" y="2435405"/>
            <a:ext cx="3408735" cy="2456108"/>
          </a:xfrm>
          <a:prstGeom prst="rect">
            <a:avLst/>
          </a:prstGeom>
          <a:ln>
            <a:solidFill>
              <a:srgbClr val="E4342E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CFB20BE-D319-4240-AD84-5A668EFC02CB}"/>
              </a:ext>
            </a:extLst>
          </p:cNvPr>
          <p:cNvSpPr txBox="1"/>
          <p:nvPr/>
        </p:nvSpPr>
        <p:spPr>
          <a:xfrm>
            <a:off x="10482970" y="6627168"/>
            <a:ext cx="1470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2019 Jake Woodruff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D9EE40-7272-7FFD-CD10-A6F0E43EC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502060"/>
              </p:ext>
            </p:extLst>
          </p:nvPr>
        </p:nvGraphicFramePr>
        <p:xfrm>
          <a:off x="519952" y="5441576"/>
          <a:ext cx="9688028" cy="1120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2171">
                  <a:extLst>
                    <a:ext uri="{9D8B030D-6E8A-4147-A177-3AD203B41FA5}">
                      <a16:colId xmlns:a16="http://schemas.microsoft.com/office/drawing/2014/main" val="2406399778"/>
                    </a:ext>
                  </a:extLst>
                </a:gridCol>
                <a:gridCol w="3471041">
                  <a:extLst>
                    <a:ext uri="{9D8B030D-6E8A-4147-A177-3AD203B41FA5}">
                      <a16:colId xmlns:a16="http://schemas.microsoft.com/office/drawing/2014/main" val="2311045909"/>
                    </a:ext>
                  </a:extLst>
                </a:gridCol>
                <a:gridCol w="4304816">
                  <a:extLst>
                    <a:ext uri="{9D8B030D-6E8A-4147-A177-3AD203B41FA5}">
                      <a16:colId xmlns:a16="http://schemas.microsoft.com/office/drawing/2014/main" val="1829750944"/>
                    </a:ext>
                  </a:extLst>
                </a:gridCol>
              </a:tblGrid>
              <a:tr h="112080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>
                          <a:solidFill>
                            <a:srgbClr val="ED3232"/>
                          </a:solidFill>
                        </a:rPr>
                        <a:t>Per-Pixel </a:t>
                      </a:r>
                      <a:br>
                        <a:rPr lang="ko-KR" altLang="en-US" sz="1800">
                          <a:solidFill>
                            <a:srgbClr val="ED3232"/>
                          </a:solidFill>
                        </a:rPr>
                      </a:br>
                      <a:r>
                        <a:rPr lang="ko-KR" altLang="en-US" sz="1800">
                          <a:solidFill>
                            <a:srgbClr val="ED3232"/>
                          </a:solidFill>
                        </a:rPr>
                        <a:t>Local Light</a:t>
                      </a:r>
                      <a:br>
                        <a:rPr lang="ko-KR" altLang="en-US" sz="1800">
                          <a:solidFill>
                            <a:srgbClr val="ED3232"/>
                          </a:solidFill>
                        </a:rPr>
                      </a:br>
                      <a:r>
                        <a:rPr lang="ko-KR" altLang="en-US" sz="1800">
                          <a:solidFill>
                            <a:srgbClr val="ED3232"/>
                          </a:solidFill>
                        </a:rPr>
                        <a:t>계산 횟수 총합</a:t>
                      </a:r>
                      <a:endParaRPr lang="ko-KR" altLang="en-US" sz="1800" dirty="0">
                        <a:solidFill>
                          <a:srgbClr val="ED3232"/>
                        </a:solidFill>
                      </a:endParaRPr>
                    </a:p>
                  </a:txBody>
                  <a:tcPr anchor="ctr"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solidFill>
                            <a:srgbClr val="ED3232"/>
                          </a:solidFill>
                        </a:rPr>
                        <a:t>1,640,144</a:t>
                      </a:r>
                      <a:r>
                        <a:rPr lang="ko-KR" altLang="en-US">
                          <a:solidFill>
                            <a:srgbClr val="ED3232"/>
                          </a:solidFill>
                        </a:rPr>
                        <a:t>회</a:t>
                      </a:r>
                      <a:endParaRPr lang="en-US" altLang="ko-KR">
                        <a:solidFill>
                          <a:srgbClr val="ED3232"/>
                        </a:solidFill>
                      </a:endParaRPr>
                    </a:p>
                  </a:txBody>
                  <a:tcPr anchor="ctr">
                    <a:solidFill>
                      <a:srgbClr val="000000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ED3232"/>
                          </a:solidFill>
                        </a:rPr>
                        <a:t>827,856</a:t>
                      </a:r>
                      <a:r>
                        <a:rPr lang="ko-KR" altLang="en-US">
                          <a:solidFill>
                            <a:srgbClr val="ED3232"/>
                          </a:solidFill>
                        </a:rPr>
                        <a:t>회</a:t>
                      </a:r>
                      <a:endParaRPr lang="en-US">
                        <a:solidFill>
                          <a:srgbClr val="ED3232"/>
                        </a:solidFill>
                      </a:endParaRPr>
                    </a:p>
                  </a:txBody>
                  <a:tcPr anchor="ctr">
                    <a:solidFill>
                      <a:srgbClr val="000000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385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E913FD-25A8-A55D-9F77-6E713BD54693}"/>
              </a:ext>
            </a:extLst>
          </p:cNvPr>
          <p:cNvSpPr txBox="1"/>
          <p:nvPr/>
        </p:nvSpPr>
        <p:spPr>
          <a:xfrm>
            <a:off x="5147036" y="4918774"/>
            <a:ext cx="45577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1400"/>
              <a:t>월드에 빈 공간이 많을 때 </a:t>
            </a:r>
            <a:br>
              <a:rPr lang="en-US" altLang="ko-KR" sz="1400"/>
            </a:br>
            <a:r>
              <a:rPr lang="ko-KR" altLang="en-US" sz="1400"/>
              <a:t>더 효율적인 </a:t>
            </a:r>
            <a:r>
              <a:rPr lang="en-US" altLang="ko-KR" sz="1400">
                <a:solidFill>
                  <a:srgbClr val="E4342E"/>
                </a:solidFill>
              </a:rPr>
              <a:t>CULLING.</a:t>
            </a:r>
            <a:endParaRPr lang="ko-KR" altLang="en-US" sz="1400">
              <a:solidFill>
                <a:srgbClr val="E4342E"/>
              </a:solidFill>
            </a:endParaRPr>
          </a:p>
        </p:txBody>
      </p:sp>
      <p:pic>
        <p:nvPicPr>
          <p:cNvPr id="3" name="그림 2" descr="다채로움, 스크린샷, 마조렐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70D800-4DD2-16EE-6BEB-6A4A26E0F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102" y="2520867"/>
            <a:ext cx="2467477" cy="2285019"/>
          </a:xfrm>
          <a:prstGeom prst="rect">
            <a:avLst/>
          </a:prstGeom>
        </p:spPr>
      </p:pic>
      <p:pic>
        <p:nvPicPr>
          <p:cNvPr id="4" name="그림 3" descr="다채로움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6A7AC-C8F7-B023-B9E3-8D760D617A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6854" y="2517860"/>
            <a:ext cx="2524126" cy="236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69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0E26B-C152-0B6B-8646-2CC63A269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4">
            <a:extLst>
              <a:ext uri="{FF2B5EF4-FFF2-40B4-BE49-F238E27FC236}">
                <a16:creationId xmlns:a16="http://schemas.microsoft.com/office/drawing/2014/main" id="{0784C8AA-DA9D-09C9-9340-2EB3013A5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40" t="9695" r="16786" b="9695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A7BB313E-222E-9790-1C8B-D74AF6AEED2D}"/>
              </a:ext>
            </a:extLst>
          </p:cNvPr>
          <p:cNvSpPr/>
          <p:nvPr/>
        </p:nvSpPr>
        <p:spPr>
          <a:xfrm>
            <a:off x="1802091" y="1202717"/>
            <a:ext cx="8587818" cy="455314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947353-6175-24CB-BDE9-BBF3248354B6}"/>
              </a:ext>
            </a:extLst>
          </p:cNvPr>
          <p:cNvCxnSpPr/>
          <p:nvPr/>
        </p:nvCxnSpPr>
        <p:spPr>
          <a:xfrm>
            <a:off x="3291661" y="1989221"/>
            <a:ext cx="1523999" cy="2879557"/>
          </a:xfrm>
          <a:prstGeom prst="straightConnector1">
            <a:avLst/>
          </a:prstGeom>
          <a:ln>
            <a:solidFill>
              <a:srgbClr val="E4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E88F1C-D7C2-0860-FFE4-BA3D82E42A97}"/>
              </a:ext>
            </a:extLst>
          </p:cNvPr>
          <p:cNvCxnSpPr>
            <a:cxnSpLocks/>
          </p:cNvCxnSpPr>
          <p:nvPr/>
        </p:nvCxnSpPr>
        <p:spPr>
          <a:xfrm>
            <a:off x="4486796" y="1973178"/>
            <a:ext cx="328864" cy="2895600"/>
          </a:xfrm>
          <a:prstGeom prst="straightConnector1">
            <a:avLst/>
          </a:prstGeom>
          <a:ln>
            <a:solidFill>
              <a:srgbClr val="E4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DC0AF6-8A90-3120-C681-373995356D45}"/>
              </a:ext>
            </a:extLst>
          </p:cNvPr>
          <p:cNvCxnSpPr>
            <a:cxnSpLocks/>
          </p:cNvCxnSpPr>
          <p:nvPr/>
        </p:nvCxnSpPr>
        <p:spPr>
          <a:xfrm>
            <a:off x="3541797" y="2462554"/>
            <a:ext cx="1003267" cy="0"/>
          </a:xfrm>
          <a:prstGeom prst="straightConnector1">
            <a:avLst/>
          </a:prstGeom>
          <a:ln>
            <a:solidFill>
              <a:srgbClr val="E4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2C43A7-DFAE-5F34-6298-962D21F5ECFC}"/>
              </a:ext>
            </a:extLst>
          </p:cNvPr>
          <p:cNvCxnSpPr>
            <a:cxnSpLocks/>
          </p:cNvCxnSpPr>
          <p:nvPr/>
        </p:nvCxnSpPr>
        <p:spPr>
          <a:xfrm>
            <a:off x="4486796" y="4257333"/>
            <a:ext cx="250389" cy="0"/>
          </a:xfrm>
          <a:prstGeom prst="straightConnector1">
            <a:avLst/>
          </a:prstGeom>
          <a:ln>
            <a:solidFill>
              <a:srgbClr val="E4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31E7104-49EB-6346-C196-A6AD793E1555}"/>
              </a:ext>
            </a:extLst>
          </p:cNvPr>
          <p:cNvSpPr/>
          <p:nvPr/>
        </p:nvSpPr>
        <p:spPr>
          <a:xfrm>
            <a:off x="3162221" y="2334587"/>
            <a:ext cx="509016" cy="491495"/>
          </a:xfrm>
          <a:prstGeom prst="ellipse">
            <a:avLst/>
          </a:prstGeom>
          <a:solidFill>
            <a:srgbClr val="FDBC46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FCA692-DE41-755F-782E-57E4DCCFDDDC}"/>
              </a:ext>
            </a:extLst>
          </p:cNvPr>
          <p:cNvSpPr/>
          <p:nvPr/>
        </p:nvSpPr>
        <p:spPr>
          <a:xfrm>
            <a:off x="4247823" y="3126364"/>
            <a:ext cx="713874" cy="705852"/>
          </a:xfrm>
          <a:prstGeom prst="ellipse">
            <a:avLst/>
          </a:prstGeom>
          <a:solidFill>
            <a:srgbClr val="FDBC46">
              <a:alpha val="30588"/>
            </a:srgbClr>
          </a:solidFill>
          <a:ln>
            <a:solidFill>
              <a:srgbClr val="FDF2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C57FAE-24F9-F9F7-B9D7-2AA1A3D0F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02017"/>
              </p:ext>
            </p:extLst>
          </p:nvPr>
        </p:nvGraphicFramePr>
        <p:xfrm>
          <a:off x="6930230" y="2269766"/>
          <a:ext cx="34158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1586">
                  <a:extLst>
                    <a:ext uri="{9D8B030D-6E8A-4147-A177-3AD203B41FA5}">
                      <a16:colId xmlns:a16="http://schemas.microsoft.com/office/drawing/2014/main" val="1150256153"/>
                    </a:ext>
                  </a:extLst>
                </a:gridCol>
              </a:tblGrid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1  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80593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261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47459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5065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355261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F2D386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93035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B5A50C3-8387-E83E-98A0-968E01655018}"/>
              </a:ext>
            </a:extLst>
          </p:cNvPr>
          <p:cNvSpPr txBox="1"/>
          <p:nvPr/>
        </p:nvSpPr>
        <p:spPr>
          <a:xfrm>
            <a:off x="6544850" y="4345559"/>
            <a:ext cx="11140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>
                <a:solidFill>
                  <a:srgbClr val="F2D386"/>
                </a:solidFill>
              </a:rPr>
              <a:t>LIGHT MASK</a:t>
            </a:r>
            <a:endParaRPr lang="ko-KR">
              <a:solidFill>
                <a:srgbClr val="F2D386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3DF5F25-BDC9-7F33-F864-6863B66ED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525741"/>
              </p:ext>
            </p:extLst>
          </p:nvPr>
        </p:nvGraphicFramePr>
        <p:xfrm>
          <a:off x="7823608" y="2269765"/>
          <a:ext cx="34158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1586">
                  <a:extLst>
                    <a:ext uri="{9D8B030D-6E8A-4147-A177-3AD203B41FA5}">
                      <a16:colId xmlns:a16="http://schemas.microsoft.com/office/drawing/2014/main" val="1150256153"/>
                    </a:ext>
                  </a:extLst>
                </a:gridCol>
              </a:tblGrid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80593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261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47459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5065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355261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E434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93035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27D9B7A-EFAB-1E9A-733D-4F9E7F636217}"/>
              </a:ext>
            </a:extLst>
          </p:cNvPr>
          <p:cNvSpPr txBox="1"/>
          <p:nvPr/>
        </p:nvSpPr>
        <p:spPr>
          <a:xfrm>
            <a:off x="7438229" y="4345558"/>
            <a:ext cx="11140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>
                <a:solidFill>
                  <a:srgbClr val="E4342E"/>
                </a:solidFill>
              </a:rPr>
              <a:t>PRIMITIVE MASK</a:t>
            </a:r>
            <a:endParaRPr lang="ko-KR">
              <a:solidFill>
                <a:srgbClr val="E4342E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DF1DFB-6925-394F-80A4-1AA4DBF3C7B9}"/>
              </a:ext>
            </a:extLst>
          </p:cNvPr>
          <p:cNvSpPr/>
          <p:nvPr/>
        </p:nvSpPr>
        <p:spPr>
          <a:xfrm>
            <a:off x="3676945" y="2826082"/>
            <a:ext cx="765505" cy="493987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2BAFE5-97A3-9F82-2F7D-430E1E427A5A}"/>
              </a:ext>
            </a:extLst>
          </p:cNvPr>
          <p:cNvSpPr txBox="1"/>
          <p:nvPr/>
        </p:nvSpPr>
        <p:spPr>
          <a:xfrm>
            <a:off x="7385677" y="3040524"/>
            <a:ext cx="369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&amp;</a:t>
            </a:r>
            <a:endParaRPr lang="en-US" altLang="ko-KR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BB8E6D1-C2F9-135B-42B1-E8FC8A881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195542"/>
              </p:ext>
            </p:extLst>
          </p:nvPr>
        </p:nvGraphicFramePr>
        <p:xfrm>
          <a:off x="8629400" y="2269764"/>
          <a:ext cx="341586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1586">
                  <a:extLst>
                    <a:ext uri="{9D8B030D-6E8A-4147-A177-3AD203B41FA5}">
                      <a16:colId xmlns:a16="http://schemas.microsoft.com/office/drawing/2014/main" val="1150256153"/>
                    </a:ext>
                  </a:extLst>
                </a:gridCol>
              </a:tblGrid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80593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0261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647459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350658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355261"/>
                  </a:ext>
                </a:extLst>
              </a:tr>
              <a:tr h="26955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93035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B2CCD8C-631F-1C9A-977D-19DCBC5E8345}"/>
              </a:ext>
            </a:extLst>
          </p:cNvPr>
          <p:cNvSpPr txBox="1"/>
          <p:nvPr/>
        </p:nvSpPr>
        <p:spPr>
          <a:xfrm>
            <a:off x="8182711" y="3040523"/>
            <a:ext cx="3696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677702-175F-DD23-93F1-F9FF905D85AF}"/>
              </a:ext>
            </a:extLst>
          </p:cNvPr>
          <p:cNvSpPr txBox="1"/>
          <p:nvPr/>
        </p:nvSpPr>
        <p:spPr>
          <a:xfrm>
            <a:off x="8244022" y="4345559"/>
            <a:ext cx="111409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400"/>
              <a:t>최종</a:t>
            </a:r>
          </a:p>
          <a:p>
            <a:pPr algn="ctr"/>
            <a:r>
              <a:rPr lang="ko-KR" altLang="en-US" sz="1400"/>
              <a:t>계산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3DD29C3F-9AE2-5F90-544D-C1866C0B3D76}"/>
              </a:ext>
            </a:extLst>
          </p:cNvPr>
          <p:cNvSpPr txBox="1">
            <a:spLocks/>
          </p:cNvSpPr>
          <p:nvPr/>
        </p:nvSpPr>
        <p:spPr>
          <a:xfrm>
            <a:off x="5580667" y="0"/>
            <a:ext cx="6611333" cy="801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4000">
                <a:solidFill>
                  <a:srgbClr val="E4342E"/>
                </a:solidFill>
              </a:rPr>
              <a:t>TILE-BASED LIGHT CULLING</a:t>
            </a:r>
            <a:endParaRPr lang="ko-KR" altLang="en-US" sz="4000">
              <a:solidFill>
                <a:srgbClr val="E4342E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B17908-1285-51FD-E8C6-2AD8FAA8974A}"/>
              </a:ext>
            </a:extLst>
          </p:cNvPr>
          <p:cNvSpPr txBox="1"/>
          <p:nvPr/>
        </p:nvSpPr>
        <p:spPr>
          <a:xfrm>
            <a:off x="4566157" y="2774456"/>
            <a:ext cx="111409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400">
                <a:solidFill>
                  <a:srgbClr val="E4342E"/>
                </a:solidFill>
              </a:rPr>
              <a:t>COLLIDED</a:t>
            </a:r>
            <a:endParaRPr lang="ko-KR">
              <a:solidFill>
                <a:srgbClr val="E4342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5C4D9B-F974-E152-E1E4-74835F9965FC}"/>
              </a:ext>
            </a:extLst>
          </p:cNvPr>
          <p:cNvSpPr txBox="1"/>
          <p:nvPr/>
        </p:nvSpPr>
        <p:spPr>
          <a:xfrm>
            <a:off x="10482970" y="6627168"/>
            <a:ext cx="1470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2019 Jake Woodruff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67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176C5-A9EF-30DC-C430-F2FE3AC7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D969B6BF-99A3-BBA4-EE35-167D93121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6" b="24374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09BD37-0717-DF60-FAC9-8F49CF0A7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84935"/>
            <a:ext cx="4038600" cy="1048865"/>
          </a:xfrm>
        </p:spPr>
        <p:txBody>
          <a:bodyPr>
            <a:normAutofit/>
          </a:bodyPr>
          <a:lstStyle/>
          <a:p>
            <a:r>
              <a:rPr lang="en-US" altLang="ko-KR" sz="4000">
                <a:solidFill>
                  <a:srgbClr val="E4342E"/>
                </a:solidFill>
                <a:latin typeface="Century Gothic" panose="020B0502020202020204" pitchFamily="34" charset="0"/>
              </a:rPr>
              <a:t>SHOWCASE</a:t>
            </a:r>
            <a:endParaRPr lang="ko-KR" altLang="en-US" sz="4000">
              <a:solidFill>
                <a:srgbClr val="E4342E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45947-FD21-6055-C488-D026C873DD50}"/>
              </a:ext>
            </a:extLst>
          </p:cNvPr>
          <p:cNvSpPr txBox="1"/>
          <p:nvPr/>
        </p:nvSpPr>
        <p:spPr>
          <a:xfrm>
            <a:off x="9687422" y="2553504"/>
            <a:ext cx="962446" cy="1750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>
                <a:solidFill>
                  <a:srgbClr val="E3E4E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김기훈</a:t>
            </a:r>
            <a:endParaRPr lang="en-US" altLang="ko-KR" sz="1400">
              <a:solidFill>
                <a:srgbClr val="E3E4E6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>
                <a:solidFill>
                  <a:srgbClr val="E3E4E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권현수</a:t>
            </a:r>
            <a:endParaRPr lang="en-US" altLang="ko-KR" sz="1400">
              <a:solidFill>
                <a:srgbClr val="E3E4E6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>
                <a:solidFill>
                  <a:srgbClr val="E3E4E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전현길</a:t>
            </a:r>
            <a:endParaRPr lang="en-US" altLang="ko-KR" sz="1400">
              <a:solidFill>
                <a:srgbClr val="E3E4E6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>
                <a:solidFill>
                  <a:srgbClr val="E3E4E6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김연하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3594E-6C25-8D9E-A032-F4612306EE1C}"/>
              </a:ext>
            </a:extLst>
          </p:cNvPr>
          <p:cNvSpPr txBox="1"/>
          <p:nvPr/>
        </p:nvSpPr>
        <p:spPr>
          <a:xfrm>
            <a:off x="10168645" y="6627168"/>
            <a:ext cx="1812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>
                <a:solidFill>
                  <a:schemeClr val="bg1">
                    <a:lumMod val="50000"/>
                    <a:lumOff val="50000"/>
                  </a:schemeClr>
                </a:solidFill>
              </a:rPr>
              <a:t>ⓒ </a:t>
            </a:r>
            <a:r>
              <a:rPr lang="en-US" altLang="ko-KR" sz="900">
                <a:solidFill>
                  <a:schemeClr val="bg1">
                    <a:lumMod val="50000"/>
                    <a:lumOff val="50000"/>
                  </a:schemeClr>
                </a:solidFill>
              </a:rPr>
              <a:t>2017 Alcon Entertainment</a:t>
            </a:r>
            <a:endParaRPr lang="ko-KR" altLang="en-US" sz="9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740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Century Gothic"/>
        <a:ea typeface="Noto Sans KR Light"/>
        <a:cs typeface=""/>
      </a:majorFont>
      <a:minorFont>
        <a:latin typeface="Century Gothic"/>
        <a:ea typeface="Noto Sans KR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2DBF6813BEE09409237611D917F28C9" ma:contentTypeVersion="10" ma:contentTypeDescription="새 문서를 만듭니다." ma:contentTypeScope="" ma:versionID="4064f2587141b6247dc178b857e314fb">
  <xsd:schema xmlns:xsd="http://www.w3.org/2001/XMLSchema" xmlns:xs="http://www.w3.org/2001/XMLSchema" xmlns:p="http://schemas.microsoft.com/office/2006/metadata/properties" xmlns:ns3="efc932e1-1e2c-4d70-ba43-b0d10ef0ba1e" targetNamespace="http://schemas.microsoft.com/office/2006/metadata/properties" ma:root="true" ma:fieldsID="64338e1baedfa03b7d47ef46ab7397f0" ns3:_="">
    <xsd:import namespace="efc932e1-1e2c-4d70-ba43-b0d10ef0ba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32e1-1e2c-4d70-ba43-b0d10ef0ba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932e1-1e2c-4d70-ba43-b0d10ef0ba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B63AB9-079F-44AC-8470-8D3F9523DA05}">
  <ds:schemaRefs>
    <ds:schemaRef ds:uri="efc932e1-1e2c-4d70-ba43-b0d10ef0ba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3CF5295-2CA9-4AE1-AD0D-140E1A17A068}">
  <ds:schemaRefs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efc932e1-1e2c-4d70-ba43-b0d10ef0ba1e"/>
  </ds:schemaRefs>
</ds:datastoreItem>
</file>

<file path=customXml/itemProps3.xml><?xml version="1.0" encoding="utf-8"?>
<ds:datastoreItem xmlns:ds="http://schemas.openxmlformats.org/officeDocument/2006/customXml" ds:itemID="{569C297E-6730-4F9B-90CE-14CDD418E6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488</Words>
  <Application>Microsoft Office PowerPoint</Application>
  <PresentationFormat>와이드스크린</PresentationFormat>
  <Paragraphs>132</Paragraphs>
  <Slides>13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Noto Sans KR Light</vt:lpstr>
      <vt:lpstr>맑은 고딕</vt:lpstr>
      <vt:lpstr>Arial</vt:lpstr>
      <vt:lpstr>Century Gothic</vt:lpstr>
      <vt:lpstr>Consolas</vt:lpstr>
      <vt:lpstr>Office 테마</vt:lpstr>
      <vt:lpstr>INTRODUCTION TO LIGHTING</vt:lpstr>
      <vt:lpstr>INITIATING RENDERING PASS...|</vt:lpstr>
      <vt:lpstr>INITIATION SUCCESS...|</vt:lpstr>
      <vt:lpstr>PowerPoint 프레젠테이션</vt:lpstr>
      <vt:lpstr>PowerPoint 프레젠테이션</vt:lpstr>
      <vt:lpstr>PowerPoint 프레젠테이션</vt:lpstr>
      <vt:lpstr>PowerPoint 프레젠테이션</vt:lpstr>
      <vt:lpstr>SHADING MODELS</vt:lpstr>
      <vt:lpstr>UBER SHADER</vt:lpstr>
      <vt:lpstr>PowerPoint 프레젠테이션</vt:lpstr>
      <vt:lpstr>PowerPoint 프레젠테이션</vt:lpstr>
      <vt:lpstr>PowerPoint 프레젠테이션</vt:lpstr>
      <vt:lpstr>SHOWCASE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2</cp:revision>
  <dcterms:created xsi:type="dcterms:W3CDTF">2026-04-22T04:52:43Z</dcterms:created>
  <dcterms:modified xsi:type="dcterms:W3CDTF">2026-04-23T07:24:44Z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0x010100F2DBF6813BEE09409237611D917F28C9</vt:lpwstr>
  </property>
</Properties>
</file>