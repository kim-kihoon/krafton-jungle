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85" r:id="rId5"/>
    <p:sldId id="258" r:id="rId6"/>
    <p:sldId id="277" r:id="rId7"/>
    <p:sldId id="271" r:id="rId8"/>
    <p:sldId id="289" r:id="rId9"/>
    <p:sldId id="288" r:id="rId10"/>
    <p:sldId id="290" r:id="rId11"/>
    <p:sldId id="291" r:id="rId12"/>
    <p:sldId id="292" r:id="rId13"/>
    <p:sldId id="294" r:id="rId14"/>
    <p:sldId id="293" r:id="rId15"/>
    <p:sldId id="295" r:id="rId16"/>
    <p:sldId id="259" r:id="rId17"/>
    <p:sldId id="281" r:id="rId18"/>
    <p:sldId id="286" r:id="rId19"/>
    <p:sldId id="273" r:id="rId20"/>
    <p:sldId id="284" r:id="rId21"/>
    <p:sldId id="275" r:id="rId22"/>
    <p:sldId id="272" r:id="rId23"/>
    <p:sldId id="283" r:id="rId24"/>
    <p:sldId id="268" r:id="rId25"/>
    <p:sldId id="287" r:id="rId26"/>
    <p:sldId id="270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D5D"/>
    <a:srgbClr val="2D2D2D"/>
    <a:srgbClr val="737373"/>
    <a:srgbClr val="E6FFFB"/>
    <a:srgbClr val="7999E2"/>
    <a:srgbClr val="FC4653"/>
    <a:srgbClr val="101823"/>
    <a:srgbClr val="D2F5CB"/>
    <a:srgbClr val="797D7E"/>
    <a:srgbClr val="F9A9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EBB810-B42E-2396-B2A1-BB60FE12C387}" v="1986" dt="2026-04-29T19:51:03.655"/>
    <p1510:client id="{30B820A1-41BE-CB5B-8269-E609B2B029B5}" v="3079" dt="2026-04-29T18:30:02.219"/>
    <p1510:client id="{97E76D37-BE44-D048-276E-C777324D3205}" v="361" dt="2026-04-29T13:37:44.301"/>
    <p1510:client id="{A6779562-F42C-4C2E-BA4C-5B7474D40B23}" v="1881" dt="2026-04-29T23:22:22.599"/>
    <p1510:client id="{B527B962-365D-7A83-B459-5343749BC226}" v="12" dt="2026-04-29T17:31:18.530"/>
    <p1510:client id="{DBA61937-9A51-BD77-8CF8-900A8031D732}" v="51" dt="2026-04-29T12:45:41.813"/>
    <p1510:client id="{E621DDBE-2045-C9F2-2A78-0A3368FC19B4}" v="31" dt="2026-04-29T13:40:42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42EAE-3FBA-4508-9E2A-0D8EC238E2C5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5F659-ACCF-4AEB-A428-4BB8A2197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86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F659-ACCF-4AEB-A428-4BB8A219737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3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F659-ACCF-4AEB-A428-4BB8A219737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80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F659-ACCF-4AEB-A428-4BB8A219737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924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BEC4-CAE7-564E-304A-3C79C024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367AB3-52AE-2543-D650-8E19AB6A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6A6479-3903-5F65-1A0A-CECEE1934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7F274B-6509-A11E-D020-A4842BB42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F659-ACCF-4AEB-A428-4BB8A219737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BDA5E-EBB4-623E-4BBC-D59C2516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9C1558-B7C1-BF02-CF38-722B7E4EB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8AAB3C-E97A-8B0A-C0BB-D7E0C87CF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E9E81A-0431-DF21-37CD-D93323E2B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5F659-ACCF-4AEB-A428-4BB8A219737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231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430F4-40B6-E53C-4BC5-6C8656728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gency FB" panose="020B0503020202020204" pitchFamily="34" charset="0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CE3B0A-BB73-36C9-039B-27074AF32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Noto Sans KR" panose="020B02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3E885F-EDD0-D0FC-7138-C2FEE006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E65713-4ACF-2880-E0EC-92FA706F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4E4C2-7B6B-9FA9-F0CE-A9294D07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3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0AA61-E89F-B1F1-0071-F6F8CD6E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FF4654"/>
                </a:solidFill>
                <a:latin typeface="Agency FB" panose="020B0503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6D30E-4EC5-61E7-52D8-F86D2ED30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solidFill>
                  <a:srgbClr val="FF4654"/>
                </a:solidFill>
                <a:latin typeface="Agency FB" panose="020B0503020202020204" pitchFamily="34" charset="0"/>
              </a:defRPr>
            </a:lvl1pPr>
            <a:lvl2pPr>
              <a:defRPr b="1">
                <a:solidFill>
                  <a:srgbClr val="FF4654"/>
                </a:solidFill>
                <a:latin typeface="Agency FB" panose="020B0503020202020204" pitchFamily="34" charset="0"/>
              </a:defRPr>
            </a:lvl2pPr>
            <a:lvl3pPr>
              <a:defRPr b="1">
                <a:solidFill>
                  <a:srgbClr val="FF4654"/>
                </a:solidFill>
                <a:latin typeface="Agency FB" panose="020B0503020202020204" pitchFamily="34" charset="0"/>
              </a:defRPr>
            </a:lvl3pPr>
            <a:lvl4pPr>
              <a:defRPr b="1">
                <a:solidFill>
                  <a:srgbClr val="FF4654"/>
                </a:solidFill>
                <a:latin typeface="Agency FB" panose="020B0503020202020204" pitchFamily="34" charset="0"/>
              </a:defRPr>
            </a:lvl4pPr>
            <a:lvl5pPr>
              <a:defRPr b="1">
                <a:solidFill>
                  <a:srgbClr val="FF4654"/>
                </a:solidFill>
                <a:latin typeface="Agency FB" panose="020B0503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81004-01A5-B0CB-A715-F588508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4654"/>
                </a:solidFill>
                <a:latin typeface="Agency FB" panose="020B0503020202020204" pitchFamily="34" charset="0"/>
              </a:defRPr>
            </a:lvl1pPr>
          </a:lstStyle>
          <a:p>
            <a:fld id="{0EF1F25A-1A2E-47F4-BED8-371EE2AF5429}" type="slidenum">
              <a:rPr lang="ko-KR" altLang="en-US" smtClean="0"/>
              <a:pPr/>
              <a:t>‹#›</a:t>
            </a:fld>
            <a:endParaRPr lang="ko-KR" altLang="en-US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240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3D154-F3F1-8D3C-F44E-61076004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172F00-7E06-36BA-2FA5-86EFF815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16049-72BE-D93C-F5CF-94B973AF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CB14B-3ECF-E03F-0C9F-B32B0A26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0047DB-F2B0-8191-B654-0B006B8B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4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D74C5-D6E2-C50D-60EC-0F5EFCCD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A7172-0A83-8EC1-D9F5-342F42FFF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8F6A79-E3D2-1E97-B57E-ADA03850A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0610E4-FED8-6BE4-F2B2-53625456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669AD7-B562-44F2-FDB8-42DA8B3D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BAEBB9-404D-5C00-FEC1-35955536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88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ED93F-389A-EA82-8313-9CCFE41B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C58221-EAF3-C14F-81A6-711D6E7E6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70A586-F73E-AB6B-043F-66AAA19C8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5114F7-BE19-E603-8492-A2563FD41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C21BCC-90ED-D427-CDEB-3088CFA3A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3C7BDB-A551-2416-4980-975DE306E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C0F880-B472-6EA2-1600-2BA437EA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2C3CD2-DB34-5248-9A38-4AAC9858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00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F9444-B03B-A64F-CE2F-E0CC6AC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C3139-A7BB-A569-2FF4-4FEC4F4E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E147CA-B893-DB5B-0745-DB4EDE64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7173C8-B6E7-2655-60AB-201E08E6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14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6F691A-B1DB-D44C-F7FE-87B1C4DA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B21DAF-917C-380E-DDBD-673BB5E9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B8B01-6730-0896-CE7E-96C2C54F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20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F8D15-ECD4-8B1B-56AD-2449196C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06E7E4-2128-A2C1-B312-BF0105878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906520-9315-84C1-A617-641ECB190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5740CD-1F09-E64E-BE8A-45DE51AD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195427-AF9A-6194-E3D2-DDF3E24C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1D16BD-EB54-8D02-AC18-F26B557E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05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950BF-0B74-E353-BAB3-E37141F2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7AFF84-D566-9FF0-E9F6-51C9AA2C6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3FE27D-7360-3F01-3862-7D1993EFF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D2F46-D93F-82EE-1064-26B6D61B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6B9AFD-73B6-E2E3-5486-FD8CE998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B86A6C-38C8-0C86-2E8A-508F5598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39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9F992-BC35-78B1-D528-8FB070D4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7425FD-62FC-286D-31AF-113E55FE7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B0ED64-1221-1321-ED81-C181170F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0D7D70-426F-6F54-9C30-A551B1E85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24396-14B2-E600-3FE1-D9E54606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54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B18E97-CB6C-CE6E-E3E8-BAF4322ED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513ED5-E4D9-B295-F5CB-D8C929462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BE53EE-C434-7919-C583-A3BC188A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65DC47-F404-4244-86AD-340C7031155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A0BA2F-7830-92D9-DD89-7D9560F7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E4BB5E-C4EF-49E7-FD39-47762178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1F25A-1A2E-47F4-BED8-371EE2AF5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24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26426F-465A-4B32-C241-06DBD597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6F1F8F-B211-6950-68C4-8CDA2FB78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1311E4-1BA6-12B6-E015-99E5DD8C2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FF4654"/>
                </a:solidFill>
                <a:latin typeface="Agency FB" panose="020B0503020202020204" pitchFamily="34" charset="0"/>
              </a:defRPr>
            </a:lvl1pPr>
          </a:lstStyle>
          <a:p>
            <a:fld id="{0EF1F25A-1A2E-47F4-BED8-371EE2AF5429}" type="slidenum">
              <a:rPr lang="ko-KR" altLang="en-US" smtClean="0"/>
              <a:pPr/>
              <a:t>‹#›</a:t>
            </a:fld>
            <a:endParaRPr lang="ko-KR" altLang="en-US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71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4654"/>
          </a:solidFill>
          <a:latin typeface="Agency FB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FF4654"/>
          </a:solidFill>
          <a:latin typeface="Agency FB" panose="020B0503020202020204" pitchFamily="34" charset="0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FF4654"/>
          </a:solidFill>
          <a:latin typeface="Agency FB" panose="020B0503020202020204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FF4654"/>
          </a:solidFill>
          <a:latin typeface="Agency FB" panose="020B0503020202020204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FF4654"/>
          </a:solidFill>
          <a:latin typeface="Agency FB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FF4654"/>
          </a:solidFill>
          <a:latin typeface="Agency FB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8692-2EF3-C67D-0D51-EF468FE5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>
            <a:extLst>
              <a:ext uri="{FF2B5EF4-FFF2-40B4-BE49-F238E27FC236}">
                <a16:creationId xmlns:a16="http://schemas.microsoft.com/office/drawing/2014/main" id="{B2605510-6C45-52C3-246B-E99BD599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72CE37-6E7A-D64E-BE90-B657D6AD2DCF}"/>
              </a:ext>
            </a:extLst>
          </p:cNvPr>
          <p:cNvSpPr txBox="1"/>
          <p:nvPr/>
        </p:nvSpPr>
        <p:spPr>
          <a:xfrm>
            <a:off x="9963983" y="1906636"/>
            <a:ext cx="981468" cy="152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rgbClr val="FF476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박상혁</a:t>
            </a:r>
            <a:endParaRPr lang="en-US" altLang="ko-KR" sz="1600" b="1" dirty="0">
              <a:solidFill>
                <a:srgbClr val="FF476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rgbClr val="FF476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강건우</a:t>
            </a:r>
            <a:endParaRPr lang="en-US" altLang="ko-KR" sz="1600" b="1" dirty="0">
              <a:solidFill>
                <a:srgbClr val="FF476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rgbClr val="FF476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박세영</a:t>
            </a:r>
            <a:endParaRPr lang="en-US" altLang="ko-KR" sz="1600" b="1" dirty="0">
              <a:solidFill>
                <a:srgbClr val="FF476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rgbClr val="FF476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김기훈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82ADF-4702-F6B5-CD64-8232040C3F1D}"/>
              </a:ext>
            </a:extLst>
          </p:cNvPr>
          <p:cNvSpPr txBox="1"/>
          <p:nvPr/>
        </p:nvSpPr>
        <p:spPr>
          <a:xfrm>
            <a:off x="636555" y="6419585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76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763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02D56C-9A3A-5457-483A-4AF65B6C36CF}"/>
              </a:ext>
            </a:extLst>
          </p:cNvPr>
          <p:cNvSpPr txBox="1"/>
          <p:nvPr/>
        </p:nvSpPr>
        <p:spPr>
          <a:xfrm>
            <a:off x="3842699" y="234324"/>
            <a:ext cx="46631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FF4763"/>
                </a:solidFill>
                <a:latin typeface="Agency FB" panose="020B0503020202020204" pitchFamily="34" charset="0"/>
              </a:rPr>
              <a:t>SHADOWS</a:t>
            </a:r>
            <a:endParaRPr lang="ko-KR" altLang="en-US" sz="8800" b="1" dirty="0">
              <a:solidFill>
                <a:srgbClr val="FF476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001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5CC4645A-C1D2-AB77-B7C6-A109B55EB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85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82659D9-1BBB-4084-28D4-9B0488B6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9CC468-D9DA-A9A5-3D62-3792D711A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078" y="1825625"/>
            <a:ext cx="46279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dirty="0"/>
              <a:t>01	SHADOW PASS</a:t>
            </a:r>
          </a:p>
          <a:p>
            <a:pPr marL="0" indent="0">
              <a:buNone/>
            </a:pPr>
            <a:r>
              <a:rPr lang="en-US" altLang="ko-KR" dirty="0">
                <a:latin typeface="Agency FB"/>
                <a:ea typeface="맑은 고딕"/>
              </a:rPr>
              <a:t>02	TEXTURE ATLAS</a:t>
            </a:r>
          </a:p>
          <a:p>
            <a:pPr marL="0" indent="0">
              <a:buNone/>
            </a:pPr>
            <a:r>
              <a:rPr lang="en-US" altLang="ko-KR" dirty="0"/>
              <a:t>03	</a:t>
            </a:r>
            <a:r>
              <a:rPr lang="en-US" altLang="ko-KR" dirty="0">
                <a:latin typeface="Agency FB"/>
                <a:ea typeface="맑은 고딕"/>
              </a:rPr>
              <a:t>DIRECTIONAL LIGHT SHADOW</a:t>
            </a:r>
          </a:p>
          <a:p>
            <a:pPr marL="0" indent="0">
              <a:buNone/>
            </a:pPr>
            <a:r>
              <a:rPr lang="en-US" altLang="ko-KR" dirty="0">
                <a:latin typeface="Agency FB"/>
                <a:ea typeface="맑은 고딕"/>
              </a:rPr>
              <a:t>04	POINT LIGHT SHADOW</a:t>
            </a:r>
          </a:p>
          <a:p>
            <a:pPr marL="0" indent="0">
              <a:buNone/>
            </a:pPr>
            <a:r>
              <a:rPr lang="en-US" altLang="ko-KR" dirty="0">
                <a:latin typeface="Agency FB"/>
                <a:ea typeface="맑은 고딕"/>
              </a:rPr>
              <a:t>05    ARTIFACTS &amp; BIAS</a:t>
            </a:r>
            <a:endParaRPr lang="en-US" dirty="0"/>
          </a:p>
          <a:p>
            <a:pPr marL="0" indent="0">
              <a:buNone/>
            </a:pPr>
            <a:r>
              <a:rPr lang="en-US" altLang="ko-KR" dirty="0">
                <a:latin typeface="Agency FB"/>
                <a:ea typeface="맑은 고딕"/>
              </a:rPr>
              <a:t>06    SHADOW FILTERING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3379BD-2CA6-0146-B2F8-E4389682955C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4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80861-A2F0-99B7-DC17-12BDA674C104}"/>
              </a:ext>
            </a:extLst>
          </p:cNvPr>
          <p:cNvSpPr txBox="1"/>
          <p:nvPr/>
        </p:nvSpPr>
        <p:spPr>
          <a:xfrm>
            <a:off x="0" y="5297150"/>
            <a:ext cx="21255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88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DB28A-8039-D075-8C22-396664B26152}"/>
              </a:ext>
            </a:extLst>
          </p:cNvPr>
          <p:cNvSpPr txBox="1"/>
          <p:nvPr/>
        </p:nvSpPr>
        <p:spPr>
          <a:xfrm>
            <a:off x="10845539" y="6620589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99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VALORANT - Viper">
            <a:extLst>
              <a:ext uri="{FF2B5EF4-FFF2-40B4-BE49-F238E27FC236}">
                <a16:creationId xmlns:a16="http://schemas.microsoft.com/office/drawing/2014/main" id="{02FAFA34-B978-E6DE-A3E5-53F277B98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F46E7ED-EAEA-6240-B7CA-D6D18C61BCCC}"/>
              </a:ext>
            </a:extLst>
          </p:cNvPr>
          <p:cNvSpPr/>
          <p:nvPr/>
        </p:nvSpPr>
        <p:spPr>
          <a:xfrm>
            <a:off x="1229383" y="2674226"/>
            <a:ext cx="2671378" cy="1760481"/>
          </a:xfrm>
          <a:prstGeom prst="rect">
            <a:avLst/>
          </a:prstGeom>
          <a:solidFill>
            <a:srgbClr val="0F1923"/>
          </a:solidFill>
          <a:ln>
            <a:solidFill>
              <a:srgbClr val="FF4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3043FB8F-B270-BB47-0F49-B165C990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365233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latin typeface="Agency FB"/>
                <a:ea typeface="맑은 고딕"/>
              </a:rPr>
              <a:t>SHADOW PASS​</a:t>
            </a:r>
            <a:endParaRPr lang="ko-KR" altLang="en-US" dirty="0">
              <a:solidFill>
                <a:srgbClr val="FF4654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C65E85-5F4B-FB24-31F2-6436FAE36C1B}"/>
              </a:ext>
            </a:extLst>
          </p:cNvPr>
          <p:cNvGrpSpPr/>
          <p:nvPr/>
        </p:nvGrpSpPr>
        <p:grpSpPr>
          <a:xfrm>
            <a:off x="4760311" y="2674226"/>
            <a:ext cx="2671378" cy="1760481"/>
            <a:chOff x="3696138" y="1515242"/>
            <a:chExt cx="2671378" cy="176048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C421CD-FCE3-8BB4-63D2-2BA7944FE783}"/>
                </a:ext>
              </a:extLst>
            </p:cNvPr>
            <p:cNvSpPr/>
            <p:nvPr/>
          </p:nvSpPr>
          <p:spPr>
            <a:xfrm>
              <a:off x="3696138" y="1515242"/>
              <a:ext cx="2671378" cy="1760481"/>
            </a:xfrm>
            <a:prstGeom prst="rect">
              <a:avLst/>
            </a:prstGeom>
            <a:solidFill>
              <a:srgbClr val="0F1923"/>
            </a:solidFill>
            <a:ln>
              <a:solidFill>
                <a:srgbClr val="FF465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gency FB" panose="020B0503020202020204" pitchFamily="34" charset="0"/>
                <a:ea typeface="Noto Sans KR" panose="020B0200000000000000" pitchFamily="50" charset="-127"/>
              </a:endParaRPr>
            </a:p>
          </p:txBody>
        </p:sp>
        <p:sp>
          <p:nvSpPr>
            <p:cNvPr id="14" name="내용 개체 틀 2">
              <a:extLst>
                <a:ext uri="{FF2B5EF4-FFF2-40B4-BE49-F238E27FC236}">
                  <a16:creationId xmlns:a16="http://schemas.microsoft.com/office/drawing/2014/main" id="{B59B3C3C-5AAE-CBF9-2561-B064AC1305F7}"/>
                </a:ext>
              </a:extLst>
            </p:cNvPr>
            <p:cNvSpPr txBox="1">
              <a:spLocks/>
            </p:cNvSpPr>
            <p:nvPr/>
          </p:nvSpPr>
          <p:spPr>
            <a:xfrm>
              <a:off x="3696138" y="1750304"/>
              <a:ext cx="2670503" cy="36691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altLang="ko-KR" sz="1400" dirty="0">
                  <a:ea typeface="Noto Sans KR" panose="020B0200000000000000" pitchFamily="50" charset="-127"/>
                </a:rPr>
                <a:t>RENDER TASK</a:t>
              </a:r>
              <a:endParaRPr lang="ko-KR" altLang="en-US" sz="1400" dirty="0">
                <a:ea typeface="Noto Sans KR" panose="020B0200000000000000" pitchFamily="50" charset="-127"/>
              </a:endParaRPr>
            </a:p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altLang="ko-KR" sz="1400" dirty="0">
                <a:ea typeface="Noto Sans KR" panose="020B0200000000000000" pitchFamily="50" charset="-127"/>
              </a:endParaRPr>
            </a:p>
            <a:p>
              <a:pPr marL="0"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ko-KR" altLang="en-US" sz="1400" dirty="0">
                <a:ea typeface="Noto Sans KR" panose="020B0200000000000000" pitchFamily="50" charset="-127"/>
              </a:endParaRPr>
            </a:p>
          </p:txBody>
        </p:sp>
        <p:sp>
          <p:nvSpPr>
            <p:cNvPr id="15" name="내용 개체 틀 2">
              <a:extLst>
                <a:ext uri="{FF2B5EF4-FFF2-40B4-BE49-F238E27FC236}">
                  <a16:creationId xmlns:a16="http://schemas.microsoft.com/office/drawing/2014/main" id="{05057C89-A9FA-1513-56A4-3BCBB48EC7FD}"/>
                </a:ext>
              </a:extLst>
            </p:cNvPr>
            <p:cNvSpPr txBox="1">
              <a:spLocks/>
            </p:cNvSpPr>
            <p:nvPr/>
          </p:nvSpPr>
          <p:spPr>
            <a:xfrm>
              <a:off x="3696138" y="2236569"/>
              <a:ext cx="2670503" cy="84863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altLang="ko-KR" sz="1400" dirty="0">
                  <a:ea typeface="Noto Sans KR" panose="020B0200000000000000" pitchFamily="50" charset="-127"/>
                </a:rPr>
                <a:t>Shadow</a:t>
              </a:r>
              <a:r>
                <a:rPr lang="ko-KR" altLang="en-US" sz="1400" dirty="0"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>
                  <a:ea typeface="Noto Sans KR" panose="020B0200000000000000" pitchFamily="50" charset="-127"/>
                </a:rPr>
                <a:t>Caster</a:t>
              </a:r>
              <a:r>
                <a:rPr lang="ko-KR" altLang="en-US" sz="1400" dirty="0">
                  <a:ea typeface="Noto Sans KR" panose="020B0200000000000000" pitchFamily="50" charset="-127"/>
                </a:rPr>
                <a:t> 오브젝트를 컬링하고 </a:t>
              </a:r>
              <a:r>
                <a:rPr lang="en-US" altLang="ko-KR" sz="1400" dirty="0">
                  <a:ea typeface="Noto Sans KR" panose="020B0200000000000000" pitchFamily="50" charset="-127"/>
                </a:rPr>
                <a:t>Depth</a:t>
              </a:r>
              <a:r>
                <a:rPr lang="ko-KR" altLang="en-US" sz="1400" dirty="0">
                  <a:ea typeface="Noto Sans KR" panose="020B0200000000000000" pitchFamily="50" charset="-127"/>
                </a:rPr>
                <a:t>를 렌더링한다</a:t>
              </a:r>
              <a:r>
                <a:rPr lang="en-US" altLang="ko-KR" sz="1400" dirty="0">
                  <a:ea typeface="Noto Sans KR" panose="020B0200000000000000" pitchFamily="50" charset="-127"/>
                </a:rPr>
                <a:t>.</a:t>
              </a:r>
              <a:r>
                <a:rPr lang="ko-KR" altLang="en-US" sz="1400" dirty="0">
                  <a:ea typeface="Noto Sans KR" panose="020B0200000000000000" pitchFamily="50" charset="-127"/>
                </a:rPr>
                <a:t> </a:t>
              </a:r>
              <a:endParaRPr lang="en-US" altLang="ko-KR" sz="1400" dirty="0">
                <a:ea typeface="Noto Sans KR" panose="020B0200000000000000" pitchFamily="50" charset="-127"/>
              </a:endParaRPr>
            </a:p>
            <a:p>
              <a:pPr marL="0"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ko-KR" altLang="en-US" sz="1400" dirty="0">
                <a:ea typeface="Noto Sans KR" panose="020B0200000000000000" pitchFamily="50" charset="-127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B13BDF-B3BB-2E07-7C79-714F86DD69B9}"/>
              </a:ext>
            </a:extLst>
          </p:cNvPr>
          <p:cNvGrpSpPr/>
          <p:nvPr/>
        </p:nvGrpSpPr>
        <p:grpSpPr>
          <a:xfrm>
            <a:off x="8291240" y="2674226"/>
            <a:ext cx="2671377" cy="1760481"/>
            <a:chOff x="7076966" y="2408621"/>
            <a:chExt cx="2671377" cy="176048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298279-EE2B-A658-07A9-2A7F092BE72A}"/>
                </a:ext>
              </a:extLst>
            </p:cNvPr>
            <p:cNvSpPr/>
            <p:nvPr/>
          </p:nvSpPr>
          <p:spPr>
            <a:xfrm>
              <a:off x="7076966" y="2408621"/>
              <a:ext cx="2671377" cy="1760481"/>
            </a:xfrm>
            <a:prstGeom prst="rect">
              <a:avLst/>
            </a:prstGeom>
            <a:solidFill>
              <a:srgbClr val="0F1923"/>
            </a:solidFill>
            <a:ln>
              <a:solidFill>
                <a:srgbClr val="FF465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gency FB" panose="020B0503020202020204" pitchFamily="34" charset="0"/>
                <a:ea typeface="Noto Sans KR" panose="020B0200000000000000" pitchFamily="50" charset="-127"/>
              </a:endParaRPr>
            </a:p>
          </p:txBody>
        </p:sp>
        <p:sp>
          <p:nvSpPr>
            <p:cNvPr id="17" name="내용 개체 틀 2">
              <a:extLst>
                <a:ext uri="{FF2B5EF4-FFF2-40B4-BE49-F238E27FC236}">
                  <a16:creationId xmlns:a16="http://schemas.microsoft.com/office/drawing/2014/main" id="{5F61E86D-A945-E302-DE13-207C383A4A12}"/>
                </a:ext>
              </a:extLst>
            </p:cNvPr>
            <p:cNvSpPr txBox="1">
              <a:spLocks/>
            </p:cNvSpPr>
            <p:nvPr/>
          </p:nvSpPr>
          <p:spPr>
            <a:xfrm>
              <a:off x="7077838" y="2643683"/>
              <a:ext cx="2562773" cy="36691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altLang="ko-KR" sz="1400" dirty="0">
                  <a:ea typeface="Noto Sans KR" panose="020B0200000000000000" pitchFamily="50" charset="-127"/>
                </a:rPr>
                <a:t>CASTING</a:t>
              </a:r>
              <a:endParaRPr lang="ko-KR" altLang="en-US" sz="1400" dirty="0">
                <a:ea typeface="Noto Sans KR" panose="020B0200000000000000" pitchFamily="50" charset="-127"/>
              </a:endParaRPr>
            </a:p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altLang="ko-KR" sz="1400" dirty="0">
                <a:ea typeface="Noto Sans KR" panose="020B0200000000000000" pitchFamily="50" charset="-127"/>
              </a:endParaRPr>
            </a:p>
            <a:p>
              <a:pPr marL="0"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ko-KR" altLang="en-US" sz="1400" dirty="0">
                <a:ea typeface="Noto Sans KR" panose="020B0200000000000000" pitchFamily="50" charset="-127"/>
              </a:endParaRPr>
            </a:p>
          </p:txBody>
        </p:sp>
        <p:sp>
          <p:nvSpPr>
            <p:cNvPr id="19" name="내용 개체 틀 2">
              <a:extLst>
                <a:ext uri="{FF2B5EF4-FFF2-40B4-BE49-F238E27FC236}">
                  <a16:creationId xmlns:a16="http://schemas.microsoft.com/office/drawing/2014/main" id="{800C9951-DFA4-D5E4-F965-4E4F8A5434FF}"/>
                </a:ext>
              </a:extLst>
            </p:cNvPr>
            <p:cNvSpPr txBox="1">
              <a:spLocks/>
            </p:cNvSpPr>
            <p:nvPr/>
          </p:nvSpPr>
          <p:spPr>
            <a:xfrm>
              <a:off x="7077838" y="3125401"/>
              <a:ext cx="2670505" cy="86862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r>
                <a:rPr lang="en-US" altLang="ko-KR" sz="1400" dirty="0">
                  <a:ea typeface="Noto Sans KR" panose="020B0200000000000000" pitchFamily="50" charset="-127"/>
                </a:rPr>
                <a:t>Camera frustum</a:t>
              </a:r>
              <a:r>
                <a:rPr lang="ko-KR" altLang="en-US" sz="1400" dirty="0">
                  <a:ea typeface="Noto Sans KR" panose="020B0200000000000000" pitchFamily="50" charset="-127"/>
                </a:rPr>
                <a:t>과 광원 영향권의 </a:t>
              </a:r>
              <a:br>
                <a:rPr lang="en-US" altLang="ko-KR" sz="1400" dirty="0">
                  <a:ea typeface="Noto Sans KR" panose="020B0200000000000000" pitchFamily="50" charset="-127"/>
                </a:rPr>
              </a:br>
              <a:r>
                <a:rPr lang="ko-KR" altLang="en-US" sz="1400" dirty="0">
                  <a:ea typeface="Noto Sans KR" panose="020B0200000000000000" pitchFamily="50" charset="-127"/>
                </a:rPr>
                <a:t>상호작용을 계산한다</a:t>
              </a:r>
              <a:r>
                <a:rPr lang="en-US" altLang="ko-KR" sz="1400" dirty="0"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ko-KR" altLang="en-US" sz="1400" dirty="0">
                <a:ea typeface="Noto Sans KR" panose="020B0200000000000000" pitchFamily="50" charset="-127"/>
              </a:endParaRPr>
            </a:p>
          </p:txBody>
        </p:sp>
      </p:grp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0C943DD-47DE-5B79-8196-B5A97BAE2D38}"/>
              </a:ext>
            </a:extLst>
          </p:cNvPr>
          <p:cNvSpPr txBox="1">
            <a:spLocks/>
          </p:cNvSpPr>
          <p:nvPr/>
        </p:nvSpPr>
        <p:spPr>
          <a:xfrm>
            <a:off x="1229383" y="2868998"/>
            <a:ext cx="2648388" cy="3669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sz="1400" dirty="0">
                <a:ea typeface="Noto Sans KR" panose="020B0200000000000000" pitchFamily="50" charset="-127"/>
              </a:rPr>
              <a:t>REQUEST</a:t>
            </a:r>
            <a:endParaRPr lang="ko-KR" altLang="en-US" sz="1400" dirty="0">
              <a:ea typeface="Noto Sans KR" panose="020B0200000000000000" pitchFamily="50" charset="-127"/>
            </a:endParaRPr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C97EBED1-B29F-6803-FF69-C7187C050C61}"/>
              </a:ext>
            </a:extLst>
          </p:cNvPr>
          <p:cNvSpPr txBox="1">
            <a:spLocks/>
          </p:cNvSpPr>
          <p:nvPr/>
        </p:nvSpPr>
        <p:spPr>
          <a:xfrm>
            <a:off x="1229384" y="3429000"/>
            <a:ext cx="2648386" cy="96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ko-KR" altLang="en-US" sz="1400" dirty="0">
                <a:ea typeface="Noto Sans KR" panose="020B0200000000000000" pitchFamily="50" charset="-127"/>
              </a:rPr>
              <a:t>우선순위 기반 </a:t>
            </a:r>
            <a:r>
              <a:rPr lang="en-US" altLang="ko-KR" sz="1400" dirty="0">
                <a:ea typeface="Noto Sans KR" panose="020B0200000000000000" pitchFamily="50" charset="-127"/>
              </a:rPr>
              <a:t>Light</a:t>
            </a:r>
            <a:r>
              <a:rPr lang="ko-KR" altLang="en-US" sz="1400" dirty="0">
                <a:ea typeface="Noto Sans KR" panose="020B0200000000000000" pitchFamily="50" charset="-127"/>
              </a:rPr>
              <a:t>를 선택하고 영역을 할당한다</a:t>
            </a:r>
            <a:r>
              <a:rPr lang="en-US" altLang="ko-KR" sz="1400" dirty="0">
                <a:ea typeface="Noto Sans KR" panose="020B0200000000000000" pitchFamily="50" charset="-127"/>
              </a:rPr>
              <a:t>.</a:t>
            </a:r>
            <a:r>
              <a:rPr lang="ko-KR" altLang="en-US" sz="1400" dirty="0">
                <a:ea typeface="Noto Sans KR" panose="020B0200000000000000" pitchFamily="50" charset="-127"/>
              </a:rPr>
              <a:t>​</a:t>
            </a:r>
          </a:p>
          <a:p>
            <a:pPr marL="0" indent="0">
              <a:lnSpc>
                <a:spcPct val="120000"/>
              </a:lnSpc>
              <a:buNone/>
            </a:pPr>
            <a:endParaRPr lang="ko-KR" altLang="en-US" sz="1400" dirty="0">
              <a:ea typeface="Noto Sans KR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55041E-645C-4E94-81C9-E95C8882DB98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4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0DF2E-C353-AA6D-E6CD-109D2C40C837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5ABBEF-F0D9-DD21-BC8A-614D8E8E5B2D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52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9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32FEB-3E8B-28A5-E2CD-DDDCF89E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6ACC8CD6-34DB-FA47-94D3-E37465DF7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7"/>
          <a:stretch>
            <a:fillRect/>
          </a:stretch>
        </p:blipFill>
        <p:spPr bwMode="auto">
          <a:xfrm>
            <a:off x="0" y="0"/>
            <a:ext cx="85013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B2AB6CC-1958-AA21-201D-635626AD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TEXTURE ATLAS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8EFC21-DFBB-DF5D-6BFB-0DDF8A8E7F01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C6978B0-DEC8-AE2E-D242-BB049734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050BB9-7577-CEDE-D644-0526559313A7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4D2B1-473F-5332-4901-3C48087FDD16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875EB0-3225-5D78-20E1-7BB88524B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1483" y="2683863"/>
            <a:ext cx="4863402" cy="2182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altLang="ko-KR" dirty="0">
                <a:solidFill>
                  <a:srgbClr val="ECE7E1"/>
                </a:solidFill>
                <a:ea typeface="Noto Sans KR" panose="020B0200000000000000" pitchFamily="50" charset="-127"/>
              </a:rPr>
              <a:t>Beyond Standard Shadow Mapping.</a:t>
            </a:r>
            <a:endParaRPr lang="ko-KR" altLang="en-US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전통적인 방식은 모든 광원에 고정 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TEXTURE</a:t>
            </a: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를 할당한다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 algn="r">
              <a:lnSpc>
                <a:spcPct val="120000"/>
              </a:lnSpc>
              <a:buNone/>
            </a:pPr>
            <a:endParaRPr lang="ko-KR" altLang="en-US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VRAM</a:t>
            </a: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 메모리를 낭비하므로 하나의 거대한 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TEXTURE</a:t>
            </a: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로 통합한다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ko-KR" altLang="en-US" sz="15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ko-KR" altLang="en-US" sz="15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ko-KR" altLang="en-US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245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9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768EB-B0D8-347D-4DCF-06B944C2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6BC8ACD0-15CE-4AA9-605D-3092403271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7"/>
          <a:stretch>
            <a:fillRect/>
          </a:stretch>
        </p:blipFill>
        <p:spPr bwMode="auto">
          <a:xfrm>
            <a:off x="0" y="0"/>
            <a:ext cx="85013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E37FEC-0905-84BF-6202-00212F49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TEXTURE ATLAS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9DFEB9-F821-603C-07DB-17CFD098600D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7F9AB1F-83F7-B678-5A3C-460AC1E44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DDC353-2219-F38B-FE8A-2BE40B4A4FA0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pic>
        <p:nvPicPr>
          <p:cNvPr id="12" name="Picture 11" descr="A screenshot of a game&#10;&#10;AI-generated content may be incorrect.">
            <a:extLst>
              <a:ext uri="{FF2B5EF4-FFF2-40B4-BE49-F238E27FC236}">
                <a16:creationId xmlns:a16="http://schemas.microsoft.com/office/drawing/2014/main" id="{DF117D7F-379C-E23E-DDB0-6E7BE155F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416" y="1805487"/>
            <a:ext cx="3852611" cy="3876675"/>
          </a:xfrm>
          <a:prstGeom prst="rect">
            <a:avLst/>
          </a:prstGeom>
          <a:ln w="63500">
            <a:solidFill>
              <a:srgbClr val="A1E7F3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2CE5C7-DE7F-31A0-FFA4-AC8192380C4E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688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9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8409A-AA39-2353-1536-AC9E242C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C8D5FF59-2B86-0DC9-92A5-DA70344A9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7"/>
          <a:stretch>
            <a:fillRect/>
          </a:stretch>
        </p:blipFill>
        <p:spPr bwMode="auto">
          <a:xfrm>
            <a:off x="0" y="0"/>
            <a:ext cx="85013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9EFF6C-D6D1-AF90-8637-3C570AF1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TEXTURE ATLAS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997022-0298-B133-11FC-6953F2DAEE87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545F86A-7E83-F112-ABB7-23847235A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F72591-2ADD-9882-F8A7-FEDD2B4A88B6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5A145C92-C14D-219A-471D-80D0DB60F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1483" y="2683863"/>
            <a:ext cx="4863402" cy="3175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altLang="ko-KR" dirty="0">
                <a:solidFill>
                  <a:srgbClr val="ECE7E1"/>
                </a:solidFill>
                <a:ea typeface="Noto Sans KR" panose="020B0200000000000000" pitchFamily="50" charset="-127"/>
              </a:rPr>
              <a:t>For Directional Light &amp; Spotlight.</a:t>
            </a:r>
            <a:endParaRPr lang="ko-KR" altLang="en-US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동적 해상도 스케일링을 통해 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 SHADOW</a:t>
            </a: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QUALITY</a:t>
            </a: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를 제어한다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  <a:endParaRPr lang="ko-KR" altLang="en-US" sz="15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15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ECE7E1"/>
                </a:solidFill>
                <a:ea typeface="Noto Sans KR" panose="020B0200000000000000" pitchFamily="50" charset="-127"/>
              </a:rPr>
              <a:t>불필요한 </a:t>
            </a:r>
            <a:r>
              <a:rPr lang="en-US" altLang="ko-KR" sz="1500" dirty="0">
                <a:solidFill>
                  <a:srgbClr val="ECE7E1"/>
                </a:solidFill>
                <a:ea typeface="Noto Sans KR" panose="020B0200000000000000" pitchFamily="50" charset="-127"/>
              </a:rPr>
              <a:t>TEXTURE SWITCHING OVERHEAD</a:t>
            </a:r>
            <a:r>
              <a:rPr lang="ko-KR" altLang="en-US" sz="1500" dirty="0">
                <a:solidFill>
                  <a:srgbClr val="ECE7E1"/>
                </a:solidFill>
                <a:ea typeface="Noto Sans KR" panose="020B0200000000000000" pitchFamily="50" charset="-127"/>
              </a:rPr>
              <a:t>를 제거한다</a:t>
            </a:r>
            <a:r>
              <a:rPr lang="en-US" altLang="ko-KR" sz="15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15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en-US" altLang="ko-KR" sz="1500" dirty="0">
                <a:solidFill>
                  <a:srgbClr val="ECE7E1"/>
                </a:solidFill>
                <a:ea typeface="Noto Sans KR" panose="020B0200000000000000" pitchFamily="50" charset="-127"/>
              </a:rPr>
              <a:t>MEMORY </a:t>
            </a:r>
            <a:r>
              <a:rPr lang="ko-KR" altLang="en-US" sz="1500" dirty="0">
                <a:solidFill>
                  <a:srgbClr val="ECE7E1"/>
                </a:solidFill>
                <a:ea typeface="Noto Sans KR" panose="020B0200000000000000" pitchFamily="50" charset="-127"/>
              </a:rPr>
              <a:t>파편화를 방지하고 효율적인 </a:t>
            </a:r>
            <a:r>
              <a:rPr lang="en-US" altLang="ko-KR" sz="1500" dirty="0">
                <a:solidFill>
                  <a:srgbClr val="ECE7E1"/>
                </a:solidFill>
                <a:ea typeface="Noto Sans KR" panose="020B0200000000000000" pitchFamily="50" charset="-127"/>
              </a:rPr>
              <a:t>TEXTURE CACHING.</a:t>
            </a:r>
            <a:endParaRPr lang="ko-KR" altLang="en-US" sz="15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ko-KR" altLang="en-US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3EA1-80ED-276B-6EB0-D76B5BF1DB41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86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9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A8663-03F4-FC5B-0C14-802B06939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0D0E5047-08E0-7CC4-0A57-2986E0EB40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7"/>
          <a:stretch>
            <a:fillRect/>
          </a:stretch>
        </p:blipFill>
        <p:spPr bwMode="auto">
          <a:xfrm>
            <a:off x="0" y="0"/>
            <a:ext cx="85013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44141D-12F0-55F8-3052-2F01003D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TEXTURE ATLAS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869348-61DC-3277-B550-45026FC2AE3C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63036A2-084B-A763-F7B8-B3D64917E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3FEAEC-F391-7E4A-DE98-7B3FD63765BD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66EC4F09-4A4E-9797-8750-0FB32F96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7843" y="2868958"/>
            <a:ext cx="5377207" cy="3175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동적 메모리 관리 메커니즘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요청 크기에 맞는 블록이 없을 경우 더 큰 블록을 반으로 분할한다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블록 반납 시 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SIBLING</a:t>
            </a: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이 비어 있으면 즉시 병합하여 단편화를 최소화한다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빠른 할당 및 해제 속도</a:t>
            </a:r>
            <a:r>
              <a:rPr lang="en-US" altLang="ko-KR" sz="1400" dirty="0">
                <a:solidFill>
                  <a:srgbClr val="ECE7E1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ECE7E1"/>
              </a:solidFill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2BC35-9806-57B8-B59C-6B5E7A3E6A03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8FEBC21-6944-C7A9-9181-5A23B8AB665D}"/>
              </a:ext>
            </a:extLst>
          </p:cNvPr>
          <p:cNvSpPr txBox="1">
            <a:spLocks/>
          </p:cNvSpPr>
          <p:nvPr/>
        </p:nvSpPr>
        <p:spPr>
          <a:xfrm>
            <a:off x="6188010" y="1250851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0F1923"/>
                </a:solidFill>
                <a:ea typeface="맑은 고딕" panose="020B0503020000020004" pitchFamily="34" charset="-127"/>
              </a:rPr>
              <a:t>Buddy Allocator</a:t>
            </a:r>
            <a:endParaRPr lang="ko-KR" altLang="en-US" sz="3200" dirty="0">
              <a:solidFill>
                <a:srgbClr val="0F1923"/>
              </a:solidFill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5119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9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B60C1-3285-9CCB-D0DB-57A268A5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952FE9B1-6E89-3765-0D0B-EEEF56BD7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7"/>
          <a:stretch>
            <a:fillRect/>
          </a:stretch>
        </p:blipFill>
        <p:spPr bwMode="auto">
          <a:xfrm>
            <a:off x="0" y="0"/>
            <a:ext cx="85013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35C938F-3ECA-0BEA-2056-A4651E319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TEXTURE ATLAS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F3B0A2-C915-D773-7A5F-F1E3F27D60D0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4B6CC21-3836-F294-378C-F1CDF9066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E6E97-851A-1992-3B4D-BB3E8FD9708C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0AAB4-8891-61FC-8D55-FF0396414D00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FFA20DF-D29B-A9FD-998B-C6672E684215}"/>
              </a:ext>
            </a:extLst>
          </p:cNvPr>
          <p:cNvSpPr txBox="1">
            <a:spLocks/>
          </p:cNvSpPr>
          <p:nvPr/>
        </p:nvSpPr>
        <p:spPr>
          <a:xfrm>
            <a:off x="6188010" y="1250851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0F1923"/>
                </a:solidFill>
                <a:ea typeface="맑은 고딕" panose="020B0503020000020004" pitchFamily="34" charset="-127"/>
              </a:rPr>
              <a:t>Buddy Allocator</a:t>
            </a:r>
            <a:endParaRPr lang="ko-KR" altLang="en-US" sz="3200" dirty="0">
              <a:solidFill>
                <a:srgbClr val="0F1923"/>
              </a:solidFill>
              <a:ea typeface="맑은 고딕" panose="020B0503020000020004" pitchFamily="34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7A58DF-14BA-5DEA-BAC4-469B747E5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085" y="2152209"/>
            <a:ext cx="5084681" cy="3592862"/>
          </a:xfrm>
          <a:prstGeom prst="rect">
            <a:avLst/>
          </a:prstGeom>
          <a:noFill/>
          <a:ln w="63500">
            <a:solidFill>
              <a:srgbClr val="A1E7F3"/>
            </a:solidFill>
          </a:ln>
        </p:spPr>
      </p:pic>
    </p:spTree>
    <p:extLst>
      <p:ext uri="{BB962C8B-B14F-4D97-AF65-F5344CB8AC3E}">
        <p14:creationId xmlns:p14="http://schemas.microsoft.com/office/powerpoint/2010/main" val="19537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5917F-74FD-0668-8AF0-8E29B1E2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862A049-F9D0-FD67-3D5B-B45BB52F5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1" b="23754"/>
          <a:stretch>
            <a:fillRect/>
          </a:stretch>
        </p:blipFill>
        <p:spPr bwMode="auto">
          <a:xfrm>
            <a:off x="-7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C13D8DF-87EA-191A-E9BE-D6F65F30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DIRECTIONAL LIGHT SHADOW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39B28D-F18F-C5BD-6C4B-C7266E8D21DB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0B1839D-AC54-9788-4506-383800CBB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91204-5EB8-C86C-E0F8-085412923CB1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D59FF-EBED-FEDE-9898-E6BBE9F90EC1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EF4A23-D064-A765-453A-A06C64375521}"/>
              </a:ext>
            </a:extLst>
          </p:cNvPr>
          <p:cNvSpPr txBox="1">
            <a:spLocks/>
          </p:cNvSpPr>
          <p:nvPr/>
        </p:nvSpPr>
        <p:spPr>
          <a:xfrm>
            <a:off x="6188010" y="1250851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7999E2"/>
                </a:solidFill>
                <a:ea typeface="맑은 고딕" panose="020B0503020000020004" pitchFamily="34" charset="-127"/>
              </a:rPr>
              <a:t>Cascaded Shadow Maps</a:t>
            </a:r>
            <a:endParaRPr lang="ko-KR" altLang="en-US" sz="3200" dirty="0">
              <a:solidFill>
                <a:srgbClr val="7999E2"/>
              </a:solidFill>
              <a:ea typeface="맑은 고딕" panose="020B0503020000020004" pitchFamily="34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9992E52-8699-41CF-0C35-5CAC1EDD2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618" y="3210793"/>
            <a:ext cx="5377207" cy="3175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E6FFFB"/>
                </a:solidFill>
                <a:ea typeface="Noto Sans KR" panose="020B0200000000000000" pitchFamily="50" charset="-127"/>
              </a:rPr>
              <a:t>Z-Partitioning.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카메라 거리에 따른 단계별 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DEPTH</a:t>
            </a: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로 분할한다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sz="1400" dirty="0">
              <a:solidFill>
                <a:srgbClr val="E6FFFB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E6FFFB"/>
                </a:solidFill>
                <a:ea typeface="Noto Sans KR" panose="020B0200000000000000" pitchFamily="50" charset="-127"/>
              </a:rPr>
              <a:t>Resolution Balance.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원거리 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ALIASING</a:t>
            </a: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을 방지한다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ko-KR" altLang="en-US" sz="1400" dirty="0">
              <a:solidFill>
                <a:srgbClr val="E6FFFB"/>
              </a:solidFill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7849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04DDE-AC74-D29B-41CA-DDD91AAC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81A2EA5-479D-3455-5C86-9EDFE41B6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1" b="23754"/>
          <a:stretch>
            <a:fillRect/>
          </a:stretch>
        </p:blipFill>
        <p:spPr bwMode="auto">
          <a:xfrm>
            <a:off x="-7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7F9C7E-D817-1176-B2AC-40D0ED27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DIRECTIONAL LIGHT SHADOW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FC6B55-1A25-1958-0615-ADB3B9E76C43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7D148C8-3CDC-3D7A-4BA5-F401D15DE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B8E3EA-33CC-1C18-1630-702F371616B9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FD9DB-EB8C-CF6A-D5C6-28887FBF741B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8F1B22F-E8EF-C6D5-37DA-95F19608E126}"/>
              </a:ext>
            </a:extLst>
          </p:cNvPr>
          <p:cNvSpPr txBox="1">
            <a:spLocks/>
          </p:cNvSpPr>
          <p:nvPr/>
        </p:nvSpPr>
        <p:spPr>
          <a:xfrm>
            <a:off x="6188010" y="1250851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7999E2"/>
                </a:solidFill>
                <a:ea typeface="맑은 고딕" panose="020B0503020000020004" pitchFamily="34" charset="-127"/>
              </a:rPr>
              <a:t>Cascaded Shadow Maps</a:t>
            </a:r>
            <a:endParaRPr lang="ko-KR" altLang="en-US" sz="3200" dirty="0">
              <a:solidFill>
                <a:srgbClr val="7999E2"/>
              </a:solidFill>
              <a:ea typeface="맑은 고딕" panose="020B0503020000020004" pitchFamily="34" charset="-127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9BC1A2D-5C19-FF55-E333-E39801F8E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139" y="2055632"/>
            <a:ext cx="5023741" cy="4150474"/>
          </a:xfrm>
          <a:prstGeom prst="rect">
            <a:avLst/>
          </a:prstGeom>
          <a:noFill/>
          <a:ln w="63500">
            <a:solidFill>
              <a:srgbClr val="7999E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38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4EEF-D968-924D-D518-8F461D22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04BF8E0-88DE-F78B-56F6-DFB03B934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1" b="23754"/>
          <a:stretch>
            <a:fillRect/>
          </a:stretch>
        </p:blipFill>
        <p:spPr bwMode="auto">
          <a:xfrm>
            <a:off x="-7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57AB01-0295-B3C0-7B2B-596DF057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DIRECTIONAL LIGHT SHADOW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C715F4-C378-B4D9-0F9A-9BE93B1A517D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4013034-1F64-8D93-4248-F25C96759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610B44-CECF-5C7A-ABAF-62B6ABD718FF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05C56-77E2-6267-2D82-A41DC44AB052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FAAD1B2-072A-0DC1-7AC1-9E73D8F7EE44}"/>
              </a:ext>
            </a:extLst>
          </p:cNvPr>
          <p:cNvSpPr txBox="1">
            <a:spLocks/>
          </p:cNvSpPr>
          <p:nvPr/>
        </p:nvSpPr>
        <p:spPr>
          <a:xfrm>
            <a:off x="6188010" y="1250851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7999E2"/>
                </a:solidFill>
                <a:ea typeface="맑은 고딕" panose="020B0503020000020004" pitchFamily="34" charset="-127"/>
              </a:rPr>
              <a:t>Perspective Shadow Maps</a:t>
            </a:r>
            <a:endParaRPr lang="ko-KR" altLang="en-US" sz="3200" dirty="0">
              <a:solidFill>
                <a:srgbClr val="7999E2"/>
              </a:solidFill>
              <a:ea typeface="맑은 고딕" panose="020B0503020000020004" pitchFamily="34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7F6D3F0-73C1-B6E7-F040-4A3534D6A9F5}"/>
              </a:ext>
            </a:extLst>
          </p:cNvPr>
          <p:cNvSpPr txBox="1">
            <a:spLocks/>
          </p:cNvSpPr>
          <p:nvPr/>
        </p:nvSpPr>
        <p:spPr>
          <a:xfrm>
            <a:off x="246618" y="3210793"/>
            <a:ext cx="5377207" cy="3175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dirty="0">
                <a:solidFill>
                  <a:srgbClr val="E6FFFB"/>
                </a:solidFill>
                <a:ea typeface="Noto Sans KR" panose="020B0200000000000000" pitchFamily="50" charset="-127"/>
              </a:rPr>
              <a:t>Post-Perspective Warping.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비선형 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LIGHT VECTOR</a:t>
            </a: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로 인한 비선형 해상도 분포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ko-KR" sz="1400" dirty="0">
              <a:solidFill>
                <a:srgbClr val="E6FFFB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dirty="0">
                <a:solidFill>
                  <a:srgbClr val="E6FFFB"/>
                </a:solidFill>
                <a:ea typeface="Noto Sans KR" panose="020B0200000000000000" pitchFamily="50" charset="-127"/>
              </a:rPr>
              <a:t>Precision Boost.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두 번의 원근 투영으로 인한 근거리 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SHADOW </a:t>
            </a:r>
            <a:r>
              <a:rPr lang="ko-KR" altLang="en-US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디테일 극대화</a:t>
            </a:r>
            <a:r>
              <a:rPr lang="en-US" altLang="ko-KR" sz="1400" dirty="0">
                <a:solidFill>
                  <a:srgbClr val="E6FFFB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E6FFFB"/>
              </a:solidFill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1217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17746-F8B2-9854-0E81-14C0B488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31D5AC1-40B3-AFFD-03A5-88D2A7D7F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1" b="23754"/>
          <a:stretch>
            <a:fillRect/>
          </a:stretch>
        </p:blipFill>
        <p:spPr bwMode="auto">
          <a:xfrm>
            <a:off x="-7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E53CB7E-3038-2FC9-10BE-3B18B71F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85" y="365035"/>
            <a:ext cx="10515600" cy="1325563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rgbClr val="ECE7E1"/>
                </a:solidFill>
                <a:latin typeface="Agency FB"/>
                <a:ea typeface="맑은 고딕"/>
              </a:rPr>
              <a:t>DIRECTIONAL LIGHT SHADOW</a:t>
            </a:r>
            <a:endParaRPr lang="ko-KR" altLang="en-US" dirty="0">
              <a:solidFill>
                <a:srgbClr val="ECE7E1"/>
              </a:solidFill>
              <a:latin typeface="Agency FB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017AEC-CA74-FB31-F538-82F925E895D4}"/>
              </a:ext>
            </a:extLst>
          </p:cNvPr>
          <p:cNvSpPr/>
          <p:nvPr/>
        </p:nvSpPr>
        <p:spPr>
          <a:xfrm>
            <a:off x="-794" y="6744290"/>
            <a:ext cx="12192000" cy="114300"/>
          </a:xfrm>
          <a:prstGeom prst="rect">
            <a:avLst/>
          </a:prstGeom>
          <a:solidFill>
            <a:srgbClr val="A1E7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CC90412-95A9-DCEB-F2B5-00DEDFED9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479E83-316B-B18B-A436-912D1B7D6752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A1E7F3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FCE70-14E9-F30C-08DA-A09FE0C9C18C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A1E7F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A1E7F3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53D78EC-CD9B-823A-2D1B-1840E1ED664A}"/>
              </a:ext>
            </a:extLst>
          </p:cNvPr>
          <p:cNvSpPr txBox="1">
            <a:spLocks/>
          </p:cNvSpPr>
          <p:nvPr/>
        </p:nvSpPr>
        <p:spPr>
          <a:xfrm>
            <a:off x="6188010" y="1250851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7999E2"/>
                </a:solidFill>
                <a:ea typeface="맑은 고딕" panose="020B0503020000020004" pitchFamily="34" charset="-127"/>
              </a:rPr>
              <a:t>Perspective Shadow Maps</a:t>
            </a:r>
            <a:endParaRPr lang="ko-KR" altLang="en-US" sz="3200" dirty="0">
              <a:solidFill>
                <a:srgbClr val="7999E2"/>
              </a:solidFill>
              <a:ea typeface="맑은 고딕" panose="020B0503020000020004" pitchFamily="34" charset="-127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19A752C-C6B1-E3BD-B24C-8B51FC3E1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991" y="2128973"/>
            <a:ext cx="5634038" cy="4176942"/>
          </a:xfrm>
          <a:prstGeom prst="rect">
            <a:avLst/>
          </a:prstGeom>
          <a:noFill/>
          <a:ln w="63500">
            <a:solidFill>
              <a:srgbClr val="7999E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374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46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C0BFB-B0CB-0703-68B7-15997C82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9" name="Picture 7" descr="VALORANT - Reyna ">
            <a:extLst>
              <a:ext uri="{FF2B5EF4-FFF2-40B4-BE49-F238E27FC236}">
                <a16:creationId xmlns:a16="http://schemas.microsoft.com/office/drawing/2014/main" id="{F5A5AEC2-40DF-F54D-EC1A-61C473B98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0"/>
            <a:ext cx="5383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BB4218-75D1-68C3-0266-23EE743E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ko-KR" dirty="0">
                <a:solidFill>
                  <a:srgbClr val="0F1923"/>
                </a:solidFill>
              </a:rPr>
              <a:t>POINT LIGHT SHADOW</a:t>
            </a:r>
            <a:endParaRPr lang="ko-KR" altLang="en-US" dirty="0">
              <a:solidFill>
                <a:srgbClr val="0F192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428A41-DDFD-D97C-940F-EDE1572441A3}"/>
              </a:ext>
            </a:extLst>
          </p:cNvPr>
          <p:cNvSpPr/>
          <p:nvPr/>
        </p:nvSpPr>
        <p:spPr>
          <a:xfrm>
            <a:off x="0" y="6249600"/>
            <a:ext cx="3403600" cy="608400"/>
          </a:xfrm>
          <a:prstGeom prst="rect">
            <a:avLst/>
          </a:prstGeom>
          <a:solidFill>
            <a:srgbClr val="0F19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C1DE77F-BBD6-AC80-4522-E97ACA25B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 descr="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E5EB2F-0BBC-2308-368B-D71AF3312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924" y="2755495"/>
            <a:ext cx="2990289" cy="2587622"/>
          </a:xfrm>
          <a:prstGeom prst="rect">
            <a:avLst/>
          </a:prstGeom>
          <a:ln w="63500">
            <a:solidFill>
              <a:srgbClr val="0F1923"/>
            </a:solidFill>
          </a:ln>
        </p:spPr>
      </p:pic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B2FB101-F2C8-D4DF-8435-68F751294A28}"/>
              </a:ext>
            </a:extLst>
          </p:cNvPr>
          <p:cNvSpPr txBox="1">
            <a:spLocks/>
          </p:cNvSpPr>
          <p:nvPr/>
        </p:nvSpPr>
        <p:spPr>
          <a:xfrm>
            <a:off x="5876925" y="1228359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0F1923"/>
                </a:solidFill>
                <a:ea typeface="맑은 고딕" panose="020B0503020000020004" pitchFamily="34" charset="-127"/>
              </a:rPr>
              <a:t>Omnidirectional Shadowing</a:t>
            </a:r>
            <a:endParaRPr lang="ko-KR" altLang="en-US" sz="3200" dirty="0">
              <a:solidFill>
                <a:srgbClr val="0F1923"/>
              </a:solidFill>
              <a:ea typeface="맑은 고딕" panose="020B0503020000020004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F842B0-F283-ABB0-387E-2629D858EEFC}"/>
              </a:ext>
            </a:extLst>
          </p:cNvPr>
          <p:cNvSpPr/>
          <p:nvPr/>
        </p:nvSpPr>
        <p:spPr>
          <a:xfrm>
            <a:off x="8786813" y="6246000"/>
            <a:ext cx="3403600" cy="612000"/>
          </a:xfrm>
          <a:prstGeom prst="rect">
            <a:avLst/>
          </a:prstGeom>
          <a:solidFill>
            <a:srgbClr val="0F19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FCBE77-D065-BCFA-F720-8E4B2034D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159" y="2941694"/>
            <a:ext cx="4705350" cy="2587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0F1923"/>
                </a:solidFill>
                <a:ea typeface="Noto Sans KR" panose="020B0200000000000000" pitchFamily="50" charset="-127"/>
              </a:rPr>
              <a:t>It’s not like Directional or Spotlight.</a:t>
            </a:r>
            <a:endParaRPr lang="ko-KR" altLang="en-US" sz="1500" dirty="0">
              <a:solidFill>
                <a:srgbClr val="0F19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1600" dirty="0">
              <a:solidFill>
                <a:srgbClr val="0F19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라이트 위치를 중심으로 모든 방향으로 빛을 방출한다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.</a:t>
            </a:r>
            <a:endParaRPr lang="ko-KR" sz="1400" dirty="0">
              <a:solidFill>
                <a:srgbClr val="0F19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400" dirty="0">
              <a:solidFill>
                <a:srgbClr val="0F19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여섯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방향에 대해 각각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SHADOW MAP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을 만들어 하나의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CUBE MAP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을 </a:t>
            </a:r>
            <a:endParaRPr lang="en-US" altLang="ko-KR" sz="1400" dirty="0">
              <a:solidFill>
                <a:srgbClr val="0F19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형성한다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0F1923"/>
              </a:solidFill>
              <a:effectLst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3E8568-93B7-A029-4DC7-9D5D0D810630}"/>
              </a:ext>
            </a:extLst>
          </p:cNvPr>
          <p:cNvSpPr txBox="1"/>
          <p:nvPr/>
        </p:nvSpPr>
        <p:spPr>
          <a:xfrm>
            <a:off x="10291046" y="6088559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41BD1-C357-D5AE-C4A1-2CD3E555C6ED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77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46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83DDC-51E4-0252-D4D9-504FE9E4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9" name="Picture 7" descr="VALORANT - Reyna ">
            <a:extLst>
              <a:ext uri="{FF2B5EF4-FFF2-40B4-BE49-F238E27FC236}">
                <a16:creationId xmlns:a16="http://schemas.microsoft.com/office/drawing/2014/main" id="{69CBA80E-B102-0EF5-23C3-92E28D22D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0"/>
            <a:ext cx="5383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A3370DA-CB3B-1A2D-4D6A-6D84DEE0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ko-KR" dirty="0">
                <a:solidFill>
                  <a:srgbClr val="0F1923"/>
                </a:solidFill>
              </a:rPr>
              <a:t>POINT LIGHT SHADOW</a:t>
            </a:r>
            <a:endParaRPr lang="ko-KR" altLang="en-US" dirty="0">
              <a:solidFill>
                <a:srgbClr val="0F192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0A1C79-395B-79E8-3156-7CC90F172012}"/>
              </a:ext>
            </a:extLst>
          </p:cNvPr>
          <p:cNvSpPr/>
          <p:nvPr/>
        </p:nvSpPr>
        <p:spPr>
          <a:xfrm>
            <a:off x="0" y="6249600"/>
            <a:ext cx="3403600" cy="608400"/>
          </a:xfrm>
          <a:prstGeom prst="rect">
            <a:avLst/>
          </a:prstGeom>
          <a:solidFill>
            <a:srgbClr val="0F19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B4242B4-4667-920C-8091-ED158694D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E63F698-D1FF-E525-9172-D76CE1B5536B}"/>
              </a:ext>
            </a:extLst>
          </p:cNvPr>
          <p:cNvSpPr txBox="1">
            <a:spLocks/>
          </p:cNvSpPr>
          <p:nvPr/>
        </p:nvSpPr>
        <p:spPr>
          <a:xfrm>
            <a:off x="5876925" y="1228359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0F1923"/>
                </a:solidFill>
                <a:ea typeface="맑은 고딕" panose="020B0503020000020004" pitchFamily="34" charset="-127"/>
              </a:rPr>
              <a:t>Cube Map</a:t>
            </a:r>
            <a:endParaRPr lang="ko-KR" altLang="en-US" sz="3200" dirty="0">
              <a:solidFill>
                <a:srgbClr val="0F1923"/>
              </a:solidFill>
              <a:ea typeface="맑은 고딕" panose="020B0503020000020004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E732B1-BA99-A735-608A-292E90C50D95}"/>
              </a:ext>
            </a:extLst>
          </p:cNvPr>
          <p:cNvSpPr/>
          <p:nvPr/>
        </p:nvSpPr>
        <p:spPr>
          <a:xfrm>
            <a:off x="8786813" y="6246000"/>
            <a:ext cx="3403600" cy="612000"/>
          </a:xfrm>
          <a:prstGeom prst="rect">
            <a:avLst/>
          </a:prstGeom>
          <a:solidFill>
            <a:srgbClr val="0F19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48095-F5D5-534B-23E3-41A2B4A97C3F}"/>
              </a:ext>
            </a:extLst>
          </p:cNvPr>
          <p:cNvSpPr txBox="1"/>
          <p:nvPr/>
        </p:nvSpPr>
        <p:spPr>
          <a:xfrm>
            <a:off x="10291046" y="6088559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B0DB45-CFDE-D442-BBBC-4FF5A5A88A0B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AB61E9AB-73B8-6F99-6992-036A34BA6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159" y="2941695"/>
            <a:ext cx="4705350" cy="23844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0F1923"/>
                </a:solidFill>
                <a:ea typeface="Noto Sans KR" panose="020B0200000000000000" pitchFamily="50" charset="-127"/>
              </a:rPr>
              <a:t>TextureCubeArray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sz="1400" dirty="0">
              <a:solidFill>
                <a:srgbClr val="0F19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CUBE MAP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들을 하나의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TEXTURE ARRAY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로 저장한다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0F19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각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CUBE MAP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은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6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개의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FACE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로 구성되는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GPU TEXTURE</a:t>
            </a:r>
            <a:r>
              <a:rPr lang="ko-KR" altLang="en-US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solidFill>
                  <a:srgbClr val="0F1923"/>
                </a:solidFill>
                <a:ea typeface="Noto Sans KR" panose="020B0200000000000000" pitchFamily="50" charset="-127"/>
              </a:rPr>
              <a:t>TYPE.</a:t>
            </a:r>
            <a:endParaRPr lang="ko-KR" altLang="en-US" sz="1400" dirty="0">
              <a:solidFill>
                <a:srgbClr val="0F1923"/>
              </a:solidFill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9766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46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B66F4-22A3-AB20-CD97-CB67FC66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9" name="Picture 7" descr="VALORANT - Reyna ">
            <a:extLst>
              <a:ext uri="{FF2B5EF4-FFF2-40B4-BE49-F238E27FC236}">
                <a16:creationId xmlns:a16="http://schemas.microsoft.com/office/drawing/2014/main" id="{4CE95F21-EA8A-472B-B7F0-AD6195CD7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0"/>
            <a:ext cx="5383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BE78582-BAC9-FA63-41D6-212BEA02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ko-KR" dirty="0">
                <a:solidFill>
                  <a:srgbClr val="0F1923"/>
                </a:solidFill>
              </a:rPr>
              <a:t>POINT LIGHT SHADOW</a:t>
            </a:r>
            <a:endParaRPr lang="ko-KR" altLang="en-US" dirty="0">
              <a:solidFill>
                <a:srgbClr val="0F192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2959E-016B-1FAB-81C4-A65DA12275A0}"/>
              </a:ext>
            </a:extLst>
          </p:cNvPr>
          <p:cNvSpPr/>
          <p:nvPr/>
        </p:nvSpPr>
        <p:spPr>
          <a:xfrm>
            <a:off x="0" y="6249600"/>
            <a:ext cx="3403600" cy="608400"/>
          </a:xfrm>
          <a:prstGeom prst="rect">
            <a:avLst/>
          </a:prstGeom>
          <a:solidFill>
            <a:srgbClr val="0F19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B227C03-3AE9-8853-2A2F-D85870796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B6AB1E4-D959-00E1-CDD9-5DD7CDECA8A7}"/>
              </a:ext>
            </a:extLst>
          </p:cNvPr>
          <p:cNvSpPr txBox="1">
            <a:spLocks/>
          </p:cNvSpPr>
          <p:nvPr/>
        </p:nvSpPr>
        <p:spPr>
          <a:xfrm>
            <a:off x="5876925" y="1228359"/>
            <a:ext cx="5476875" cy="624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0F1923"/>
                </a:solidFill>
                <a:ea typeface="맑은 고딕" panose="020B0503020000020004" pitchFamily="34" charset="-127"/>
              </a:rPr>
              <a:t>Cube Map</a:t>
            </a:r>
            <a:endParaRPr lang="ko-KR" altLang="en-US" sz="3200" dirty="0">
              <a:solidFill>
                <a:srgbClr val="0F1923"/>
              </a:solidFill>
              <a:ea typeface="맑은 고딕" panose="020B0503020000020004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75D65-C9BF-86EA-CBAA-CD68267ADB2F}"/>
              </a:ext>
            </a:extLst>
          </p:cNvPr>
          <p:cNvSpPr/>
          <p:nvPr/>
        </p:nvSpPr>
        <p:spPr>
          <a:xfrm>
            <a:off x="8786813" y="6246000"/>
            <a:ext cx="3403600" cy="612000"/>
          </a:xfrm>
          <a:prstGeom prst="rect">
            <a:avLst/>
          </a:prstGeom>
          <a:solidFill>
            <a:srgbClr val="0F19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CA36EF-058A-FD75-E544-08BC49690A66}"/>
              </a:ext>
            </a:extLst>
          </p:cNvPr>
          <p:cNvSpPr txBox="1"/>
          <p:nvPr/>
        </p:nvSpPr>
        <p:spPr>
          <a:xfrm>
            <a:off x="10291046" y="6088559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883275-983F-3D73-8870-A197204FB6AE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0466053-7EE8-A704-4A37-40D1791AE844}"/>
              </a:ext>
            </a:extLst>
          </p:cNvPr>
          <p:cNvSpPr txBox="1">
            <a:spLocks/>
          </p:cNvSpPr>
          <p:nvPr/>
        </p:nvSpPr>
        <p:spPr>
          <a:xfrm>
            <a:off x="7477304" y="2500810"/>
            <a:ext cx="3874909" cy="17351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1800" dirty="0">
                <a:solidFill>
                  <a:srgbClr val="0F1922"/>
                </a:solidFill>
                <a:ea typeface="Noto Sans KR" panose="020B0200000000000000" pitchFamily="50" charset="-127"/>
              </a:rPr>
              <a:t>GPU’s CUBE MAP SAMPLING </a:t>
            </a:r>
            <a:r>
              <a:rPr lang="ko-KR" altLang="en-US" sz="1800" dirty="0">
                <a:solidFill>
                  <a:srgbClr val="0F1922"/>
                </a:solidFill>
                <a:ea typeface="Noto Sans KR" panose="020B0200000000000000" pitchFamily="50" charset="-127"/>
              </a:rPr>
              <a:t>규칙</a:t>
            </a:r>
            <a:endParaRPr lang="en-US" altLang="ko-KR" sz="1800" dirty="0">
              <a:solidFill>
                <a:srgbClr val="0F1922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FACE </a:t>
            </a:r>
            <a:r>
              <a:rPr lang="ko-KR" altLang="en-US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선택</a:t>
            </a:r>
            <a:r>
              <a:rPr lang="en-US" altLang="ko-KR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, UV </a:t>
            </a:r>
            <a:r>
              <a:rPr lang="ko-KR" altLang="en-US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변환</a:t>
            </a:r>
            <a:r>
              <a:rPr lang="en-US" altLang="ko-KR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.</a:t>
            </a:r>
            <a:endParaRPr lang="ko-KR" sz="1400" dirty="0">
              <a:solidFill>
                <a:srgbClr val="0F1922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1800" dirty="0">
                <a:solidFill>
                  <a:srgbClr val="0F1922"/>
                </a:solidFill>
                <a:ea typeface="Noto Sans KR" panose="020B0200000000000000" pitchFamily="50" charset="-127"/>
              </a:rPr>
              <a:t>             CUBE MAP FILTERING </a:t>
            </a:r>
            <a:r>
              <a:rPr lang="ko-KR" altLang="en-US" sz="1800" dirty="0">
                <a:solidFill>
                  <a:srgbClr val="0F1922"/>
                </a:solidFill>
                <a:ea typeface="Noto Sans KR" panose="020B0200000000000000" pitchFamily="50" charset="-127"/>
              </a:rPr>
              <a:t>규칙</a:t>
            </a:r>
            <a:endParaRPr lang="en-US" altLang="ko-KR" sz="1800" dirty="0">
              <a:solidFill>
                <a:srgbClr val="0F1922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FACE</a:t>
            </a:r>
            <a:r>
              <a:rPr lang="ko-KR" altLang="en-US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간 경계 처리</a:t>
            </a:r>
            <a:r>
              <a:rPr lang="en-US" altLang="ko-KR" sz="1400" dirty="0">
                <a:solidFill>
                  <a:srgbClr val="0F1922"/>
                </a:solidFill>
                <a:ea typeface="Noto Sans KR" panose="020B0200000000000000" pitchFamily="50" charset="-127"/>
              </a:rPr>
              <a:t>.</a:t>
            </a:r>
            <a:endParaRPr lang="ko-KR" sz="1400" dirty="0">
              <a:solidFill>
                <a:srgbClr val="0F1922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endParaRPr lang="ko-KR" altLang="en-US" sz="1400" dirty="0">
              <a:solidFill>
                <a:srgbClr val="0F1922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endParaRPr lang="ko-KR" altLang="en-US" sz="1400" dirty="0">
              <a:solidFill>
                <a:srgbClr val="0F1922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20000"/>
              </a:lnSpc>
              <a:buFont typeface="Arial" panose="020B0604020202020204" pitchFamily="34" charset="0"/>
              <a:buNone/>
            </a:pPr>
            <a:endParaRPr lang="ko-KR" altLang="en-US" sz="1400" dirty="0">
              <a:solidFill>
                <a:srgbClr val="0F1922"/>
              </a:solidFill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F113C-B91D-E6CC-2E72-C0144C664D92}"/>
              </a:ext>
            </a:extLst>
          </p:cNvPr>
          <p:cNvSpPr txBox="1"/>
          <p:nvPr/>
        </p:nvSpPr>
        <p:spPr>
          <a:xfrm>
            <a:off x="8162328" y="4552129"/>
            <a:ext cx="31898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400" b="1" dirty="0">
                <a:solidFill>
                  <a:srgbClr val="0F1922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TEXTURE ATLAS</a:t>
            </a:r>
            <a:r>
              <a:rPr lang="ko-KR" altLang="en-US" sz="1400" b="1" dirty="0">
                <a:solidFill>
                  <a:srgbClr val="0F1922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는</a:t>
            </a:r>
            <a:r>
              <a:rPr lang="en-US" sz="1400" b="1" dirty="0">
                <a:solidFill>
                  <a:srgbClr val="0F1922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 </a:t>
            </a:r>
            <a:r>
              <a:rPr lang="ko-KR" altLang="en-US" sz="1400" b="1" dirty="0">
                <a:solidFill>
                  <a:srgbClr val="0F1922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직접</a:t>
            </a:r>
            <a:r>
              <a:rPr lang="en-US" sz="1400" b="1" dirty="0">
                <a:solidFill>
                  <a:srgbClr val="0F1922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 </a:t>
            </a:r>
            <a:r>
              <a:rPr lang="ko-KR" altLang="en-US" sz="1400" b="1" dirty="0">
                <a:solidFill>
                  <a:srgbClr val="0F1922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계산이 필요하다</a:t>
            </a:r>
            <a:r>
              <a:rPr lang="en-US" altLang="ko-KR" sz="1400" b="1" dirty="0">
                <a:solidFill>
                  <a:srgbClr val="0F1922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.</a:t>
            </a:r>
            <a:endParaRPr lang="ko-KR" altLang="en-US" sz="1400" b="1" dirty="0">
              <a:solidFill>
                <a:srgbClr val="0F1922"/>
              </a:solidFill>
              <a:latin typeface="Agency FB" panose="020B0503020202020204" pitchFamily="34" charset="0"/>
              <a:ea typeface="Noto Sans KR" panose="020B0200000000000000" pitchFamily="50" charset="-127"/>
            </a:endParaRPr>
          </a:p>
          <a:p>
            <a:pPr algn="r"/>
            <a:endParaRPr lang="ko-KR" altLang="en-US" sz="1400" dirty="0">
              <a:solidFill>
                <a:srgbClr val="0F1922"/>
              </a:solidFill>
              <a:latin typeface="Agency FB" panose="020B0503020202020204" pitchFamily="34" charset="0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158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333D-78B4-E5CC-7308-7925E209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D6597314-BA62-D128-295A-E5451075A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1" r="9741"/>
          <a:stretch>
            <a:fillRect/>
          </a:stretch>
        </p:blipFill>
        <p:spPr bwMode="auto">
          <a:xfrm>
            <a:off x="-1" y="1342"/>
            <a:ext cx="12192001" cy="685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4D52170-BD01-E082-BF84-D2D29F64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057" y="365125"/>
            <a:ext cx="3802743" cy="1352777"/>
          </a:xfrm>
        </p:spPr>
        <p:txBody>
          <a:bodyPr/>
          <a:lstStyle/>
          <a:p>
            <a:pPr algn="r"/>
            <a:r>
              <a:rPr lang="en-US" altLang="ko-KR" dirty="0">
                <a:latin typeface="Agency FB"/>
                <a:ea typeface="맑은 고딕"/>
              </a:rPr>
              <a:t>ARTIFACTS &amp; BIAS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763508-02C7-22FA-B940-E1C650F2A186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4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26FA75C-FEC3-77B7-8260-F1964850F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C8706-1A57-4FAD-5FAA-F6980E716A49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7ED4191-089D-0FC0-61A1-7A29B7E48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917" y="4617802"/>
            <a:ext cx="2238828" cy="128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altLang="ko-KR" dirty="0">
                <a:ea typeface="Noto Sans KR" panose="020B0200000000000000" pitchFamily="50" charset="-127"/>
              </a:rPr>
              <a:t>SHADOW ACNE</a:t>
            </a:r>
            <a:endParaRPr lang="ko-KR" altLang="en-US" sz="1500" dirty="0">
              <a:ea typeface="Noto Sans KR" panose="020B0200000000000000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BA1FCF0-8408-0289-09A4-836D5318CB0A}"/>
              </a:ext>
            </a:extLst>
          </p:cNvPr>
          <p:cNvGrpSpPr/>
          <p:nvPr/>
        </p:nvGrpSpPr>
        <p:grpSpPr>
          <a:xfrm>
            <a:off x="588338" y="2180765"/>
            <a:ext cx="5074670" cy="2209545"/>
            <a:chOff x="1698742" y="1400631"/>
            <a:chExt cx="5074670" cy="2209545"/>
          </a:xfrm>
        </p:grpSpPr>
        <p:pic>
          <p:nvPicPr>
            <p:cNvPr id="15" name="그림 14" descr="실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8A88424-B0D9-A0AF-9DD7-E14C0D795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8742" y="1400631"/>
              <a:ext cx="2435987" cy="2209545"/>
            </a:xfrm>
            <a:prstGeom prst="rect">
              <a:avLst/>
            </a:prstGeom>
            <a:ln w="63500">
              <a:solidFill>
                <a:srgbClr val="FF4654"/>
              </a:solidFill>
            </a:ln>
          </p:spPr>
        </p:pic>
        <p:sp>
          <p:nvSpPr>
            <p:cNvPr id="17" name="내용 개체 틀 7">
              <a:extLst>
                <a:ext uri="{FF2B5EF4-FFF2-40B4-BE49-F238E27FC236}">
                  <a16:creationId xmlns:a16="http://schemas.microsoft.com/office/drawing/2014/main" id="{1620515F-2256-59BB-8E08-1FB24BFE9D62}"/>
                </a:ext>
              </a:extLst>
            </p:cNvPr>
            <p:cNvSpPr txBox="1">
              <a:spLocks/>
            </p:cNvSpPr>
            <p:nvPr/>
          </p:nvSpPr>
          <p:spPr>
            <a:xfrm>
              <a:off x="4648881" y="2133371"/>
              <a:ext cx="2124531" cy="75022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rgbClr val="FF4654"/>
                  </a:solidFill>
                  <a:latin typeface="Agency FB" panose="020B0503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ko-KR" altLang="en-US" sz="2000" dirty="0">
                  <a:latin typeface="Agency FB"/>
                  <a:ea typeface="맑은 고딕"/>
                </a:rPr>
                <a:t>Shadow Bias: 0.0</a:t>
              </a:r>
            </a:p>
            <a:p>
              <a:pPr marL="0" indent="0" algn="r">
                <a:buNone/>
              </a:pPr>
              <a:r>
                <a:rPr lang="ko-KR" altLang="en-US" sz="2000" dirty="0">
                  <a:latin typeface="Agency FB"/>
                  <a:ea typeface="맑은 고딕"/>
                </a:rPr>
                <a:t>Shadow Slope Bias: 0.0</a:t>
              </a:r>
              <a:endParaRPr lang="ko-KR" altLang="en-US" sz="2000" dirty="0">
                <a:ea typeface="맑은 고딕"/>
              </a:endParaRPr>
            </a:p>
            <a:p>
              <a:pPr marL="0" indent="0" algn="r">
                <a:buNone/>
              </a:pPr>
              <a:endParaRPr lang="ko-KR" altLang="en-US" sz="2000" dirty="0">
                <a:ea typeface="맑은 고딕"/>
              </a:endParaRPr>
            </a:p>
            <a:p>
              <a:pPr marL="0" indent="0" algn="r">
                <a:buNone/>
              </a:pPr>
              <a:endParaRPr lang="ko-KR" altLang="en-US" sz="2000" dirty="0">
                <a:ea typeface="맑은 고딕"/>
              </a:endParaRPr>
            </a:p>
          </p:txBody>
        </p:sp>
      </p:grpSp>
      <p:sp>
        <p:nvSpPr>
          <p:cNvPr id="41" name="내용 개체 틀 7">
            <a:extLst>
              <a:ext uri="{FF2B5EF4-FFF2-40B4-BE49-F238E27FC236}">
                <a16:creationId xmlns:a16="http://schemas.microsoft.com/office/drawing/2014/main" id="{C07A33C9-3CE6-5E98-CF54-E28465E0E7DE}"/>
              </a:ext>
            </a:extLst>
          </p:cNvPr>
          <p:cNvSpPr>
            <a:spLocks noGrp="1"/>
          </p:cNvSpPr>
          <p:nvPr/>
        </p:nvSpPr>
        <p:spPr>
          <a:xfrm>
            <a:off x="9334098" y="2895604"/>
            <a:ext cx="2351316" cy="768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ko-KR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ko-KR" altLang="en-US" sz="2000" dirty="0">
                <a:latin typeface="Agency FB"/>
                <a:ea typeface="맑은 고딕"/>
              </a:rPr>
              <a:t>Shadow Bias: 0.7</a:t>
            </a:r>
            <a:endParaRPr lang="ko-KR" altLang="en-US" sz="2000" dirty="0">
              <a:ea typeface="맑은 고딕" panose="020B0503020000020004" pitchFamily="34" charset="-127"/>
            </a:endParaRPr>
          </a:p>
          <a:p>
            <a:pPr marL="0" indent="0" algn="r">
              <a:buNone/>
            </a:pPr>
            <a:r>
              <a:rPr lang="en-US" altLang="ko-KR" sz="2000" dirty="0">
                <a:latin typeface="Agency FB"/>
                <a:ea typeface="맑은 고딕"/>
              </a:rPr>
              <a:t>Shadow Slope Bias: 0.7</a:t>
            </a:r>
            <a:endParaRPr lang="en-US" altLang="ko-KR" sz="2000" dirty="0">
              <a:ea typeface="맑은 고딕"/>
            </a:endParaRPr>
          </a:p>
        </p:txBody>
      </p:sp>
      <p:sp>
        <p:nvSpPr>
          <p:cNvPr id="45" name="내용 개체 틀 7">
            <a:extLst>
              <a:ext uri="{FF2B5EF4-FFF2-40B4-BE49-F238E27FC236}">
                <a16:creationId xmlns:a16="http://schemas.microsoft.com/office/drawing/2014/main" id="{56014C37-0002-818C-D015-9C88FDFE62B2}"/>
              </a:ext>
            </a:extLst>
          </p:cNvPr>
          <p:cNvSpPr txBox="1">
            <a:spLocks/>
          </p:cNvSpPr>
          <p:nvPr/>
        </p:nvSpPr>
        <p:spPr>
          <a:xfrm>
            <a:off x="6638184" y="4714863"/>
            <a:ext cx="2119538" cy="12851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>
                <a:ea typeface="Noto Sans KR" panose="020B0200000000000000" pitchFamily="50" charset="-127"/>
              </a:rPr>
              <a:t>PETER-PANNING</a:t>
            </a:r>
            <a:endParaRPr lang="en-US" altLang="ko-KR" sz="1500" dirty="0">
              <a:ea typeface="Noto Sans KR" panose="020B0200000000000000" pitchFamily="50" charset="-127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ko-KR" altLang="en-US" sz="1500" dirty="0">
              <a:ea typeface="Noto Sans KR" panose="020B0200000000000000" pitchFamily="50" charset="-127"/>
            </a:endParaRPr>
          </a:p>
          <a:p>
            <a:pPr algn="ctr">
              <a:buNone/>
            </a:pPr>
            <a:endParaRPr lang="ko-KR" altLang="en-US" dirty="0"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6190FC-5A8C-F5B0-F17F-0B35802E4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348" y="2182349"/>
            <a:ext cx="2611211" cy="2221140"/>
          </a:xfrm>
          <a:prstGeom prst="rect">
            <a:avLst/>
          </a:prstGeom>
          <a:ln w="63500">
            <a:solidFill>
              <a:srgbClr val="FF4654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A8EECB-E721-3948-E443-4305D2659D2B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173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5162-77DA-3DDB-6E1A-FC15EC9F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5889A094-22AC-9D8F-8B9A-62A818895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1" r="9741"/>
          <a:stretch>
            <a:fillRect/>
          </a:stretch>
        </p:blipFill>
        <p:spPr bwMode="auto">
          <a:xfrm>
            <a:off x="-1" y="1342"/>
            <a:ext cx="12192001" cy="685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EBAF1C5-22AC-E080-D82D-A243E973CF95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4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7CA7F14-A8BA-D9CE-BAAA-0E4F0BEE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FEFBF-F904-AD0E-1891-20037C99C0CB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42" name="내용 개체 틀 7">
            <a:extLst>
              <a:ext uri="{FF2B5EF4-FFF2-40B4-BE49-F238E27FC236}">
                <a16:creationId xmlns:a16="http://schemas.microsoft.com/office/drawing/2014/main" id="{48AA2812-508A-4EFA-CF02-407D89AFC35D}"/>
              </a:ext>
            </a:extLst>
          </p:cNvPr>
          <p:cNvSpPr txBox="1">
            <a:spLocks/>
          </p:cNvSpPr>
          <p:nvPr/>
        </p:nvSpPr>
        <p:spPr>
          <a:xfrm>
            <a:off x="3006270" y="2835557"/>
            <a:ext cx="6179457" cy="1301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sz="4400" dirty="0">
                <a:ea typeface="Noto Sans KR" panose="020B0200000000000000" pitchFamily="50" charset="-127"/>
              </a:rPr>
              <a:t>BIAS는 두 ARTIFACT 사이의 TRADE-OFF</a:t>
            </a:r>
            <a:r>
              <a:rPr lang="en-US" altLang="ko-KR" sz="4400" dirty="0">
                <a:ea typeface="Noto Sans KR" panose="020B0200000000000000" pitchFamily="50" charset="-127"/>
              </a:rPr>
              <a:t>.</a:t>
            </a:r>
            <a:r>
              <a:rPr lang="ko-KR" sz="4400" dirty="0"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BAFD-9194-2107-B8A8-150EADD9F3C3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346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CB75D-4C54-BBD6-68BB-C1A51AD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FC0A5121-7EFD-7AB0-AF78-2FC9F8F739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1" r="9741"/>
          <a:stretch>
            <a:fillRect/>
          </a:stretch>
        </p:blipFill>
        <p:spPr bwMode="auto">
          <a:xfrm>
            <a:off x="-1" y="1342"/>
            <a:ext cx="12192001" cy="685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8BCEA9A-5663-73F6-A830-29191963786F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4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5F2B922-2081-CE77-53C5-2CC9AFAB5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A76C3-932F-6F72-1828-FE1A8F840D9E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pic>
        <p:nvPicPr>
          <p:cNvPr id="27" name="그림 26" descr="라인, 도표, 평행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A89CE8-D8CD-7E96-8214-027FE8BC3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837" y="2425559"/>
            <a:ext cx="3553732" cy="2410007"/>
          </a:xfrm>
          <a:prstGeom prst="rect">
            <a:avLst/>
          </a:prstGeom>
          <a:ln w="63500">
            <a:solidFill>
              <a:srgbClr val="FF4654"/>
            </a:solidFill>
          </a:ln>
        </p:spPr>
      </p:pic>
      <p:sp>
        <p:nvSpPr>
          <p:cNvPr id="28" name="내용 개체 틀 7">
            <a:extLst>
              <a:ext uri="{FF2B5EF4-FFF2-40B4-BE49-F238E27FC236}">
                <a16:creationId xmlns:a16="http://schemas.microsoft.com/office/drawing/2014/main" id="{53C2C431-7BC4-9F03-60CF-49A9E83E5BC9}"/>
              </a:ext>
            </a:extLst>
          </p:cNvPr>
          <p:cNvSpPr>
            <a:spLocks noGrp="1"/>
          </p:cNvSpPr>
          <p:nvPr/>
        </p:nvSpPr>
        <p:spPr>
          <a:xfrm>
            <a:off x="1978970" y="1873184"/>
            <a:ext cx="2477330" cy="6951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ko-KR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dirty="0">
                <a:ea typeface="Noto Sans KR" panose="020B0200000000000000" pitchFamily="50" charset="-127"/>
              </a:rPr>
              <a:t>CONSTANT BIAS</a:t>
            </a:r>
            <a:endParaRPr lang="ko-KR" altLang="en-US" sz="2400" dirty="0">
              <a:ea typeface="Noto Sans KR" panose="020B0200000000000000" pitchFamily="50" charset="-127"/>
            </a:endParaRPr>
          </a:p>
        </p:txBody>
      </p:sp>
      <p:pic>
        <p:nvPicPr>
          <p:cNvPr id="25" name="그림 24" descr="텍스트, 스크린샷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222A1E-4E12-B0B9-C908-A26F9A4D0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312" y="2388895"/>
            <a:ext cx="3663496" cy="2415831"/>
          </a:xfrm>
          <a:prstGeom prst="rect">
            <a:avLst/>
          </a:prstGeom>
          <a:ln w="63500">
            <a:solidFill>
              <a:srgbClr val="FF4654"/>
            </a:solidFill>
          </a:ln>
        </p:spPr>
      </p:pic>
      <p:sp>
        <p:nvSpPr>
          <p:cNvPr id="26" name="내용 개체 틀 7">
            <a:extLst>
              <a:ext uri="{FF2B5EF4-FFF2-40B4-BE49-F238E27FC236}">
                <a16:creationId xmlns:a16="http://schemas.microsoft.com/office/drawing/2014/main" id="{B3FC8591-4A60-472D-C979-92DEFECAA50F}"/>
              </a:ext>
            </a:extLst>
          </p:cNvPr>
          <p:cNvSpPr txBox="1">
            <a:spLocks/>
          </p:cNvSpPr>
          <p:nvPr/>
        </p:nvSpPr>
        <p:spPr>
          <a:xfrm>
            <a:off x="7418809" y="1873184"/>
            <a:ext cx="3377809" cy="4240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dirty="0">
                <a:ea typeface="Noto Sans KR" panose="020B0200000000000000" pitchFamily="50" charset="-127"/>
              </a:rPr>
              <a:t>SLOPE-SCALED BIAS</a:t>
            </a:r>
            <a:endParaRPr lang="ko-KR" altLang="en-US" sz="2400" dirty="0">
              <a:ea typeface="Noto Sans KR" panose="020B0200000000000000" pitchFamily="50" charset="-127"/>
            </a:endParaRPr>
          </a:p>
        </p:txBody>
      </p:sp>
      <p:sp>
        <p:nvSpPr>
          <p:cNvPr id="30" name="내용 개체 틀 7">
            <a:extLst>
              <a:ext uri="{FF2B5EF4-FFF2-40B4-BE49-F238E27FC236}">
                <a16:creationId xmlns:a16="http://schemas.microsoft.com/office/drawing/2014/main" id="{2546A428-023E-8CF3-0517-51B801AD8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871" y="5322250"/>
            <a:ext cx="4029529" cy="4234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ko-KR" sz="1400" dirty="0">
                <a:ea typeface="Noto Sans KR" panose="020B0200000000000000" pitchFamily="50" charset="-127"/>
              </a:rPr>
              <a:t>모든 픽셀에 동일한 깊이 보정값을 더한다</a:t>
            </a:r>
            <a:r>
              <a:rPr lang="en-US" altLang="ko-KR" sz="1400" dirty="0">
                <a:ea typeface="Noto Sans KR" panose="020B0200000000000000" pitchFamily="50" charset="-127"/>
              </a:rPr>
              <a:t>.</a:t>
            </a:r>
            <a:endParaRPr lang="ko-KR" sz="1400" dirty="0"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endParaRPr lang="ko-KR" altLang="en-US" sz="1400" dirty="0">
              <a:ea typeface="Noto Sans KR" panose="020B0200000000000000" pitchFamily="50" charset="-127"/>
            </a:endParaRPr>
          </a:p>
        </p:txBody>
      </p:sp>
      <p:sp>
        <p:nvSpPr>
          <p:cNvPr id="34" name="내용 개체 틀 7">
            <a:extLst>
              <a:ext uri="{FF2B5EF4-FFF2-40B4-BE49-F238E27FC236}">
                <a16:creationId xmlns:a16="http://schemas.microsoft.com/office/drawing/2014/main" id="{4A282B7C-F78D-F5F8-E99F-ED3FF7C44BE3}"/>
              </a:ext>
            </a:extLst>
          </p:cNvPr>
          <p:cNvSpPr txBox="1">
            <a:spLocks/>
          </p:cNvSpPr>
          <p:nvPr/>
        </p:nvSpPr>
        <p:spPr>
          <a:xfrm>
            <a:off x="6861629" y="5320437"/>
            <a:ext cx="4492171" cy="4234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400" dirty="0">
                <a:ea typeface="Noto Sans KR" panose="020B0200000000000000" pitchFamily="50" charset="-127"/>
              </a:rPr>
              <a:t>빛</a:t>
            </a:r>
            <a:r>
              <a:rPr lang="en-US" altLang="ko-KR" sz="1400" dirty="0"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ea typeface="Noto Sans KR" panose="020B0200000000000000" pitchFamily="50" charset="-127"/>
              </a:rPr>
              <a:t>방향에</a:t>
            </a:r>
            <a:r>
              <a:rPr lang="en-US" altLang="ko-KR" sz="1400" dirty="0"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ea typeface="Noto Sans KR" panose="020B0200000000000000" pitchFamily="50" charset="-127"/>
              </a:rPr>
              <a:t>비스듬할수록</a:t>
            </a:r>
            <a:r>
              <a:rPr lang="en-US" altLang="ko-KR" sz="1400" dirty="0"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ea typeface="Noto Sans KR" panose="020B0200000000000000" pitchFamily="50" charset="-127"/>
              </a:rPr>
              <a:t>더</a:t>
            </a:r>
            <a:r>
              <a:rPr lang="en-US" altLang="ko-KR" sz="1400" dirty="0"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ea typeface="Noto Sans KR" panose="020B0200000000000000" pitchFamily="50" charset="-127"/>
              </a:rPr>
              <a:t>큰</a:t>
            </a:r>
            <a:r>
              <a:rPr lang="en-US" altLang="ko-KR" sz="1400" dirty="0">
                <a:ea typeface="Noto Sans KR" panose="020B0200000000000000" pitchFamily="50" charset="-127"/>
              </a:rPr>
              <a:t> BIAS</a:t>
            </a:r>
            <a:r>
              <a:rPr lang="ko-KR" altLang="en-US" sz="1400" dirty="0">
                <a:ea typeface="Noto Sans KR" panose="020B0200000000000000" pitchFamily="50" charset="-127"/>
              </a:rPr>
              <a:t>를</a:t>
            </a:r>
            <a:r>
              <a:rPr lang="en-US" altLang="ko-KR" sz="1400" dirty="0"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ea typeface="Noto Sans KR" panose="020B0200000000000000" pitchFamily="50" charset="-127"/>
              </a:rPr>
              <a:t>적용한다</a:t>
            </a:r>
            <a:r>
              <a:rPr lang="en-US" altLang="ko-KR" sz="1400" dirty="0">
                <a:ea typeface="Noto Sans KR" panose="020B0200000000000000" pitchFamily="50" charset="-127"/>
              </a:rPr>
              <a:t>.</a:t>
            </a:r>
            <a:endParaRPr lang="ko-KR" sz="1400" dirty="0">
              <a:ea typeface="Noto Sans KR" panose="020B0200000000000000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400" dirty="0"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CB637-98D0-C608-B951-02E4CB7432F3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4654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496DFA89-12C6-7B57-78BA-A8ED7CD95E9F}"/>
              </a:ext>
            </a:extLst>
          </p:cNvPr>
          <p:cNvSpPr txBox="1">
            <a:spLocks/>
          </p:cNvSpPr>
          <p:nvPr/>
        </p:nvSpPr>
        <p:spPr>
          <a:xfrm>
            <a:off x="7551057" y="365125"/>
            <a:ext cx="3802743" cy="1352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FF4654"/>
                </a:solidFill>
                <a:latin typeface="Agency FB" panose="020B0503020202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US" altLang="ko-KR">
                <a:latin typeface="Agency FB"/>
                <a:ea typeface="맑은 고딕"/>
              </a:rPr>
              <a:t>ARTIFACTS &amp; BIAS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805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5D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8EB7F-CDEE-6B84-5604-06490156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4">
            <a:extLst>
              <a:ext uri="{FF2B5EF4-FFF2-40B4-BE49-F238E27FC236}">
                <a16:creationId xmlns:a16="http://schemas.microsoft.com/office/drawing/2014/main" id="{0C1628D4-6F36-DE01-E85A-7397372D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60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9C5ADA-3DC2-15DD-9A38-B08BCA6A1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399930"/>
            <a:ext cx="10515600" cy="1325563"/>
          </a:xfrm>
        </p:spPr>
        <p:txBody>
          <a:bodyPr/>
          <a:lstStyle/>
          <a:p>
            <a:pPr algn="r"/>
            <a:r>
              <a:rPr lang="en-US" altLang="ko-KR" dirty="0"/>
              <a:t>SHADOW FILTERING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6A8BE-1D87-86B4-AEFB-D9D32B842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7982" y="1253431"/>
            <a:ext cx="5898243" cy="5755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altLang="ko-KR" dirty="0">
                <a:solidFill>
                  <a:srgbClr val="101823"/>
                </a:solidFill>
              </a:rPr>
              <a:t>Percentage-Closer Filtering</a:t>
            </a:r>
            <a:endParaRPr lang="ko-KR" altLang="en-US" sz="1400" dirty="0">
              <a:solidFill>
                <a:srgbClr val="101823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1400" dirty="0">
              <a:solidFill>
                <a:srgbClr val="101823"/>
              </a:solidFill>
              <a:latin typeface="Agency FB"/>
              <a:ea typeface="맑은 고딕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B4AE2D8-E066-E0FF-141F-FED621131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EF8C0-9A6E-6797-05DF-18314E624595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pic>
        <p:nvPicPr>
          <p:cNvPr id="25" name="그림 24" descr="공, 구체, 보라색, 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7D370A-27F3-06F8-7D71-B9EE15319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853" y="2418932"/>
            <a:ext cx="2172290" cy="2260827"/>
          </a:xfrm>
          <a:prstGeom prst="rect">
            <a:avLst/>
          </a:prstGeom>
          <a:ln w="63500">
            <a:solidFill>
              <a:srgbClr val="101823"/>
            </a:solidFill>
          </a:ln>
        </p:spPr>
      </p:pic>
      <p:pic>
        <p:nvPicPr>
          <p:cNvPr id="26" name="그림 25" descr="구체, 풍선, 공, 보라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E462A9-2A48-E6CB-CE42-FDDA4E743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9072" y="2418566"/>
            <a:ext cx="2336347" cy="2261193"/>
          </a:xfrm>
          <a:prstGeom prst="rect">
            <a:avLst/>
          </a:prstGeom>
          <a:ln w="63500">
            <a:solidFill>
              <a:srgbClr val="101823"/>
            </a:solidFill>
          </a:ln>
        </p:spPr>
      </p:pic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195C51FC-F914-C3E5-406B-63FF8941230C}"/>
              </a:ext>
            </a:extLst>
          </p:cNvPr>
          <p:cNvSpPr txBox="1">
            <a:spLocks/>
          </p:cNvSpPr>
          <p:nvPr/>
        </p:nvSpPr>
        <p:spPr>
          <a:xfrm>
            <a:off x="7092425" y="4905504"/>
            <a:ext cx="1167145" cy="5755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2400" dirty="0">
                <a:solidFill>
                  <a:srgbClr val="101823"/>
                </a:solidFill>
                <a:latin typeface="Agency FB"/>
                <a:ea typeface="맑은 고딕"/>
              </a:rPr>
              <a:t>No Filter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4ED34F23-D628-04A5-B20E-D518A03B5B9E}"/>
              </a:ext>
            </a:extLst>
          </p:cNvPr>
          <p:cNvSpPr txBox="1">
            <a:spLocks/>
          </p:cNvSpPr>
          <p:nvPr/>
        </p:nvSpPr>
        <p:spPr>
          <a:xfrm>
            <a:off x="9783672" y="4905504"/>
            <a:ext cx="1167145" cy="5755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2400" dirty="0">
                <a:solidFill>
                  <a:srgbClr val="101823"/>
                </a:solidFill>
                <a:latin typeface="Agency FB"/>
                <a:ea typeface="맑은 고딕"/>
              </a:rPr>
              <a:t>PCF(3x3)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B25D10-0AE0-62DF-72C1-2333297B9878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10182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10182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03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5D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85F9A-CC69-DBE9-2A8B-940F9C77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7984ECC0-ECC2-87D3-D9FB-B0399CA7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60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834409C8-5A07-FACD-0B9B-DA077F4C2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80BE6-7666-4137-0CB8-8BD813D0C646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6AF6BC32-5654-BF3C-F555-11BD4E06293A}"/>
              </a:ext>
            </a:extLst>
          </p:cNvPr>
          <p:cNvSpPr txBox="1">
            <a:spLocks/>
          </p:cNvSpPr>
          <p:nvPr/>
        </p:nvSpPr>
        <p:spPr>
          <a:xfrm>
            <a:off x="6260158" y="2706772"/>
            <a:ext cx="5446067" cy="22754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주변 SHADOW TEXEL에서 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다회 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DEPTH COMPARE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를 한다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 algn="r">
              <a:lnSpc>
                <a:spcPct val="100000"/>
              </a:lnSpc>
              <a:buNone/>
            </a:pPr>
            <a:endParaRPr lang="en-US" altLang="ko-KR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비교 결과를 평균 내어 그림자 경계를 부드럽게 처리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한다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 algn="r">
              <a:lnSpc>
                <a:spcPct val="100000"/>
              </a:lnSpc>
              <a:buNone/>
            </a:pPr>
            <a:endParaRPr lang="en-US" altLang="ko-KR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기존 DEPTH SHADOW MAP에 바로 적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용할 수 있다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DA1F22B0-84A4-2A72-B6AE-150194B0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399930"/>
            <a:ext cx="10515600" cy="1325563"/>
          </a:xfrm>
        </p:spPr>
        <p:txBody>
          <a:bodyPr/>
          <a:lstStyle/>
          <a:p>
            <a:pPr algn="r"/>
            <a:r>
              <a:rPr lang="en-US" altLang="ko-KR" dirty="0"/>
              <a:t>SHADOW FILTERING</a:t>
            </a:r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692FC98-573B-38C0-B423-58926C601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7982" y="1253431"/>
            <a:ext cx="5898243" cy="5755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altLang="ko-KR" dirty="0">
                <a:solidFill>
                  <a:srgbClr val="101823"/>
                </a:solidFill>
              </a:rPr>
              <a:t>Percentage-Closer Filtering</a:t>
            </a:r>
            <a:endParaRPr lang="ko-KR" altLang="en-US" sz="1400" dirty="0">
              <a:solidFill>
                <a:srgbClr val="101823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1400" dirty="0">
              <a:solidFill>
                <a:srgbClr val="101823"/>
              </a:solidFill>
              <a:latin typeface="Agency FB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9F3B46-5304-3A37-A035-1B19AF715CCC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10182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10182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946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5D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A5432-201C-B3B3-897D-03E148AD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>
            <a:extLst>
              <a:ext uri="{FF2B5EF4-FFF2-40B4-BE49-F238E27FC236}">
                <a16:creationId xmlns:a16="http://schemas.microsoft.com/office/drawing/2014/main" id="{437E634A-A6E8-9904-CBED-39F5CEB68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60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03DA4F3-E2E7-29EF-24D6-FB8489C10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645A0-0A09-4447-658C-D73A06446473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pic>
        <p:nvPicPr>
          <p:cNvPr id="3" name="그림 2" descr="텍스트, 스크린샷, 공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FD3868-07C7-7C73-2201-EC7AD329E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03" y="2159870"/>
            <a:ext cx="5899022" cy="3265714"/>
          </a:xfrm>
          <a:prstGeom prst="rect">
            <a:avLst/>
          </a:prstGeom>
          <a:ln w="63500">
            <a:solidFill>
              <a:srgbClr val="FF4654"/>
            </a:solidFill>
          </a:ln>
        </p:spPr>
      </p:pic>
      <p:sp>
        <p:nvSpPr>
          <p:cNvPr id="19" name="제목 1">
            <a:extLst>
              <a:ext uri="{FF2B5EF4-FFF2-40B4-BE49-F238E27FC236}">
                <a16:creationId xmlns:a16="http://schemas.microsoft.com/office/drawing/2014/main" id="{405E163F-E00B-E52F-4B43-7C898C18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399930"/>
            <a:ext cx="10515600" cy="1325563"/>
          </a:xfrm>
        </p:spPr>
        <p:txBody>
          <a:bodyPr/>
          <a:lstStyle/>
          <a:p>
            <a:pPr algn="r"/>
            <a:r>
              <a:rPr lang="en-US" altLang="ko-KR" dirty="0"/>
              <a:t>SHADOW FILTERING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FA963008-A112-2AF7-AC24-544BBF36C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7982" y="1253431"/>
            <a:ext cx="5898243" cy="5755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altLang="ko-KR" dirty="0">
                <a:solidFill>
                  <a:srgbClr val="101823"/>
                </a:solidFill>
              </a:rPr>
              <a:t>Variance Shadow Mapping</a:t>
            </a:r>
            <a:endParaRPr lang="ko-KR" altLang="en-US" dirty="0">
              <a:solidFill>
                <a:srgbClr val="101823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dirty="0">
              <a:solidFill>
                <a:srgbClr val="101823"/>
              </a:solidFill>
              <a:ea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6079A1-A3E7-032F-E5EA-817294A9F81E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10182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10182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713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F5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43A01-5138-276D-76F9-CA0FAA06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4" name="Picture 8">
            <a:extLst>
              <a:ext uri="{FF2B5EF4-FFF2-40B4-BE49-F238E27FC236}">
                <a16:creationId xmlns:a16="http://schemas.microsoft.com/office/drawing/2014/main" id="{9F5A54A3-A5C7-B8C6-65BD-3459912BC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0"/>
            <a:ext cx="7299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F886F877-F365-92AB-78F9-ADB68FCC9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75284-05F5-67A7-B95E-50192F23FA2C}"/>
              </a:ext>
            </a:extLst>
          </p:cNvPr>
          <p:cNvSpPr txBox="1"/>
          <p:nvPr/>
        </p:nvSpPr>
        <p:spPr>
          <a:xfrm>
            <a:off x="10291046" y="5859960"/>
            <a:ext cx="190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u="sng" dirty="0">
                <a:solidFill>
                  <a:srgbClr val="FF4654"/>
                </a:solidFill>
                <a:latin typeface="Agency FB" panose="020B0503020202020204" pitchFamily="34" charset="0"/>
              </a:rPr>
              <a:t>¤</a:t>
            </a:r>
            <a:endParaRPr lang="ko-KR" altLang="en-US" sz="4400" b="1" u="sng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7C2A065-E1DD-9172-1C4D-55CC15CFA3D9}"/>
              </a:ext>
            </a:extLst>
          </p:cNvPr>
          <p:cNvSpPr txBox="1">
            <a:spLocks/>
          </p:cNvSpPr>
          <p:nvPr/>
        </p:nvSpPr>
        <p:spPr>
          <a:xfrm>
            <a:off x="588338" y="2789875"/>
            <a:ext cx="5329535" cy="2955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FF4654"/>
                </a:solidFill>
                <a:latin typeface="Agency FB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SHADOW MAP에 2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 개의 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FLOAT (Z, Z^2)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를 저장한다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BLUR 후 평균 E[z],E[z^2] 로 분산 </a:t>
            </a:r>
            <a:r>
              <a:rPr 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σ^2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을 계산한다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  <a:p>
            <a:pPr marL="285750" indent="-285750">
              <a:lnSpc>
                <a:spcPct val="100000"/>
              </a:lnSpc>
              <a:buFont typeface="Wingdings" panose="020B0604020202020204" pitchFamily="34" charset="0"/>
              <a:buChar char="§"/>
            </a:pPr>
            <a:endParaRPr lang="en-US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CHEBYSHEV BOUND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로</a:t>
            </a:r>
            <a:r>
              <a:rPr 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 VISIBILITY UPPER BOUND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를 근사한다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  <a:p>
            <a:pPr marL="285750" indent="-285750">
              <a:lnSpc>
                <a:spcPct val="100000"/>
              </a:lnSpc>
              <a:buFont typeface="Wingdings" panose="020B0604020202020204" pitchFamily="34" charset="0"/>
              <a:buChar char="§"/>
            </a:pPr>
            <a:endParaRPr lang="ko-KR" altLang="en-US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PRE-FILTERING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이 가능하지만 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LIGHT BLEEDING </a:t>
            </a:r>
            <a:r>
              <a:rPr lang="ko-KR" altLang="en-US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보정이 필요하다</a:t>
            </a:r>
            <a:r>
              <a:rPr lang="en-US" altLang="ko-KR" sz="1400" dirty="0">
                <a:solidFill>
                  <a:srgbClr val="101823"/>
                </a:solidFill>
                <a:ea typeface="Noto Sans KR" panose="020B0200000000000000" pitchFamily="50" charset="-127"/>
              </a:rPr>
              <a:t>.</a:t>
            </a:r>
            <a:endParaRPr lang="ko-KR" altLang="en-US" sz="1400" dirty="0">
              <a:solidFill>
                <a:srgbClr val="101823"/>
              </a:solidFill>
              <a:ea typeface="Noto Sans KR" panose="020B0200000000000000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BC0E9F5F-E502-C612-AC24-89DC509D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338" y="402944"/>
            <a:ext cx="10515600" cy="1325563"/>
          </a:xfrm>
        </p:spPr>
        <p:txBody>
          <a:bodyPr/>
          <a:lstStyle/>
          <a:p>
            <a:r>
              <a:rPr lang="en-US" altLang="ko-KR" dirty="0"/>
              <a:t>SHADOW FILTERING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1E5349A4-0071-163F-1EE5-9D7A6EB6D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38" y="1206908"/>
            <a:ext cx="5898243" cy="5755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solidFill>
                  <a:srgbClr val="101823"/>
                </a:solidFill>
              </a:rPr>
              <a:t>Variance Shadow Mapping</a:t>
            </a:r>
            <a:endParaRPr lang="ko-KR" altLang="en-US" dirty="0">
              <a:solidFill>
                <a:srgbClr val="101823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dirty="0">
              <a:solidFill>
                <a:srgbClr val="101823"/>
              </a:solidFill>
              <a:ea typeface="맑은 고딕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394EEF-758F-6F80-8B08-7F95C8596CA4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4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E171A-0BC4-C405-7433-2A784509090D}"/>
              </a:ext>
            </a:extLst>
          </p:cNvPr>
          <p:cNvSpPr txBox="1"/>
          <p:nvPr/>
        </p:nvSpPr>
        <p:spPr>
          <a:xfrm>
            <a:off x="588338" y="6489144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10182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101823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510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E8CC1-F646-5AB0-FB43-92A3239C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361222CA-E038-4C66-1E4C-7B7F94B6E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3B7172-A05D-6CD7-56C3-B1D7C44453D3}"/>
              </a:ext>
            </a:extLst>
          </p:cNvPr>
          <p:cNvSpPr txBox="1"/>
          <p:nvPr/>
        </p:nvSpPr>
        <p:spPr>
          <a:xfrm>
            <a:off x="636555" y="6419585"/>
            <a:ext cx="1346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C4653"/>
                </a:solidFill>
                <a:latin typeface="Agency FB" panose="020B0503020202020204" pitchFamily="34" charset="0"/>
              </a:rPr>
              <a:t>(c) 2020-2026 Riot Games</a:t>
            </a:r>
            <a:endParaRPr lang="ko-KR" altLang="en-US" sz="1000" b="1" dirty="0">
              <a:solidFill>
                <a:srgbClr val="FC4653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DDA598-1E5E-2204-EEE9-424B0F4861E6}"/>
              </a:ext>
            </a:extLst>
          </p:cNvPr>
          <p:cNvSpPr/>
          <p:nvPr/>
        </p:nvSpPr>
        <p:spPr>
          <a:xfrm>
            <a:off x="9549353" y="2875175"/>
            <a:ext cx="1734532" cy="1569660"/>
          </a:xfrm>
          <a:prstGeom prst="rect">
            <a:avLst/>
          </a:prstGeom>
          <a:solidFill>
            <a:srgbClr val="EC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83DAE0-7254-39D8-8055-5F4E9092252D}"/>
              </a:ext>
            </a:extLst>
          </p:cNvPr>
          <p:cNvSpPr txBox="1"/>
          <p:nvPr/>
        </p:nvSpPr>
        <p:spPr>
          <a:xfrm>
            <a:off x="8515742" y="2920374"/>
            <a:ext cx="3801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rgbClr val="FF4654"/>
                </a:solidFill>
                <a:latin typeface="Agency FB" panose="020B0503020202020204" pitchFamily="34" charset="0"/>
              </a:rPr>
              <a:t>SHOWCASE</a:t>
            </a:r>
            <a:endParaRPr lang="ko-KR" altLang="en-US" sz="6000" b="1" dirty="0">
              <a:solidFill>
                <a:srgbClr val="FF4654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87F0A-3052-9933-7224-9CF87319C09A}"/>
              </a:ext>
            </a:extLst>
          </p:cNvPr>
          <p:cNvSpPr txBox="1"/>
          <p:nvPr/>
        </p:nvSpPr>
        <p:spPr>
          <a:xfrm>
            <a:off x="10556473" y="2411576"/>
            <a:ext cx="1580317" cy="730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rgbClr val="FF4654"/>
                </a:solidFill>
                <a:latin typeface="Agency FB" panose="020B0503020202020204" pitchFamily="34" charset="0"/>
                <a:ea typeface="Noto Sans KR" panose="020B0200000000000000" pitchFamily="50" charset="-127"/>
              </a:rPr>
              <a:t>TEAM 3</a:t>
            </a:r>
            <a:endParaRPr lang="ko-KR" altLang="en-US" sz="3200" b="1" dirty="0">
              <a:solidFill>
                <a:srgbClr val="FF4654"/>
              </a:solidFill>
              <a:latin typeface="Agency FB" panose="020B0503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BCADFA-9867-A847-2ECD-2133B9CF51C7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4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11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c932e1-1e2c-4d70-ba43-b0d10ef0ba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2DBF6813BEE09409237611D917F28C9" ma:contentTypeVersion="10" ma:contentTypeDescription="새 문서를 만듭니다." ma:contentTypeScope="" ma:versionID="4064f2587141b6247dc178b857e314fb">
  <xsd:schema xmlns:xsd="http://www.w3.org/2001/XMLSchema" xmlns:xs="http://www.w3.org/2001/XMLSchema" xmlns:p="http://schemas.microsoft.com/office/2006/metadata/properties" xmlns:ns3="efc932e1-1e2c-4d70-ba43-b0d10ef0ba1e" targetNamespace="http://schemas.microsoft.com/office/2006/metadata/properties" ma:root="true" ma:fieldsID="64338e1baedfa03b7d47ef46ab7397f0" ns3:_="">
    <xsd:import namespace="efc932e1-1e2c-4d70-ba43-b0d10ef0ba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932e1-1e2c-4d70-ba43-b0d10ef0ba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E89805-6B2D-40FB-915C-25B3CF24A7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0C240B-6EEF-4B91-86AA-51E485EE7B1D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efc932e1-1e2c-4d70-ba43-b0d10ef0ba1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92659A-50D6-4794-A598-C665D75E49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c932e1-1e2c-4d70-ba43-b0d10ef0ba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657</Words>
  <Application>Microsoft Office PowerPoint</Application>
  <PresentationFormat>와이드스크린</PresentationFormat>
  <Paragraphs>172</Paragraphs>
  <Slides>23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Noto Sans KR</vt:lpstr>
      <vt:lpstr>맑은 고딕</vt:lpstr>
      <vt:lpstr>Agency FB</vt:lpstr>
      <vt:lpstr>Arial</vt:lpstr>
      <vt:lpstr>Wingdings</vt:lpstr>
      <vt:lpstr>Office 테마</vt:lpstr>
      <vt:lpstr>PowerPoint 프레젠테이션</vt:lpstr>
      <vt:lpstr>CONTENTS</vt:lpstr>
      <vt:lpstr>SHADOW PASS​</vt:lpstr>
      <vt:lpstr>TEXTURE ATLAS</vt:lpstr>
      <vt:lpstr>TEXTURE ATLAS</vt:lpstr>
      <vt:lpstr>TEXTURE ATLAS</vt:lpstr>
      <vt:lpstr>TEXTURE ATLAS</vt:lpstr>
      <vt:lpstr>TEXTURE ATLAS</vt:lpstr>
      <vt:lpstr>DIRECTIONAL LIGHT SHADOW</vt:lpstr>
      <vt:lpstr>DIRECTIONAL LIGHT SHADOW</vt:lpstr>
      <vt:lpstr>DIRECTIONAL LIGHT SHADOW</vt:lpstr>
      <vt:lpstr>DIRECTIONAL LIGHT SHADOW</vt:lpstr>
      <vt:lpstr>POINT LIGHT SHADOW</vt:lpstr>
      <vt:lpstr>POINT LIGHT SHADOW</vt:lpstr>
      <vt:lpstr>POINT LIGHT SHADOW</vt:lpstr>
      <vt:lpstr>ARTIFACTS &amp; BIAS</vt:lpstr>
      <vt:lpstr>PowerPoint 프레젠테이션</vt:lpstr>
      <vt:lpstr>PowerPoint 프레젠테이션</vt:lpstr>
      <vt:lpstr>SHADOW FILTERING</vt:lpstr>
      <vt:lpstr>SHADOW FILTERING</vt:lpstr>
      <vt:lpstr>SHADOW FILTERING</vt:lpstr>
      <vt:lpstr>SHADOW FILTERING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26</cp:revision>
  <cp:lastPrinted>2026-04-29T23:14:45Z</cp:lastPrinted>
  <dcterms:created xsi:type="dcterms:W3CDTF">2026-04-29T09:56:21Z</dcterms:created>
  <dcterms:modified xsi:type="dcterms:W3CDTF">2026-04-30T07:08:25Z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0x010100F2DBF6813BEE09409237611D917F28C9</vt:lpwstr>
  </property>
</Properties>
</file>