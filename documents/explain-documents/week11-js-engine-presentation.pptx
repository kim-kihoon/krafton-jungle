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62" r:id="rId8"/>
    <p:sldId id="264" r:id="rId9"/>
    <p:sldId id="282" r:id="rId10"/>
    <p:sldId id="266" r:id="rId11"/>
    <p:sldId id="269" r:id="rId12"/>
    <p:sldId id="276" r:id="rId13"/>
    <p:sldId id="263" r:id="rId14"/>
    <p:sldId id="275" r:id="rId15"/>
    <p:sldId id="277" r:id="rId16"/>
    <p:sldId id="272" r:id="rId17"/>
    <p:sldId id="283" r:id="rId18"/>
    <p:sldId id="270" r:id="rId19"/>
    <p:sldId id="261" r:id="rId20"/>
    <p:sldId id="265" r:id="rId21"/>
    <p:sldId id="268" r:id="rId22"/>
    <p:sldId id="271" r:id="rId23"/>
    <p:sldId id="278" r:id="rId24"/>
    <p:sldId id="280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500"/>
    <a:srgbClr val="BEB7FF"/>
    <a:srgbClr val="4EC9B0"/>
    <a:srgbClr val="569CD6"/>
    <a:srgbClr val="B4D7A3"/>
    <a:srgbClr val="DCDC79"/>
    <a:srgbClr val="9CDCFE"/>
    <a:srgbClr val="DCDCAA"/>
    <a:srgbClr val="D8A0DF"/>
    <a:srgbClr val="D69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201F4-B703-76DA-ED6B-897234D39502}" v="28" dt="2026-05-20T16:43:22.969"/>
    <p1510:client id="{75F729FF-7972-D86E-C52D-23FB929A4038}" v="816" dt="2026-05-20T12:09:13.556"/>
    <p1510:client id="{8FE12E28-ABED-3939-D459-E0F01AFDF560}" v="1232" dt="2026-05-20T13:34:25.669"/>
    <p1510:client id="{B1FA36A2-0CB0-4D7F-8941-86508B7660F1}" v="3836" dt="2026-05-20T17:17:38.042"/>
    <p1510:client id="{EF9EBCEB-1D47-ADAD-3A96-1ACCBE6D96EA}" v="2123" dt="2026-05-20T18:23:14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34E10-ACB8-44DA-AA42-391874EBC8BA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7A22F-5A0A-4C56-AABF-91C17094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4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7A22F-5A0A-4C56-AABF-91C17094191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705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03A0C-E32D-1C26-AA8F-43EF1B66F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37124B-7308-B0E5-9985-561FD9CD8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C87961-9B88-B4D8-3637-16C4D31E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2E0592-CFA8-35E2-2695-A6071995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E94342-16B2-CAB5-99DE-77BD8E7B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075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6B768-77EA-3ED8-00C8-A655C065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21704-8A35-3829-608D-EDF43002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1pPr>
            <a:lvl2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2pPr>
            <a:lvl3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3pPr>
            <a:lvl4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4pPr>
            <a:lvl5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A04C0-CD9D-9972-7E0E-5DFD2528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fld id="{3D3CF551-5D5D-4583-BA25-E8C50B0B9B10}" type="datetimeFigureOut">
              <a:rPr lang="ko-KR" altLang="en-US" smtClean="0"/>
              <a:pPr/>
              <a:t>2026-05-21</a:t>
            </a:fld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2B52CA-2D8B-8DDF-6229-1F54AB18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D9F8EB-841E-0727-76AD-CFCDE57F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fld id="{243D506C-E1C6-4FAB-A8D6-144B29758888}" type="slidenum">
              <a:rPr lang="ko-KR" altLang="en-US" smtClean="0"/>
              <a:pPr/>
              <a:t>‹#›</a:t>
            </a:fld>
            <a:endParaRPr lang="ko-KR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1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34C1C-6CA1-82C8-4CDA-94E3B4676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8A9564-312E-0FD3-6D3C-67B15E65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11F1B5-1B0D-8BF5-926F-3223455C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194E3-ECCC-B497-E05A-2BD6C609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33E84-018A-41AB-29BC-E72A6630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6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3F97D-4D10-598E-8C73-342519802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81550E-7511-C463-5583-0D876FFC3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C5B352-A50D-3BC9-B694-23C9F8D82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4CD17-3FE8-52ED-F794-3D35DCBC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2AF535-8D42-514C-00EC-6A1486FB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9743FC-2311-CD68-8B8E-F97203BF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24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FC06A-82F3-5904-F394-F9CDD6E50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318CF-BC33-F935-F6CD-13A00BA83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CD465E-A752-0E7D-D5BB-40DE89661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04E8D1-B03C-00F8-44EA-2B786F459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3B2877-2573-FE97-C475-C9B759603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34C113-7619-3F26-265F-B4A5266F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8173E9-C931-AFFD-7DE5-61E3FA4B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B94534-CD25-E26D-18AE-90FCB85A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47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DBF2A-25C2-7749-1A5B-210D7FAD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ED7F4A-82CF-45BE-2961-1C802B74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71A06E-8FC8-F58C-7EFC-3D435F03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DAC2FC-BECE-EF43-A758-A443DDAD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3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7F8F6C-22D8-8234-8311-23CD4143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2F1911-873E-6ADE-4687-68589815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2592C-6C36-B0E2-B475-D3E277C7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95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2BC32-0AF5-7A00-CF90-1C9796C8D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0C7ED-DC96-575A-C9DB-91D60A1E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44FDC8-DE02-DEA9-3356-A32F85EE1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82D284-7C3F-6BC6-3E56-B88D8BFF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CC361B-36A3-B838-0B01-3B2B1F09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DED124-20E0-FEDE-2686-8F8BAF1F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32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6ED0A-8C17-2BCE-02AE-9DDEF309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E3E6A8-4B7E-B0A1-26E3-072392596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941D15-5A5A-9A5D-E25B-872D83419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F024EA-2F49-1828-05EF-FF94D100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76C8F8-3C5F-2657-3881-70891A6B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D4256D-EAC8-EAF4-5056-DDDAC484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14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34E38-CC4C-CDCD-1EA9-C3653D6D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65D6E8-7439-1CBD-4BE2-7771FB24C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85CC1-F6C6-8AFF-C38A-8ADBB046F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5C79C6-3DD4-630B-8EB5-799A5C56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E79E66-1BC3-9F82-AC92-DF122206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39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5827EC-98CC-9055-0621-788AA57E5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39C88F-BB12-036D-EF0F-61B8B7167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465BF0-DCE1-1531-BCE2-CC2C1C4B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F551-5D5D-4583-BA25-E8C50B0B9B1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DC148-CF72-6A55-E09A-DDC5D8F4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5A57B0-2AE7-924D-7E8F-0E1ECA54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506C-E1C6-4FAB-A8D6-144B297588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69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1CD30C-F8F4-FFF3-EE53-ED228F21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FE641E-5436-A31D-F6A7-E1EDB78D8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8137F6-9454-221F-9F22-9514B7CB6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E8F500"/>
                </a:solidFill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fld id="{3D3CF551-5D5D-4583-BA25-E8C50B0B9B10}" type="datetimeFigureOut">
              <a:rPr lang="ko-KR" altLang="en-US" smtClean="0"/>
              <a:pPr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B6A91F-E92D-68D5-0116-4A696BF19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E8F500"/>
                </a:solidFill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97A9D-5D2B-515C-DF6D-D680AB424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8F500"/>
                </a:solidFill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fld id="{243D506C-E1C6-4FAB-A8D6-144B297588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94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E8F500"/>
          </a:solidFill>
          <a:latin typeface="Aptos" panose="020B0004020202020204" pitchFamily="34" charset="0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F500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8F500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8F500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F500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F500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D9834-0825-EBE8-D7C8-DE97B5ECD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/>
              <a:t>Animation</a:t>
            </a:r>
            <a:endParaRPr lang="ko-KR" altLang="en-US" b="1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F1AF98-6CEB-E302-0C0E-C6CC2031B5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>
                <a:solidFill>
                  <a:schemeClr val="bg1"/>
                </a:solidFill>
              </a:rPr>
              <a:t>Team 6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EC661F-15F2-D0AC-319F-F46E9074A030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93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D6AE3-0978-4707-C798-A12FBAD1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Contents</a:t>
            </a:r>
            <a:endParaRPr lang="ko-KR" altLang="en-US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F086DB-B4C3-6BD3-CE45-AEBED94F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>
                <a:ea typeface="Noto Sans KR"/>
              </a:rPr>
              <a:t>1. </a:t>
            </a:r>
            <a:r>
              <a:rPr lang="ko-KR" altLang="en-US" b="1" err="1">
                <a:solidFill>
                  <a:schemeClr val="bg1"/>
                </a:solidFill>
                <a:ea typeface="Noto Sans KR"/>
              </a:rPr>
              <a:t>More</a:t>
            </a:r>
            <a:r>
              <a:rPr lang="ko-KR" altLang="en-US" b="1">
                <a:solidFill>
                  <a:schemeClr val="bg1"/>
                </a:solidFill>
                <a:ea typeface="Noto Sans KR"/>
              </a:rPr>
              <a:t> </a:t>
            </a:r>
            <a:r>
              <a:rPr lang="ko-KR" altLang="en-US" b="1" err="1">
                <a:solidFill>
                  <a:schemeClr val="bg1"/>
                </a:solidFill>
                <a:ea typeface="Noto Sans KR"/>
              </a:rPr>
              <a:t>about</a:t>
            </a:r>
            <a:r>
              <a:rPr lang="ko-KR" altLang="en-US" b="1">
                <a:solidFill>
                  <a:schemeClr val="bg1"/>
                </a:solidFill>
                <a:ea typeface="Noto Sans KR"/>
              </a:rPr>
              <a:t> </a:t>
            </a:r>
            <a:r>
              <a:rPr lang="en-US" altLang="ko-KR" b="1">
                <a:ea typeface="Noto Sans KR"/>
              </a:rPr>
              <a:t>S</a:t>
            </a:r>
            <a:r>
              <a:rPr lang="ko-KR" altLang="en-US" b="1" err="1">
                <a:ea typeface="Noto Sans KR"/>
              </a:rPr>
              <a:t>kinning</a:t>
            </a:r>
            <a:endParaRPr lang="ko-KR" altLang="en-US" b="1">
              <a:ea typeface="Noto Sans KR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b="1">
                <a:ea typeface="Noto Sans KR"/>
              </a:rPr>
              <a:t>1-1.</a:t>
            </a:r>
            <a:r>
              <a:rPr lang="en-US" altLang="ko-KR" b="1">
                <a:solidFill>
                  <a:schemeClr val="bg1"/>
                </a:solidFill>
                <a:ea typeface="Noto Sans KR"/>
              </a:rPr>
              <a:t> </a:t>
            </a:r>
            <a:r>
              <a:rPr lang="ko-KR" altLang="en-US" b="1">
                <a:solidFill>
                  <a:schemeClr val="bg1"/>
                </a:solidFill>
                <a:ea typeface="Noto Sans KR"/>
              </a:rPr>
              <a:t>GPU </a:t>
            </a:r>
            <a:r>
              <a:rPr lang="ko-KR" altLang="en-US" b="1" err="1">
                <a:ea typeface="Noto Sans KR"/>
              </a:rPr>
              <a:t>Skinning</a:t>
            </a:r>
            <a:endParaRPr lang="ko-KR" altLang="en-US" b="1">
              <a:ea typeface="Noto Sans KR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b="1">
                <a:ea typeface="Noto Sans KR"/>
              </a:rPr>
              <a:t>1-2.</a:t>
            </a:r>
            <a:r>
              <a:rPr lang="en-US" altLang="ko-KR" b="1">
                <a:solidFill>
                  <a:schemeClr val="bg1"/>
                </a:solidFill>
                <a:ea typeface="Noto Sans KR"/>
              </a:rPr>
              <a:t> </a:t>
            </a:r>
            <a:r>
              <a:rPr lang="ko-KR" altLang="en-US" b="1" err="1">
                <a:solidFill>
                  <a:schemeClr val="bg1"/>
                </a:solidFill>
                <a:ea typeface="Noto Sans KR"/>
              </a:rPr>
              <a:t>Bone</a:t>
            </a:r>
            <a:r>
              <a:rPr lang="ko-KR" altLang="en-US" b="1">
                <a:solidFill>
                  <a:schemeClr val="bg1"/>
                </a:solidFill>
                <a:ea typeface="Noto Sans KR"/>
              </a:rPr>
              <a:t> </a:t>
            </a:r>
            <a:r>
              <a:rPr lang="ko-KR" altLang="en-US" b="1" err="1">
                <a:solidFill>
                  <a:schemeClr val="bg1"/>
                </a:solidFill>
                <a:ea typeface="Noto Sans KR"/>
              </a:rPr>
              <a:t>Weight</a:t>
            </a:r>
            <a:r>
              <a:rPr lang="ko-KR" altLang="en-US" b="1">
                <a:solidFill>
                  <a:schemeClr val="bg1"/>
                </a:solidFill>
                <a:ea typeface="Noto Sans KR"/>
              </a:rPr>
              <a:t> </a:t>
            </a:r>
            <a:r>
              <a:rPr lang="en-US" altLang="ko-KR" b="1">
                <a:ea typeface="Noto Sans KR"/>
              </a:rPr>
              <a:t>H</a:t>
            </a:r>
            <a:r>
              <a:rPr lang="ko-KR" altLang="en-US" b="1" err="1">
                <a:ea typeface="Noto Sans KR"/>
              </a:rPr>
              <a:t>eatmap</a:t>
            </a:r>
            <a:endParaRPr lang="ko-KR" altLang="en-US" b="1"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>
                <a:ea typeface="Noto Sans KR"/>
              </a:rPr>
              <a:t>2. </a:t>
            </a:r>
            <a:r>
              <a:rPr lang="ko-KR" altLang="en-US" b="1" err="1">
                <a:ea typeface="Noto Sans KR"/>
              </a:rPr>
              <a:t>Import</a:t>
            </a:r>
            <a:r>
              <a:rPr lang="ko-KR" altLang="en-US" b="1">
                <a:ea typeface="Noto Sans KR"/>
              </a:rPr>
              <a:t> </a:t>
            </a:r>
            <a:r>
              <a:rPr lang="ko-KR" altLang="en-US" b="1" err="1">
                <a:solidFill>
                  <a:schemeClr val="bg1"/>
                </a:solidFill>
                <a:ea typeface="Noto Sans KR"/>
              </a:rPr>
              <a:t>Animation</a:t>
            </a:r>
            <a:r>
              <a:rPr lang="ko-KR" altLang="en-US" b="1">
                <a:solidFill>
                  <a:schemeClr val="bg1"/>
                </a:solidFill>
                <a:ea typeface="Noto Sans KR"/>
              </a:rPr>
              <a:t> </a:t>
            </a:r>
            <a:r>
              <a:rPr lang="ko-KR" altLang="en-US" b="1" err="1">
                <a:solidFill>
                  <a:schemeClr val="bg1"/>
                </a:solidFill>
                <a:ea typeface="Noto Sans KR"/>
              </a:rPr>
              <a:t>from</a:t>
            </a:r>
            <a:r>
              <a:rPr lang="ko-KR" altLang="en-US" b="1">
                <a:solidFill>
                  <a:schemeClr val="bg1"/>
                </a:solidFill>
                <a:ea typeface="Noto Sans KR"/>
              </a:rPr>
              <a:t> FBX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>
                <a:ea typeface="Noto Sans KR"/>
              </a:rPr>
              <a:t>3.</a:t>
            </a:r>
            <a:r>
              <a:rPr lang="en-US" altLang="ko-KR" b="1">
                <a:solidFill>
                  <a:schemeClr val="bg1"/>
                </a:solidFill>
                <a:ea typeface="Noto Sans KR"/>
              </a:rPr>
              <a:t> Animation </a:t>
            </a:r>
            <a:r>
              <a:rPr lang="ko-KR" altLang="en-US" b="1">
                <a:ea typeface="Noto Sans KR"/>
              </a:rPr>
              <a:t>State </a:t>
            </a:r>
            <a:r>
              <a:rPr lang="ko-KR" altLang="en-US" b="1" err="1">
                <a:ea typeface="Noto Sans KR"/>
              </a:rPr>
              <a:t>Machine</a:t>
            </a:r>
            <a:endParaRPr lang="ko-KR" altLang="en-US" b="1"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>
                <a:ea typeface="Noto Sans KR"/>
              </a:rPr>
              <a:t>4. </a:t>
            </a:r>
            <a:r>
              <a:rPr lang="ko-KR" altLang="en-US" b="1">
                <a:ea typeface="Noto Sans KR"/>
              </a:rPr>
              <a:t>Reflection</a:t>
            </a:r>
            <a:endParaRPr lang="ko-KR" altLang="en-US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D113D2-FB9B-2D31-3D96-5F4E0993E495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1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3C67E-FF14-8003-9103-2E856E66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>
                <a:latin typeface="Aptos"/>
                <a:ea typeface="Noto Sans KR"/>
              </a:rPr>
              <a:t>GPU </a:t>
            </a:r>
            <a:r>
              <a:rPr lang="ko-KR" altLang="en-US" b="1" err="1">
                <a:latin typeface="Aptos"/>
                <a:ea typeface="Noto Sans KR"/>
              </a:rPr>
              <a:t>Skinning</a:t>
            </a:r>
            <a:endParaRPr lang="ko-KR" altLang="en-US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E4BC3-F1BD-DAA2-AB1B-B1DC21940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1.</a:t>
            </a:r>
            <a:r>
              <a:rPr lang="en-US" altLang="ko-KR" sz="2000">
                <a:latin typeface="Aptos"/>
                <a:ea typeface="Noto Sans KR"/>
              </a:rPr>
              <a:t> </a:t>
            </a:r>
            <a:r>
              <a:rPr lang="ko-KR" altLang="en-US" sz="2000" b="1" err="1">
                <a:latin typeface="Aptos"/>
                <a:ea typeface="Noto Sans KR"/>
              </a:rPr>
              <a:t>Skinning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은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bone과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vertex마다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행렬 연산을 수행하는 반복적인 작업이다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 b="1">
              <a:solidFill>
                <a:schemeClr val="bg1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☞ GPU로 가속하기 좋다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ko-KR" altLang="en-US" sz="200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2.</a:t>
            </a:r>
            <a:r>
              <a:rPr lang="en-US" altLang="ko-KR" sz="2000">
                <a:latin typeface="Aptos"/>
                <a:ea typeface="Noto Sans KR"/>
              </a:rPr>
              <a:t> </a:t>
            </a:r>
            <a:r>
              <a:rPr lang="ko-KR" altLang="en-US" sz="2000" b="1" err="1">
                <a:latin typeface="Aptos"/>
                <a:ea typeface="Noto Sans KR"/>
              </a:rPr>
              <a:t>Vertex</a:t>
            </a:r>
            <a:r>
              <a:rPr lang="ko-KR" altLang="en-US" sz="2000" b="1">
                <a:latin typeface="Aptos"/>
                <a:ea typeface="Noto Sans KR"/>
              </a:rPr>
              <a:t> </a:t>
            </a:r>
            <a:r>
              <a:rPr lang="ko-KR" altLang="en-US" sz="2000" b="1" err="1">
                <a:latin typeface="Aptos"/>
                <a:ea typeface="Noto Sans KR"/>
              </a:rPr>
              <a:t>Shader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에서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할 것인가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,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 b="1" err="1">
                <a:latin typeface="Aptos"/>
                <a:ea typeface="Noto Sans KR"/>
              </a:rPr>
              <a:t>Compute</a:t>
            </a:r>
            <a:r>
              <a:rPr lang="ko-KR" altLang="en-US" sz="2000" b="1">
                <a:latin typeface="Aptos"/>
                <a:ea typeface="Noto Sans KR"/>
              </a:rPr>
              <a:t> </a:t>
            </a:r>
            <a:r>
              <a:rPr lang="ko-KR" altLang="en-US" sz="2000" b="1" err="1">
                <a:latin typeface="Aptos"/>
                <a:ea typeface="Noto Sans KR"/>
              </a:rPr>
              <a:t>Shader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에서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할 것인가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?</a:t>
            </a:r>
            <a:endParaRPr lang="ko-KR" altLang="en-US" sz="2000" b="1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>
                <a:latin typeface="Aptos"/>
                <a:ea typeface="Noto Sans KR"/>
              </a:rPr>
              <a:t>Vertex Shader</a:t>
            </a: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  <a:p>
            <a:pPr lvl="2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ko-KR" altLang="en-US">
                <a:solidFill>
                  <a:schemeClr val="bg1"/>
                </a:solidFill>
                <a:latin typeface="Aptos"/>
                <a:ea typeface="Noto Sans KR"/>
              </a:rPr>
              <a:t>Instancing이 가능하다</a:t>
            </a:r>
            <a:r>
              <a:rPr lang="en-US" altLang="ko-KR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>
              <a:solidFill>
                <a:schemeClr val="bg1"/>
              </a:solidFill>
            </a:endParaRPr>
          </a:p>
          <a:p>
            <a:pPr lvl="2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ko-KR" altLang="en-US">
                <a:solidFill>
                  <a:schemeClr val="bg1"/>
                </a:solidFill>
                <a:latin typeface="Aptos"/>
                <a:ea typeface="Noto Sans KR"/>
              </a:rPr>
              <a:t>중복 연산이 발생한다</a:t>
            </a:r>
            <a:r>
              <a:rPr lang="en-US" altLang="ko-KR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>
              <a:solidFill>
                <a:schemeClr val="bg1"/>
              </a:solidFill>
              <a:latin typeface="Aptos"/>
              <a:ea typeface="Noto Sans KR"/>
            </a:endParaRP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 err="1">
                <a:latin typeface="Aptos"/>
                <a:ea typeface="Noto Sans KR"/>
              </a:rPr>
              <a:t>Compute</a:t>
            </a:r>
            <a:r>
              <a:rPr lang="ko-KR" altLang="en-US" sz="2000">
                <a:latin typeface="Aptos"/>
                <a:ea typeface="Noto Sans KR"/>
              </a:rPr>
              <a:t> Shader (Skin Cache)</a:t>
            </a:r>
            <a:endParaRPr lang="ko-KR" altLang="en-US" sz="2000">
              <a:solidFill>
                <a:schemeClr val="bg1"/>
              </a:solidFill>
            </a:endParaRPr>
          </a:p>
          <a:p>
            <a:pPr lvl="2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ko-KR" altLang="en-US">
                <a:solidFill>
                  <a:schemeClr val="bg1"/>
                </a:solidFill>
                <a:latin typeface="Aptos"/>
                <a:ea typeface="Noto Sans KR"/>
              </a:rPr>
              <a:t>Depth pre-pass, </a:t>
            </a:r>
            <a:r>
              <a:rPr lang="en-US" altLang="ko-KR">
                <a:solidFill>
                  <a:schemeClr val="bg1"/>
                </a:solidFill>
                <a:latin typeface="Aptos"/>
                <a:ea typeface="Noto Sans KR"/>
              </a:rPr>
              <a:t>s</a:t>
            </a:r>
            <a:r>
              <a:rPr lang="ko-KR" altLang="en-US">
                <a:solidFill>
                  <a:schemeClr val="bg1"/>
                </a:solidFill>
                <a:latin typeface="Aptos"/>
                <a:ea typeface="Noto Sans KR"/>
              </a:rPr>
              <a:t>hadow pass, </a:t>
            </a:r>
            <a:r>
              <a:rPr lang="en-US" altLang="ko-KR">
                <a:solidFill>
                  <a:schemeClr val="bg1"/>
                </a:solidFill>
                <a:latin typeface="Aptos"/>
                <a:ea typeface="Noto Sans KR"/>
              </a:rPr>
              <a:t>m</a:t>
            </a:r>
            <a:r>
              <a:rPr lang="ko-KR" altLang="en-US">
                <a:solidFill>
                  <a:schemeClr val="bg1"/>
                </a:solidFill>
                <a:latin typeface="Aptos"/>
                <a:ea typeface="Noto Sans KR"/>
              </a:rPr>
              <a:t>ain render pass 등에서 여러 번 재사용 가능하다</a:t>
            </a:r>
            <a:r>
              <a:rPr lang="en-US" altLang="ko-KR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>
              <a:solidFill>
                <a:schemeClr val="bg1"/>
              </a:solidFill>
              <a:latin typeface="Aptos"/>
              <a:ea typeface="Noto Sans KR"/>
            </a:endParaRPr>
          </a:p>
          <a:p>
            <a:pPr lvl="2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en-US" altLang="ko-KR">
                <a:solidFill>
                  <a:schemeClr val="bg1"/>
                </a:solidFill>
                <a:latin typeface="Aptos"/>
                <a:ea typeface="Noto Sans KR"/>
              </a:rPr>
              <a:t>Ray Tracing 연산을 위해 필수적</a:t>
            </a:r>
          </a:p>
          <a:p>
            <a:pPr lvl="2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ko-KR" altLang="en-US">
                <a:solidFill>
                  <a:schemeClr val="bg1"/>
                </a:solidFill>
                <a:latin typeface="Aptos"/>
                <a:ea typeface="Noto Sans KR"/>
              </a:rPr>
              <a:t>추가적인 메모리 사용이 필요하다</a:t>
            </a:r>
            <a:r>
              <a:rPr lang="en-US" altLang="ko-KR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>
              <a:solidFill>
                <a:schemeClr val="bg1"/>
              </a:solidFill>
              <a:latin typeface="Aptos"/>
              <a:ea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FF6890-5DB8-BAEC-FECC-0C71F6EEF249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69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0F11-0E73-1C00-5750-B11D5608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8F938D5-AF1D-8636-7EA3-EE1EFBAA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>
                <a:latin typeface="Aptos"/>
                <a:ea typeface="Noto Sans KR"/>
              </a:rPr>
              <a:t>GPU </a:t>
            </a:r>
            <a:r>
              <a:rPr lang="ko-KR" altLang="en-US" b="1" err="1">
                <a:latin typeface="Aptos"/>
                <a:ea typeface="Noto Sans KR"/>
              </a:rPr>
              <a:t>Skinning</a:t>
            </a:r>
            <a:endParaRPr lang="en-US" altLang="ko-KR" b="1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060522-B533-00F7-8973-CA1F3F4E2B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3.</a:t>
            </a:r>
            <a:r>
              <a:rPr lang="ko-KR" altLang="en-US" sz="2000" b="1">
                <a:latin typeface="Aptos"/>
                <a:ea typeface="Noto Sans KR"/>
              </a:rPr>
              <a:t> 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Per-Component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Skin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C</a:t>
            </a:r>
            <a:r>
              <a:rPr lang="ko-KR" altLang="en-US" sz="2000" b="1" err="1">
                <a:solidFill>
                  <a:schemeClr val="bg1"/>
                </a:solidFill>
                <a:latin typeface="Aptos"/>
                <a:ea typeface="Noto Sans KR"/>
              </a:rPr>
              <a:t>ache</a:t>
            </a:r>
            <a:endParaRPr lang="ko-KR" altLang="en-US" sz="2000" b="1">
              <a:solidFill>
                <a:schemeClr val="bg1"/>
              </a:solidFill>
              <a:latin typeface="Aptos"/>
              <a:ea typeface="Noto Sans KR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 컴포넌트 인스턴스마다 </a:t>
            </a:r>
            <a:r>
              <a:rPr lang="ko-KR" altLang="en-US" sz="2000">
                <a:latin typeface="Aptos"/>
                <a:ea typeface="Noto Sans KR"/>
              </a:rPr>
              <a:t>유저가 </a:t>
            </a:r>
            <a:br>
              <a:rPr lang="en-US" altLang="ko-KR" sz="2000">
                <a:latin typeface="Aptos"/>
                <a:ea typeface="Noto Sans KR"/>
              </a:rPr>
            </a:br>
            <a:r>
              <a:rPr lang="en-US" altLang="ko-KR" sz="2000">
                <a:latin typeface="Aptos"/>
                <a:ea typeface="Noto Sans KR"/>
              </a:rPr>
              <a:t>skin</a:t>
            </a:r>
            <a:r>
              <a:rPr lang="ko-KR" altLang="en-US" sz="2000">
                <a:latin typeface="Aptos"/>
                <a:ea typeface="Noto Sans KR"/>
              </a:rPr>
              <a:t> </a:t>
            </a:r>
            <a:r>
              <a:rPr lang="en-US" altLang="ko-KR" sz="2000">
                <a:latin typeface="Aptos"/>
                <a:ea typeface="Noto Sans KR"/>
              </a:rPr>
              <a:t>cache</a:t>
            </a:r>
            <a:r>
              <a:rPr lang="ko-KR" altLang="en-US" sz="2000">
                <a:latin typeface="Aptos"/>
                <a:ea typeface="Noto Sans KR"/>
              </a:rPr>
              <a:t> 여부를 선택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할 수 있도록 구현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4. </a:t>
            </a:r>
            <a:r>
              <a:rPr lang="ko-KR" altLang="en-US" sz="2000" b="1">
                <a:latin typeface="Aptos"/>
                <a:ea typeface="Noto Sans KR"/>
              </a:rPr>
              <a:t> 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GPU 메모리 통계</a:t>
            </a:r>
            <a:endParaRPr lang="ko-KR" sz="2000" b="1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>
                <a:latin typeface="Aptos"/>
                <a:ea typeface="Noto Sans KR"/>
              </a:rPr>
              <a:t>Skin </a:t>
            </a:r>
            <a:r>
              <a:rPr lang="en-US" altLang="ko-KR" sz="2000">
                <a:latin typeface="Aptos"/>
                <a:ea typeface="Noto Sans KR"/>
              </a:rPr>
              <a:t>c</a:t>
            </a:r>
            <a:r>
              <a:rPr lang="ko-KR" altLang="en-US" sz="2000">
                <a:latin typeface="Aptos"/>
                <a:ea typeface="Noto Sans KR"/>
              </a:rPr>
              <a:t>ache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를 사용할지 말지 판단할 </a:t>
            </a:r>
            <a:br>
              <a:rPr lang="en-US" altLang="ko-KR" sz="2000">
                <a:latin typeface="Aptos"/>
                <a:ea typeface="Noto Sans KR"/>
              </a:rPr>
            </a:b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기준점을 제공한다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680FE7-DE11-FCDC-3DCB-2D9670F5CB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43561" y="841777"/>
            <a:ext cx="4885133" cy="5335186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8E0E47-B577-6F7F-B669-140836FF532B}"/>
              </a:ext>
            </a:extLst>
          </p:cNvPr>
          <p:cNvSpPr/>
          <p:nvPr/>
        </p:nvSpPr>
        <p:spPr>
          <a:xfrm>
            <a:off x="6567713" y="3120571"/>
            <a:ext cx="2104571" cy="17598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BBC486-009C-86EF-37C3-1DA7B5966669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97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3773-A60E-ED80-F16E-2213F5D4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GPU</a:t>
            </a:r>
            <a:r>
              <a:rPr lang="ko-KR" altLang="en-US" b="1">
                <a:latin typeface="Aptos"/>
                <a:ea typeface="Noto Sans KR"/>
              </a:rPr>
              <a:t> </a:t>
            </a:r>
            <a:r>
              <a:rPr lang="en-US" altLang="ko-KR" b="1">
                <a:latin typeface="Aptos"/>
                <a:ea typeface="Noto Sans KR"/>
              </a:rPr>
              <a:t>Skinning</a:t>
            </a:r>
            <a:endParaRPr lang="en-US" b="1">
              <a:solidFill>
                <a:srgbClr val="000000"/>
              </a:solidFill>
              <a:latin typeface="Aptos"/>
              <a:ea typeface="Noto Sans KR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19D427C-BF15-3536-5F60-9B0379C62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10" y="1933524"/>
            <a:ext cx="2213602" cy="5504757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7B75E1-AB74-A42A-326D-714351776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431" y="1895811"/>
            <a:ext cx="2213602" cy="5542467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CEB19A-94C8-9C5D-323F-7D40A0584F43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A525A55-0A1C-C6FF-052E-2022810A5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103" y="1895810"/>
            <a:ext cx="2114724" cy="5542467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4F951A-00D6-22F2-E7AF-925FBF6289FE}"/>
              </a:ext>
            </a:extLst>
          </p:cNvPr>
          <p:cNvSpPr txBox="1"/>
          <p:nvPr/>
        </p:nvSpPr>
        <p:spPr>
          <a:xfrm>
            <a:off x="8675744" y="584509"/>
            <a:ext cx="3344596" cy="1191816"/>
          </a:xfrm>
          <a:prstGeom prst="roundRect">
            <a:avLst/>
          </a:prstGeom>
          <a:noFill/>
          <a:ln w="25400">
            <a:solidFill>
              <a:srgbClr val="E8F5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GPU</a:t>
            </a:r>
            <a:r>
              <a:rPr lang="en-US" alt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: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NVIDIA </a:t>
            </a:r>
            <a:r>
              <a:rPr lang="ko-KR" sz="1600" b="1" err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GeForce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RTX 5060</a:t>
            </a:r>
            <a:endParaRPr lang="ko-KR" sz="1600" b="1">
              <a:solidFill>
                <a:schemeClr val="bg1"/>
              </a:solidFill>
              <a:latin typeface="Aptos"/>
              <a:ea typeface="Noto Sans KR"/>
            </a:endParaRPr>
          </a:p>
          <a:p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CPU</a:t>
            </a:r>
            <a:r>
              <a:rPr lang="en-US" alt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: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Intel</a:t>
            </a:r>
            <a:r>
              <a:rPr lang="en-US" alt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®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Core</a:t>
            </a:r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™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i7-14700</a:t>
            </a:r>
          </a:p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ShadowMap Size: 256x256</a:t>
            </a:r>
            <a:endParaRPr lang="ko-KR" altLang="en-US" sz="1600" b="1">
              <a:solidFill>
                <a:schemeClr val="bg1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ShadowMap Count: 128</a:t>
            </a:r>
            <a:endParaRPr lang="ko-KR" altLang="en-US" sz="1600" b="1">
              <a:solidFill>
                <a:schemeClr val="bg1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14E97-C328-9A48-2E6D-33F7136FC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0655" y="2721743"/>
            <a:ext cx="2044317" cy="2134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335B5B-8C37-AA58-D1E2-01F158C37AA3}"/>
              </a:ext>
            </a:extLst>
          </p:cNvPr>
          <p:cNvSpPr txBox="1"/>
          <p:nvPr/>
        </p:nvSpPr>
        <p:spPr>
          <a:xfrm>
            <a:off x="9312138" y="1991277"/>
            <a:ext cx="1946201" cy="646986"/>
          </a:xfrm>
          <a:prstGeom prst="roundRect">
            <a:avLst/>
          </a:prstGeom>
          <a:noFill/>
          <a:ln w="25400">
            <a:solidFill>
              <a:srgbClr val="E8F5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Triangle: 13,807</a:t>
            </a:r>
            <a:endParaRPr lang="en-US" altLang="ko-KR"/>
          </a:p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Vertex: 9,636</a:t>
            </a:r>
            <a:endParaRPr 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89925-641C-7625-0D88-76E600D9E9B4}"/>
              </a:ext>
            </a:extLst>
          </p:cNvPr>
          <p:cNvSpPr txBox="1"/>
          <p:nvPr/>
        </p:nvSpPr>
        <p:spPr>
          <a:xfrm>
            <a:off x="1553306" y="1406071"/>
            <a:ext cx="11115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CPU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0682A-17BF-A403-4368-F0481355DDAE}"/>
              </a:ext>
            </a:extLst>
          </p:cNvPr>
          <p:cNvSpPr txBox="1"/>
          <p:nvPr/>
        </p:nvSpPr>
        <p:spPr>
          <a:xfrm>
            <a:off x="3403878" y="1246972"/>
            <a:ext cx="25686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GPU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(Skin Cache Off)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AA7DA-C43C-ED8A-C38C-A4DB38A6A22A}"/>
              </a:ext>
            </a:extLst>
          </p:cNvPr>
          <p:cNvSpPr txBox="1"/>
          <p:nvPr/>
        </p:nvSpPr>
        <p:spPr>
          <a:xfrm>
            <a:off x="5882471" y="1246972"/>
            <a:ext cx="25686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GPU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(Skin Cache On)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F0E2C-A638-DF3D-736D-0271ADA28AD3}"/>
              </a:ext>
            </a:extLst>
          </p:cNvPr>
          <p:cNvSpPr txBox="1"/>
          <p:nvPr/>
        </p:nvSpPr>
        <p:spPr>
          <a:xfrm>
            <a:off x="8944428" y="5687785"/>
            <a:ext cx="29609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solidFill>
                  <a:schemeClr val="bg1"/>
                </a:solidFill>
                <a:ea typeface="맑은 고딕"/>
              </a:rPr>
              <a:t>FrameTime</a:t>
            </a:r>
            <a:r>
              <a:rPr lang="en-US">
                <a:solidFill>
                  <a:schemeClr val="bg1"/>
                </a:solidFill>
                <a:ea typeface="맑은 고딕"/>
              </a:rPr>
              <a:t> 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약</a:t>
            </a:r>
            <a:r>
              <a:rPr lang="en-US">
                <a:solidFill>
                  <a:schemeClr val="bg1"/>
                </a:solidFill>
                <a:ea typeface="맑은 고딕"/>
              </a:rPr>
              <a:t> 0.7ms 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감소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599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0778-9D20-AD60-D937-10E15873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EADCA0D-CAF8-46DA-24ED-09964A44C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46" y="1940379"/>
            <a:ext cx="2221592" cy="5635171"/>
          </a:xfrm>
          <a:prstGeom prst="rect">
            <a:avLst/>
          </a:prstGeom>
          <a:ln w="28575">
            <a:solidFill>
              <a:srgbClr val="E8F50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12AFB5-1B06-2EE3-BB75-0A9650475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823" y="1900690"/>
            <a:ext cx="2212067" cy="5551261"/>
          </a:xfrm>
          <a:prstGeom prst="rect">
            <a:avLst/>
          </a:prstGeom>
          <a:ln w="28575">
            <a:solidFill>
              <a:srgbClr val="E8F5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3C182A-8558-CAB0-4C1E-1DFEFFA44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037" y="1901144"/>
            <a:ext cx="2066925" cy="5305425"/>
          </a:xfrm>
          <a:prstGeom prst="rect">
            <a:avLst/>
          </a:prstGeom>
          <a:ln w="28575">
            <a:solidFill>
              <a:srgbClr val="E8F5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194CF3-BE3C-4CB0-0B9C-5484FF86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GPU</a:t>
            </a:r>
            <a:r>
              <a:rPr lang="ko-KR" altLang="en-US" b="1">
                <a:latin typeface="Aptos"/>
                <a:ea typeface="Noto Sans KR"/>
              </a:rPr>
              <a:t> </a:t>
            </a:r>
            <a:r>
              <a:rPr lang="en-US" altLang="ko-KR" b="1">
                <a:latin typeface="Aptos"/>
                <a:ea typeface="Noto Sans KR"/>
              </a:rPr>
              <a:t>Skinning</a:t>
            </a:r>
            <a:endParaRPr lang="en-US" b="1">
              <a:solidFill>
                <a:srgbClr val="000000"/>
              </a:solidFill>
              <a:latin typeface="Aptos"/>
              <a:ea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BB4F3F-A9D1-D888-C6F0-EC732ACEC131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04A42-71E8-9BD6-289E-3EF0756ADE03}"/>
              </a:ext>
            </a:extLst>
          </p:cNvPr>
          <p:cNvSpPr txBox="1"/>
          <p:nvPr/>
        </p:nvSpPr>
        <p:spPr>
          <a:xfrm>
            <a:off x="8675744" y="584509"/>
            <a:ext cx="3344596" cy="1191816"/>
          </a:xfrm>
          <a:prstGeom prst="roundRect">
            <a:avLst/>
          </a:prstGeom>
          <a:noFill/>
          <a:ln w="25400">
            <a:solidFill>
              <a:srgbClr val="E8F5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GPU</a:t>
            </a:r>
            <a:r>
              <a:rPr lang="en-US" alt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: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NVIDIA </a:t>
            </a:r>
            <a:r>
              <a:rPr lang="ko-KR" sz="1600" b="1" err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GeForce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RTX 5060</a:t>
            </a:r>
            <a:endParaRPr lang="ko-KR" sz="1600" b="1">
              <a:solidFill>
                <a:schemeClr val="bg1"/>
              </a:solidFill>
              <a:latin typeface="Aptos"/>
              <a:ea typeface="Noto Sans KR"/>
            </a:endParaRPr>
          </a:p>
          <a:p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CPU</a:t>
            </a:r>
            <a:r>
              <a:rPr lang="en-US" alt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: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Intel</a:t>
            </a:r>
            <a:r>
              <a:rPr lang="en-US" alt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®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Core</a:t>
            </a:r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™</a:t>
            </a:r>
            <a:r>
              <a:rPr lang="ko-KR" sz="1600" b="1">
                <a:solidFill>
                  <a:schemeClr val="bg1"/>
                </a:solidFill>
                <a:latin typeface="Aptos"/>
                <a:ea typeface="Noto Sans KR"/>
                <a:cs typeface="+mn-lt"/>
              </a:rPr>
              <a:t> i7-14700</a:t>
            </a:r>
          </a:p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ShadowMap Size: 256x256</a:t>
            </a:r>
            <a:endParaRPr lang="ko-KR" altLang="en-US" sz="1600" b="1">
              <a:solidFill>
                <a:schemeClr val="bg1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ShadowMap Count: 128</a:t>
            </a:r>
            <a:endParaRPr lang="ko-KR" altLang="en-US" sz="1600" b="1">
              <a:solidFill>
                <a:schemeClr val="bg1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EE28F-378A-7886-121C-6F193AE25F52}"/>
              </a:ext>
            </a:extLst>
          </p:cNvPr>
          <p:cNvSpPr txBox="1"/>
          <p:nvPr/>
        </p:nvSpPr>
        <p:spPr>
          <a:xfrm>
            <a:off x="9260184" y="1973959"/>
            <a:ext cx="2128041" cy="646986"/>
          </a:xfrm>
          <a:prstGeom prst="roundRect">
            <a:avLst/>
          </a:prstGeom>
          <a:noFill/>
          <a:ln w="25400">
            <a:solidFill>
              <a:srgbClr val="E8F5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Triangle: 1,035,930</a:t>
            </a:r>
            <a:endParaRPr lang="en-US" altLang="ko-KR">
              <a:solidFill>
                <a:schemeClr val="bg1"/>
              </a:solidFill>
            </a:endParaRPr>
          </a:p>
          <a:p>
            <a:r>
              <a:rPr lang="ko-KR" altLang="en-US" sz="1600" b="1">
                <a:solidFill>
                  <a:schemeClr val="bg1"/>
                </a:solidFill>
                <a:latin typeface="Aptos"/>
                <a:ea typeface="Noto Sans KR"/>
              </a:rPr>
              <a:t>Vertex: 517,972</a:t>
            </a:r>
            <a:endParaRPr lang="ko-KR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EE2A5-CC4E-8570-100E-33BD29560B1D}"/>
              </a:ext>
            </a:extLst>
          </p:cNvPr>
          <p:cNvSpPr txBox="1"/>
          <p:nvPr/>
        </p:nvSpPr>
        <p:spPr>
          <a:xfrm>
            <a:off x="1553306" y="1406071"/>
            <a:ext cx="11115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CPU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D5A1E-492A-355D-A20A-B9826675972B}"/>
              </a:ext>
            </a:extLst>
          </p:cNvPr>
          <p:cNvSpPr txBox="1"/>
          <p:nvPr/>
        </p:nvSpPr>
        <p:spPr>
          <a:xfrm>
            <a:off x="3403878" y="1246972"/>
            <a:ext cx="25686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GPU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(Skin Cache Off)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3BC5E-CAE1-6F48-A2D4-D078F6C90A86}"/>
              </a:ext>
            </a:extLst>
          </p:cNvPr>
          <p:cNvSpPr txBox="1"/>
          <p:nvPr/>
        </p:nvSpPr>
        <p:spPr>
          <a:xfrm>
            <a:off x="5882471" y="1246972"/>
            <a:ext cx="25686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GPU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맑은 고딕"/>
              </a:rPr>
              <a:t>(Skin Cache On)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7A666-9089-1061-1E84-86E462098744}"/>
              </a:ext>
            </a:extLst>
          </p:cNvPr>
          <p:cNvSpPr txBox="1"/>
          <p:nvPr/>
        </p:nvSpPr>
        <p:spPr>
          <a:xfrm>
            <a:off x="8944428" y="5687785"/>
            <a:ext cx="296091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solidFill>
                  <a:schemeClr val="bg1"/>
                </a:solidFill>
                <a:ea typeface="맑은 고딕"/>
              </a:rPr>
              <a:t>FrameTime</a:t>
            </a:r>
            <a:r>
              <a:rPr lang="en-US">
                <a:solidFill>
                  <a:schemeClr val="bg1"/>
                </a:solidFill>
                <a:ea typeface="맑은 고딕"/>
              </a:rPr>
              <a:t> 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약</a:t>
            </a:r>
            <a:r>
              <a:rPr lang="en-US">
                <a:solidFill>
                  <a:schemeClr val="bg1"/>
                </a:solidFill>
                <a:ea typeface="맑은 고딕"/>
              </a:rPr>
              <a:t> 2.2ms </a:t>
            </a:r>
            <a:r>
              <a:rPr lang="ko-KR" altLang="en-US">
                <a:solidFill>
                  <a:schemeClr val="bg1"/>
                </a:solidFill>
                <a:ea typeface="맑은 고딕"/>
              </a:rPr>
              <a:t>감소</a:t>
            </a:r>
          </a:p>
          <a:p>
            <a:pPr algn="ctr"/>
            <a:r>
              <a:rPr lang="ko-KR" altLang="en-US">
                <a:solidFill>
                  <a:schemeClr val="bg1"/>
                </a:solidFill>
                <a:ea typeface="맑은 고딕"/>
              </a:rPr>
              <a:t>High-poly 모델에서 </a:t>
            </a:r>
          </a:p>
          <a:p>
            <a:pPr algn="ctr"/>
            <a:r>
              <a:rPr lang="ko-KR" altLang="en-US">
                <a:solidFill>
                  <a:schemeClr val="bg1"/>
                </a:solidFill>
                <a:ea typeface="맑은 고딕"/>
              </a:rPr>
              <a:t>더 효과적인 경향성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E6427A-1C38-A663-EF96-E6690459D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3590" y="2862715"/>
            <a:ext cx="2326822" cy="201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B7A6-6B87-F71A-849B-0EF676A8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</a:rPr>
              <a:t>Bone Weight Heatmap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D1B36-FFB0-3F2B-652C-0CE730E2B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62150"/>
            <a:ext cx="4752975" cy="42148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1.</a:t>
            </a:r>
            <a:r>
              <a:rPr lang="en-US" altLang="ko-KR" sz="2000">
                <a:latin typeface="Aptos"/>
                <a:ea typeface="Noto Sans KR"/>
              </a:rPr>
              <a:t> 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임포트한 </a:t>
            </a:r>
            <a:r>
              <a:rPr lang="ko-KR" altLang="en-US" sz="2000" err="1">
                <a:solidFill>
                  <a:schemeClr val="bg1"/>
                </a:solidFill>
                <a:latin typeface="Aptos"/>
                <a:ea typeface="Noto Sans KR"/>
              </a:rPr>
              <a:t>SkeletalMesh가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br>
              <a:rPr lang="en-US" altLang="ko-KR" sz="2000">
                <a:latin typeface="Aptos"/>
                <a:ea typeface="Noto Sans KR"/>
              </a:rPr>
            </a:br>
            <a:r>
              <a:rPr lang="ko-KR" altLang="en-US" sz="2000">
                <a:latin typeface="Aptos"/>
                <a:ea typeface="Noto Sans KR"/>
              </a:rPr>
              <a:t>제대로 </a:t>
            </a:r>
            <a:r>
              <a:rPr lang="ko-KR" altLang="en-US" sz="2000" err="1">
                <a:latin typeface="Aptos"/>
                <a:ea typeface="Noto Sans KR"/>
              </a:rPr>
              <a:t>리깅이</a:t>
            </a:r>
            <a:r>
              <a:rPr lang="ko-KR" altLang="en-US" sz="2000">
                <a:latin typeface="Aptos"/>
                <a:ea typeface="Noto Sans KR"/>
              </a:rPr>
              <a:t> 되었는지 확인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하는 기능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  <a:p>
            <a:pPr>
              <a:lnSpc>
                <a:spcPct val="150000"/>
              </a:lnSpc>
            </a:pP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2.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원본 메시를 확인할 수 있도록 </a:t>
            </a:r>
            <a:br>
              <a:rPr lang="en-US" altLang="ko-KR" sz="2000">
                <a:latin typeface="Aptos"/>
                <a:ea typeface="Noto Sans KR"/>
              </a:rPr>
            </a:br>
            <a:r>
              <a:rPr lang="en-US" altLang="ko-KR" sz="2000">
                <a:latin typeface="Aptos"/>
                <a:ea typeface="Noto Sans KR"/>
              </a:rPr>
              <a:t>o</a:t>
            </a:r>
            <a:r>
              <a:rPr lang="ko-KR" altLang="en-US" sz="2000">
                <a:latin typeface="Aptos"/>
                <a:ea typeface="Noto Sans KR"/>
              </a:rPr>
              <a:t>pacity 조절 가능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한 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o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verlay로 제공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F1FA79-2940-89FB-0C6B-6A9C130B64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20602" y="1962150"/>
            <a:ext cx="5333198" cy="4005263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AFCE2FB-3454-BB4D-F868-23934F801B51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40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544D-F864-E53C-79E2-6FC3A4A1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  <a:ea typeface="Noto Sans KR"/>
              </a:rPr>
              <a:t>Import Animation from FBX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40285-E535-B076-F03D-89B4BBC28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7918" y="1921629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1.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 EvaluateGlobalTransform(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)</a:t>
            </a:r>
            <a:endParaRPr lang="ko-KR" altLang="en-US" sz="2000" b="1">
              <a:solidFill>
                <a:schemeClr val="bg1"/>
              </a:solidFill>
              <a:latin typeface="Aptos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 매 프레임 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bone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마다 </a:t>
            </a:r>
            <a:r>
              <a:rPr lang="ko-KR" sz="2000">
                <a:latin typeface="Aptos"/>
                <a:ea typeface="Noto Sans KR"/>
              </a:rPr>
              <a:t>샘플링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을 수행한다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  <a:p>
            <a:pPr>
              <a:lnSpc>
                <a:spcPct val="150000"/>
              </a:lnSpc>
            </a:pP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2.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단일 키프레임 압축</a:t>
            </a:r>
            <a:endParaRPr lang="ko-KR" altLang="en-US" sz="2000" b="1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모든 프레임의 값이 동일한 트랙은 </a:t>
            </a:r>
            <a:b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</a:b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단일 키프레임으로 압축하여</a:t>
            </a:r>
            <a:b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</a:br>
            <a:r>
              <a:rPr lang="ko-KR" altLang="en-US" sz="2000">
                <a:latin typeface="Aptos"/>
                <a:ea typeface="Noto Sans KR"/>
              </a:rPr>
              <a:t>연산량을 절감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한다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20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FC3C36-C677-ACD9-61F0-4252EE479BB8}"/>
              </a:ext>
            </a:extLst>
          </p:cNvPr>
          <p:cNvSpPr/>
          <p:nvPr/>
        </p:nvSpPr>
        <p:spPr>
          <a:xfrm>
            <a:off x="8998398" y="2108476"/>
            <a:ext cx="2477647" cy="530506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latin typeface="Aptos" panose="020B0004020202020204" pitchFamily="34" charset="0"/>
                <a:ea typeface="맑은 고딕"/>
              </a:rPr>
              <a:t>FbxAnimStack</a:t>
            </a:r>
            <a:endParaRPr lang="en-US" b="1">
              <a:latin typeface="Aptos" panose="020B0004020202020204" pitchFamily="34" charset="0"/>
              <a:ea typeface="맑은 고딕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137C86-6646-B2E8-3E91-CB707CDBF77B}"/>
              </a:ext>
            </a:extLst>
          </p:cNvPr>
          <p:cNvSpPr/>
          <p:nvPr/>
        </p:nvSpPr>
        <p:spPr>
          <a:xfrm>
            <a:off x="8998397" y="2924904"/>
            <a:ext cx="2477647" cy="530506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err="1">
                <a:latin typeface="Aptos" panose="020B0004020202020204" pitchFamily="34" charset="0"/>
                <a:ea typeface="맑은 고딕"/>
              </a:rPr>
              <a:t>FbxAnimLayer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D1BB2C-1AB7-06B7-3AB7-A14FE6873F84}"/>
              </a:ext>
            </a:extLst>
          </p:cNvPr>
          <p:cNvSpPr/>
          <p:nvPr/>
        </p:nvSpPr>
        <p:spPr>
          <a:xfrm>
            <a:off x="8998396" y="3832046"/>
            <a:ext cx="2477646" cy="530506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err="1">
                <a:latin typeface="Aptos" panose="020B0004020202020204" pitchFamily="34" charset="0"/>
                <a:ea typeface="맑은 고딕"/>
              </a:rPr>
              <a:t>FbxAnimCurveNode</a:t>
            </a:r>
            <a:endParaRPr lang="en-US" b="1">
              <a:latin typeface="Aptos" panose="020B0004020202020204" pitchFamily="34" charset="0"/>
              <a:ea typeface="맑은 고딕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F6A7D1-7BA1-A90F-E0D9-DDC5205F16E4}"/>
              </a:ext>
            </a:extLst>
          </p:cNvPr>
          <p:cNvSpPr/>
          <p:nvPr/>
        </p:nvSpPr>
        <p:spPr>
          <a:xfrm>
            <a:off x="8998395" y="4675688"/>
            <a:ext cx="2477647" cy="530506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err="1">
                <a:latin typeface="Aptos" panose="020B0004020202020204" pitchFamily="34" charset="0"/>
                <a:ea typeface="맑은 고딕"/>
              </a:rPr>
              <a:t>FbxAnimCurve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94891A-7C7D-FAB6-1CB5-0F95D2AC1A6C}"/>
              </a:ext>
            </a:extLst>
          </p:cNvPr>
          <p:cNvSpPr/>
          <p:nvPr/>
        </p:nvSpPr>
        <p:spPr>
          <a:xfrm>
            <a:off x="8998394" y="5510259"/>
            <a:ext cx="2477647" cy="530506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err="1">
                <a:latin typeface="Aptos" panose="020B0004020202020204" pitchFamily="34" charset="0"/>
                <a:ea typeface="맑은 고딕"/>
              </a:rPr>
              <a:t>FbxAnimCurveKey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456CD6-EB4E-C479-92E0-D5E8968F98D2}"/>
              </a:ext>
            </a:extLst>
          </p:cNvPr>
          <p:cNvSpPr/>
          <p:nvPr/>
        </p:nvSpPr>
        <p:spPr>
          <a:xfrm>
            <a:off x="4844142" y="5288642"/>
            <a:ext cx="2657928" cy="752928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ptos" panose="020B0004020202020204" pitchFamily="34" charset="0"/>
                <a:ea typeface="맑은 고딕"/>
              </a:rPr>
              <a:t>Bone </a:t>
            </a:r>
            <a:r>
              <a:rPr lang="en-US" b="1" err="1">
                <a:latin typeface="Aptos" panose="020B0004020202020204" pitchFamily="34" charset="0"/>
                <a:ea typeface="맑은 고딕"/>
              </a:rPr>
              <a:t>Transfrom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9B08B671-E363-DE6F-4581-6B56DB6EEE07}"/>
              </a:ext>
            </a:extLst>
          </p:cNvPr>
          <p:cNvCxnSpPr>
            <a:stCxn id="9" idx="1"/>
            <a:endCxn id="14" idx="0"/>
          </p:cNvCxnSpPr>
          <p:nvPr/>
        </p:nvCxnSpPr>
        <p:spPr>
          <a:xfrm rot="10800000" flipV="1">
            <a:off x="6173106" y="4097298"/>
            <a:ext cx="2825290" cy="1191343"/>
          </a:xfrm>
          <a:prstGeom prst="bentConnector2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DE921E-4FD7-3001-E36C-B01A7A909A13}"/>
              </a:ext>
            </a:extLst>
          </p:cNvPr>
          <p:cNvSpPr txBox="1"/>
          <p:nvPr/>
        </p:nvSpPr>
        <p:spPr>
          <a:xfrm>
            <a:off x="5779112" y="3612496"/>
            <a:ext cx="2959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E8F500"/>
                </a:solidFill>
                <a:latin typeface="Aptos" panose="020B0004020202020204" pitchFamily="34" charset="0"/>
              </a:rPr>
              <a:t>EvaluateGlobalTransform()</a:t>
            </a:r>
            <a:endParaRPr lang="en-US" altLang="ko-KR" b="1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306823-2F0F-77A4-7FDB-39C179AC8825}"/>
              </a:ext>
            </a:extLst>
          </p:cNvPr>
          <p:cNvSpPr/>
          <p:nvPr/>
        </p:nvSpPr>
        <p:spPr>
          <a:xfrm>
            <a:off x="8824916" y="2826659"/>
            <a:ext cx="2884713" cy="33292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DB3023-993C-526D-3EF2-3EFE6A4EC821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92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F3C7-E993-BC7E-22BD-A4B96E6A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Import Animation from FBX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9F99-1B7F-7D2D-7246-933B8ABA2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>
                <a:solidFill>
                  <a:schemeClr val="bg1"/>
                </a:solidFill>
              </a:rPr>
              <a:t> </a:t>
            </a:r>
            <a:r>
              <a:rPr lang="en-US" altLang="ko-KR" sz="2400" b="1">
                <a:solidFill>
                  <a:schemeClr val="bg1"/>
                </a:solidFill>
              </a:rPr>
              <a:t>Q. </a:t>
            </a:r>
            <a:r>
              <a:rPr lang="en-US" altLang="ko-KR" sz="2400" err="1"/>
              <a:t>FbxNode</a:t>
            </a:r>
            <a:r>
              <a:rPr lang="en-US" altLang="ko-KR" sz="2400"/>
              <a:t>::EvaluateGlobalTransform(</a:t>
            </a:r>
            <a:r>
              <a:rPr lang="ko-KR" altLang="en-US" sz="2400"/>
              <a:t> </a:t>
            </a:r>
            <a:r>
              <a:rPr lang="en-US" altLang="ko-KR" sz="2400"/>
              <a:t>)</a:t>
            </a:r>
            <a:r>
              <a:rPr lang="en-US" altLang="ko-KR" sz="2400">
                <a:solidFill>
                  <a:schemeClr val="bg1"/>
                </a:solidFill>
              </a:rPr>
              <a:t>를 </a:t>
            </a:r>
            <a:r>
              <a:rPr lang="ko-KR" altLang="en-US" sz="2400" b="1"/>
              <a:t>왜</a:t>
            </a:r>
            <a:r>
              <a:rPr lang="ko-KR" altLang="en-US" sz="2400">
                <a:solidFill>
                  <a:schemeClr val="bg1"/>
                </a:solidFill>
              </a:rPr>
              <a:t> 사용하는가</a:t>
            </a:r>
            <a:r>
              <a:rPr lang="en-US" altLang="ko-KR" sz="2400">
                <a:solidFill>
                  <a:schemeClr val="bg1"/>
                </a:solidFill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sz="200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sz="2000">
                <a:solidFill>
                  <a:schemeClr val="bg1"/>
                </a:solidFill>
              </a:rPr>
              <a:t>매 프레임 </a:t>
            </a:r>
            <a:r>
              <a:rPr lang="en-US" altLang="ko-KR" sz="2000">
                <a:solidFill>
                  <a:schemeClr val="bg1"/>
                </a:solidFill>
              </a:rPr>
              <a:t>b</a:t>
            </a:r>
            <a:r>
              <a:rPr lang="ko-KR" sz="2000" err="1">
                <a:solidFill>
                  <a:schemeClr val="bg1"/>
                </a:solidFill>
              </a:rPr>
              <a:t>ezier</a:t>
            </a:r>
            <a:r>
              <a:rPr lang="ko-KR" sz="2000">
                <a:solidFill>
                  <a:schemeClr val="bg1"/>
                </a:solidFill>
              </a:rPr>
              <a:t> </a:t>
            </a:r>
            <a:r>
              <a:rPr lang="en-US" altLang="ko-KR" sz="2000">
                <a:solidFill>
                  <a:schemeClr val="bg1"/>
                </a:solidFill>
              </a:rPr>
              <a:t>c</a:t>
            </a:r>
            <a:r>
              <a:rPr lang="ko-KR" sz="2000" err="1">
                <a:solidFill>
                  <a:schemeClr val="bg1"/>
                </a:solidFill>
              </a:rPr>
              <a:t>urve를</a:t>
            </a:r>
            <a:r>
              <a:rPr lang="ko-KR" sz="2000">
                <a:solidFill>
                  <a:schemeClr val="bg1"/>
                </a:solidFill>
              </a:rPr>
              <a:t> 평가하는 것은 </a:t>
            </a:r>
            <a:r>
              <a:rPr lang="ko-KR" sz="2000"/>
              <a:t>비효율적</a:t>
            </a:r>
            <a:r>
              <a:rPr lang="ko-KR" altLang="en-US" sz="2000">
                <a:solidFill>
                  <a:schemeClr val="bg1"/>
                </a:solidFill>
              </a:rPr>
              <a:t>이다</a:t>
            </a:r>
            <a:r>
              <a:rPr lang="en-US" altLang="ko-KR" sz="2000">
                <a:solidFill>
                  <a:schemeClr val="bg1"/>
                </a:solidFill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  <a:p>
            <a:pPr lvl="2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altLang="ko-KR">
                <a:solidFill>
                  <a:schemeClr val="bg1"/>
                </a:solidFill>
              </a:rPr>
              <a:t>Bezier</a:t>
            </a:r>
            <a:r>
              <a:rPr lang="ko-KR" altLang="en-US">
                <a:solidFill>
                  <a:schemeClr val="bg1"/>
                </a:solidFill>
              </a:rPr>
              <a:t> </a:t>
            </a:r>
            <a:r>
              <a:rPr lang="en-US" altLang="ko-KR" err="1">
                <a:solidFill>
                  <a:schemeClr val="bg1"/>
                </a:solidFill>
              </a:rPr>
              <a:t>curve를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r>
              <a:rPr lang="en-US" altLang="ko-KR" err="1">
                <a:solidFill>
                  <a:schemeClr val="bg1"/>
                </a:solidFill>
              </a:rPr>
              <a:t>평가하기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r>
              <a:rPr lang="en-US" altLang="ko-KR" err="1">
                <a:solidFill>
                  <a:schemeClr val="bg1"/>
                </a:solidFill>
              </a:rPr>
              <a:t>위해서는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r>
              <a:rPr lang="en-US" altLang="ko-KR"/>
              <a:t>3차 </a:t>
            </a:r>
            <a:r>
              <a:rPr lang="en-US" altLang="ko-KR" err="1"/>
              <a:t>다항식</a:t>
            </a:r>
            <a:r>
              <a:rPr lang="en-US" altLang="ko-KR"/>
              <a:t> </a:t>
            </a:r>
            <a:r>
              <a:rPr lang="en-US" altLang="ko-KR" err="1"/>
              <a:t>계산</a:t>
            </a:r>
            <a:r>
              <a:rPr lang="ko-KR" altLang="en-US"/>
              <a:t>이 필요</a:t>
            </a:r>
            <a:r>
              <a:rPr lang="ko-KR" altLang="en-US">
                <a:solidFill>
                  <a:schemeClr val="bg1"/>
                </a:solidFill>
              </a:rPr>
              <a:t>하다</a:t>
            </a:r>
            <a:r>
              <a:rPr lang="en-US" altLang="ko-KR">
                <a:solidFill>
                  <a:schemeClr val="bg1"/>
                </a:solidFill>
              </a:rPr>
              <a:t>.</a:t>
            </a:r>
          </a:p>
          <a:p>
            <a:pPr lvl="2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altLang="ko-KR" err="1">
                <a:solidFill>
                  <a:schemeClr val="bg1"/>
                </a:solidFill>
              </a:rPr>
              <a:t>반면</a:t>
            </a:r>
            <a:r>
              <a:rPr lang="en-US" altLang="ko-KR">
                <a:solidFill>
                  <a:schemeClr val="bg1"/>
                </a:solidFill>
              </a:rPr>
              <a:t>, </a:t>
            </a:r>
            <a:r>
              <a:rPr lang="en-US" altLang="ko-KR" err="1">
                <a:solidFill>
                  <a:schemeClr val="bg1"/>
                </a:solidFill>
              </a:rPr>
              <a:t>매프레임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r>
              <a:rPr lang="en-US" altLang="ko-KR" err="1"/>
              <a:t>샘플링</a:t>
            </a:r>
            <a:r>
              <a:rPr lang="en-US" altLang="ko-KR" err="1">
                <a:solidFill>
                  <a:schemeClr val="bg1"/>
                </a:solidFill>
              </a:rPr>
              <a:t>된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r>
              <a:rPr lang="en-US" altLang="ko-KR" err="1">
                <a:solidFill>
                  <a:schemeClr val="bg1"/>
                </a:solidFill>
              </a:rPr>
              <a:t>데이터가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r>
              <a:rPr lang="en-US" altLang="ko-KR" err="1">
                <a:solidFill>
                  <a:schemeClr val="bg1"/>
                </a:solidFill>
              </a:rPr>
              <a:t>있다면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r>
              <a:rPr lang="en-US" altLang="ko-KR"/>
              <a:t>1차식만으로 </a:t>
            </a:r>
            <a:r>
              <a:rPr lang="en-US" altLang="ko-KR" err="1"/>
              <a:t>계산</a:t>
            </a:r>
            <a:r>
              <a:rPr lang="ko-KR" altLang="en-US"/>
              <a:t>이 가능</a:t>
            </a:r>
            <a:r>
              <a:rPr lang="ko-KR" altLang="en-US">
                <a:solidFill>
                  <a:schemeClr val="bg1"/>
                </a:solidFill>
              </a:rPr>
              <a:t>하다</a:t>
            </a:r>
            <a:r>
              <a:rPr lang="en-US" altLang="ko-KR">
                <a:solidFill>
                  <a:schemeClr val="bg1"/>
                </a:solidFill>
              </a:rPr>
              <a:t>.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2000" err="1">
                <a:solidFill>
                  <a:schemeClr val="bg1"/>
                </a:solidFill>
              </a:rPr>
              <a:t>PreRotation</a:t>
            </a:r>
            <a:r>
              <a:rPr lang="ko-KR" altLang="en-US" sz="2000">
                <a:solidFill>
                  <a:schemeClr val="bg1"/>
                </a:solidFill>
              </a:rPr>
              <a:t>, </a:t>
            </a:r>
            <a:r>
              <a:rPr lang="ko-KR" altLang="en-US" sz="2000" err="1">
                <a:solidFill>
                  <a:schemeClr val="bg1"/>
                </a:solidFill>
              </a:rPr>
              <a:t>PostRotation</a:t>
            </a:r>
            <a:r>
              <a:rPr lang="ko-KR" altLang="en-US" sz="2000">
                <a:solidFill>
                  <a:schemeClr val="bg1"/>
                </a:solidFill>
              </a:rPr>
              <a:t>, </a:t>
            </a:r>
            <a:r>
              <a:rPr lang="ko-KR" altLang="en-US" sz="2000" err="1">
                <a:solidFill>
                  <a:schemeClr val="bg1"/>
                </a:solidFill>
              </a:rPr>
              <a:t>ScalingPivot</a:t>
            </a:r>
            <a:r>
              <a:rPr lang="ko-KR" altLang="en-US" sz="2000">
                <a:solidFill>
                  <a:schemeClr val="bg1"/>
                </a:solidFill>
              </a:rPr>
              <a:t>, </a:t>
            </a:r>
            <a:r>
              <a:rPr lang="ko-KR" altLang="en-US" sz="2000" err="1">
                <a:solidFill>
                  <a:schemeClr val="bg1"/>
                </a:solidFill>
              </a:rPr>
              <a:t>RotationPivot</a:t>
            </a:r>
            <a:r>
              <a:rPr lang="ko-KR" altLang="en-US" sz="2000">
                <a:solidFill>
                  <a:schemeClr val="bg1"/>
                </a:solidFill>
              </a:rPr>
              <a:t> 등 수많은 변수들</a:t>
            </a:r>
            <a:r>
              <a:rPr lang="en-US" altLang="ko-KR" sz="2000">
                <a:solidFill>
                  <a:schemeClr val="bg1"/>
                </a:solidFill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ko-KR" altLang="en-US" sz="2000" err="1"/>
              <a:t>Euler</a:t>
            </a:r>
            <a:r>
              <a:rPr lang="ko-KR" altLang="en-US" sz="2000"/>
              <a:t> </a:t>
            </a:r>
            <a:r>
              <a:rPr lang="ko-KR" altLang="en-US" sz="2000" err="1"/>
              <a:t>angle</a:t>
            </a:r>
            <a:r>
              <a:rPr lang="ko-KR" altLang="en-US" sz="2000" err="1">
                <a:solidFill>
                  <a:schemeClr val="bg1"/>
                </a:solidFill>
              </a:rPr>
              <a:t>로</a:t>
            </a:r>
            <a:r>
              <a:rPr lang="ko-KR" altLang="en-US" sz="2000">
                <a:solidFill>
                  <a:schemeClr val="bg1"/>
                </a:solidFill>
              </a:rPr>
              <a:t> 저장된 </a:t>
            </a:r>
            <a:r>
              <a:rPr lang="ko-KR" altLang="en-US" sz="2000" err="1">
                <a:solidFill>
                  <a:schemeClr val="bg1"/>
                </a:solidFill>
              </a:rPr>
              <a:t>회전값을</a:t>
            </a:r>
            <a:r>
              <a:rPr lang="ko-KR" altLang="en-US" sz="2000">
                <a:solidFill>
                  <a:schemeClr val="bg1"/>
                </a:solidFill>
              </a:rPr>
              <a:t> </a:t>
            </a:r>
            <a:r>
              <a:rPr lang="en-US" altLang="ko-KR" sz="2000"/>
              <a:t>q</a:t>
            </a:r>
            <a:r>
              <a:rPr lang="ko-KR" altLang="en-US" sz="2000" err="1"/>
              <a:t>uaternion</a:t>
            </a:r>
            <a:r>
              <a:rPr lang="ko-KR" altLang="en-US" sz="2000"/>
              <a:t> </a:t>
            </a:r>
            <a:r>
              <a:rPr lang="ko-KR" altLang="en-US" sz="2000" err="1"/>
              <a:t>회전값으로</a:t>
            </a:r>
            <a:r>
              <a:rPr lang="ko-KR" altLang="en-US" sz="2000"/>
              <a:t> 변환</a:t>
            </a:r>
            <a:r>
              <a:rPr lang="ko-KR" altLang="en-US" sz="2000">
                <a:solidFill>
                  <a:schemeClr val="bg1"/>
                </a:solidFill>
              </a:rPr>
              <a:t>한다</a:t>
            </a:r>
            <a:r>
              <a:rPr lang="en-US" altLang="ko-KR" sz="2000">
                <a:solidFill>
                  <a:schemeClr val="bg1"/>
                </a:solidFill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E09C60-B93E-E725-B9EA-8ADB1DB8DD82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96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4EC2E-8132-DCB3-836A-3AC79A3B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D9C5E-AD08-8778-E970-CF8329B2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Animation State Machine</a:t>
            </a:r>
            <a:endParaRPr lang="ko-KR" altLang="en-US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ADEC5-3101-A6F6-7AB7-BAFC1A96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87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2000" b="1">
                <a:solidFill>
                  <a:schemeClr val="bg1"/>
                </a:solidFill>
              </a:rPr>
              <a:t>Q. </a:t>
            </a:r>
            <a:r>
              <a:rPr lang="ko-KR" altLang="en-US" sz="2000" b="1"/>
              <a:t>왜</a:t>
            </a:r>
            <a:r>
              <a:rPr lang="ko-KR" altLang="en-US" sz="2000">
                <a:solidFill>
                  <a:schemeClr val="bg1"/>
                </a:solidFill>
              </a:rPr>
              <a:t> 필요한가</a:t>
            </a:r>
            <a:r>
              <a:rPr lang="en-US" altLang="ko-KR" sz="200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r>
              <a:rPr lang="ko-KR" altLang="en-US" sz="2000">
                <a:solidFill>
                  <a:schemeClr val="bg1">
                    <a:lumMod val="50000"/>
                  </a:schemeClr>
                </a:solidFill>
              </a:rPr>
              <a:t>캐릭터 상태를 기준으로 어떤 </a:t>
            </a:r>
            <a:r>
              <a:rPr lang="en-US" altLang="ko-KR" sz="2000" b="1">
                <a:solidFill>
                  <a:schemeClr val="bg1">
                    <a:lumMod val="50000"/>
                  </a:schemeClr>
                </a:solidFill>
              </a:rPr>
              <a:t>AnimSequence</a:t>
            </a:r>
            <a:r>
              <a:rPr lang="ko-KR" altLang="en-US" sz="2000">
                <a:solidFill>
                  <a:schemeClr val="bg1">
                    <a:lumMod val="50000"/>
                  </a:schemeClr>
                </a:solidFill>
              </a:rPr>
              <a:t>를 재생할지 결정합니다</a:t>
            </a:r>
            <a:r>
              <a:rPr lang="en-US" altLang="ko-KR" sz="200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altLang="ko-KR" sz="2000" b="1"/>
          </a:p>
          <a:p>
            <a:pPr marL="0" indent="0">
              <a:buNone/>
            </a:pPr>
            <a:endParaRPr lang="ko-KR" altLang="en-US" sz="2000" b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A29C0E-47DE-4DE8-5758-18735A092EE0}"/>
              </a:ext>
            </a:extLst>
          </p:cNvPr>
          <p:cNvSpPr txBox="1"/>
          <p:nvPr/>
        </p:nvSpPr>
        <p:spPr>
          <a:xfrm>
            <a:off x="838200" y="3040152"/>
            <a:ext cx="508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E8F500"/>
                </a:solidFill>
                <a:latin typeface="Aptos" panose="020B0004020202020204" pitchFamily="34" charset="0"/>
              </a:rPr>
              <a:t>1.</a:t>
            </a:r>
            <a:r>
              <a:rPr lang="en-US" altLang="ko-KR" sz="2000" b="1">
                <a:solidFill>
                  <a:schemeClr val="bg1"/>
                </a:solidFill>
                <a:latin typeface="Aptos" panose="020B0004020202020204" pitchFamily="34" charset="0"/>
              </a:rPr>
              <a:t> Gamplay Input -&gt; Anim Parameters</a:t>
            </a:r>
            <a:endParaRPr lang="ko-KR" altLang="en-US" sz="2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85DC0A3-58DD-E1F9-1FBD-ECC661281A6A}"/>
              </a:ext>
            </a:extLst>
          </p:cNvPr>
          <p:cNvSpPr/>
          <p:nvPr/>
        </p:nvSpPr>
        <p:spPr>
          <a:xfrm>
            <a:off x="838200" y="3569353"/>
            <a:ext cx="9534525" cy="2762250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FInputActionState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9CDCFE"/>
                </a:solidFill>
                <a:latin typeface="Consolas" panose="020B0609020204030204" pitchFamily="49" charset="0"/>
              </a:rPr>
              <a:t>MoveAction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9CDCFE"/>
                </a:solidFill>
                <a:latin typeface="Consolas" panose="020B0609020204030204" pitchFamily="49" charset="0"/>
              </a:rPr>
              <a:t>Snapshot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9CDCFE"/>
                </a:solidFill>
                <a:latin typeface="Consolas" panose="020B0609020204030204" pitchFamily="49" charset="0"/>
              </a:rPr>
              <a:t>Snapshot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FindAction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“Move”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) :</a:t>
            </a:r>
            <a:r>
              <a:rPr lang="en-US" altLang="ko-KR" sz="1400">
                <a:solidFill>
                  <a:srgbClr val="B3B4B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err="1">
                <a:solidFill>
                  <a:srgbClr val="569CD6"/>
                </a:solidFill>
                <a:latin typeface="Consolas" panose="020B0609020204030204" pitchFamily="49" charset="0"/>
              </a:rPr>
              <a:t>nullptr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FInputActionState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SprintAction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9CDCFE"/>
                </a:solidFill>
                <a:latin typeface="Consolas" panose="020B0609020204030204" pitchFamily="49" charset="0"/>
              </a:rPr>
              <a:t>Snapshot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9CDCFE"/>
                </a:solidFill>
                <a:latin typeface="Consolas" panose="020B0609020204030204" pitchFamily="49" charset="0"/>
              </a:rPr>
              <a:t>Snapshot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FindAction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“Sprint”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) :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 err="1">
                <a:solidFill>
                  <a:srgbClr val="569CD6"/>
                </a:solidFill>
                <a:latin typeface="Consolas" panose="020B0609020204030204" pitchFamily="49" charset="0"/>
              </a:rPr>
              <a:t>nullptr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bLightAttackStarted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IsActionStarted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LightAttackAction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9CDCFE"/>
                </a:solidFill>
                <a:latin typeface="Consolas" panose="020B0609020204030204" pitchFamily="49" charset="0"/>
              </a:rPr>
              <a:t>bMoving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GroundSpeed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MoveStartSpeedThreshold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D40F5D4-67C1-0B6C-5077-0E56B569F51D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425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5128B-7FCE-C76F-CDC7-13D3015F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5CA6B-6546-8A82-DAF4-1BEB510C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Animation State Machine</a:t>
            </a:r>
            <a:endParaRPr lang="ko-KR" altLang="en-US" b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ACB110-9194-81A8-BD4E-9D266CF63D56}"/>
              </a:ext>
            </a:extLst>
          </p:cNvPr>
          <p:cNvSpPr txBox="1"/>
          <p:nvPr/>
        </p:nvSpPr>
        <p:spPr>
          <a:xfrm>
            <a:off x="838200" y="1849527"/>
            <a:ext cx="508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E8F500"/>
                </a:solidFill>
                <a:latin typeface="Aptos" panose="020B0004020202020204" pitchFamily="34" charset="0"/>
              </a:rPr>
              <a:t>2.</a:t>
            </a:r>
            <a:r>
              <a:rPr lang="en-US" altLang="ko-KR" sz="2000" b="1">
                <a:solidFill>
                  <a:schemeClr val="bg1"/>
                </a:solidFill>
                <a:latin typeface="Aptos" panose="020B0004020202020204" pitchFamily="34" charset="0"/>
              </a:rPr>
              <a:t> Locomotion State </a:t>
            </a:r>
            <a:r>
              <a:rPr lang="ko-KR" altLang="en-US" sz="2000" b="1">
                <a:solidFill>
                  <a:schemeClr val="bg1"/>
                </a:solidFill>
                <a:latin typeface="Aptos" panose="020B0004020202020204" pitchFamily="34" charset="0"/>
              </a:rPr>
              <a:t>등록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4F45A25E-9CE4-9923-4692-12F959DEE7C1}"/>
              </a:ext>
            </a:extLst>
          </p:cNvPr>
          <p:cNvSpPr/>
          <p:nvPr/>
        </p:nvSpPr>
        <p:spPr>
          <a:xfrm>
            <a:off x="571500" y="2408476"/>
            <a:ext cx="11049000" cy="2762250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err="1">
                <a:solidFill>
                  <a:schemeClr val="bg1"/>
                </a:solidFill>
                <a:latin typeface="Consolas" panose="020B0609020204030204" pitchFamily="49" charset="0"/>
              </a:rPr>
              <a:t>LocomotionStateMachine</a:t>
            </a:r>
            <a:r>
              <a:rPr lang="en-US" altLang="ko-KR" sz="1400"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SetEntryState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FName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“Idle”</a:t>
            </a:r>
            <a:r>
              <a:rPr lang="en-US" altLang="ko-KR" sz="1400"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400" err="1">
                <a:solidFill>
                  <a:schemeClr val="bg1"/>
                </a:solidFill>
                <a:latin typeface="Consolas" panose="020B0609020204030204" pitchFamily="49" charset="0"/>
              </a:rPr>
              <a:t>LocomotionStateMachine</a:t>
            </a:r>
            <a:r>
              <a:rPr lang="en-US" altLang="ko-KR" sz="1400"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AddState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FName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“Idle”</a:t>
            </a:r>
            <a:r>
              <a:rPr lang="en-US" altLang="ko-KR" sz="1400">
                <a:latin typeface="Consolas" panose="020B0609020204030204" pitchFamily="49" charset="0"/>
              </a:rPr>
              <a:t>), 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FName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“Idle”</a:t>
            </a:r>
            <a:r>
              <a:rPr lang="en-US" altLang="ko-KR" sz="1400">
                <a:latin typeface="Consolas" panose="020B0609020204030204" pitchFamily="49" charset="0"/>
              </a:rPr>
              <a:t>), 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400">
                <a:latin typeface="Consolas" panose="020B0609020204030204" pitchFamily="49" charset="0"/>
              </a:rPr>
              <a:t>, </a:t>
            </a:r>
            <a:r>
              <a:rPr lang="en-US" altLang="ko-KR" sz="1400" err="1">
                <a:solidFill>
                  <a:schemeClr val="bg1"/>
                </a:solidFill>
                <a:latin typeface="Consolas" panose="020B0609020204030204" pitchFamily="49" charset="0"/>
              </a:rPr>
              <a:t>IdleAnimationPath</a:t>
            </a:r>
            <a:r>
              <a:rPr lang="en-US" altLang="ko-KR" sz="140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 err="1">
                <a:latin typeface="Consolas" panose="020B0609020204030204" pitchFamily="49" charset="0"/>
              </a:rPr>
              <a:t>LocomotionStateMachine</a:t>
            </a:r>
            <a:r>
              <a:rPr lang="en-US" altLang="ko-KR" sz="1400"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AddState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 err="1">
                <a:latin typeface="Consolas" panose="020B0609020204030204" pitchFamily="49" charset="0"/>
              </a:rPr>
              <a:t>NAME_WalkToIdle</a:t>
            </a:r>
            <a:r>
              <a:rPr lang="en-US" altLang="ko-KR" sz="1400">
                <a:latin typeface="Consolas" panose="020B0609020204030204" pitchFamily="49" charset="0"/>
              </a:rPr>
              <a:t>, </a:t>
            </a:r>
            <a:r>
              <a:rPr lang="en-US" altLang="ko-KR" sz="1400" err="1">
                <a:latin typeface="Consolas" panose="020B0609020204030204" pitchFamily="49" charset="0"/>
              </a:rPr>
              <a:t>NAME_WalkToIdle</a:t>
            </a:r>
            <a:r>
              <a:rPr lang="en-US" altLang="ko-KR" sz="1400">
                <a:latin typeface="Consolas" panose="020B0609020204030204" pitchFamily="49" charset="0"/>
              </a:rPr>
              <a:t>, 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400">
                <a:latin typeface="Consolas" panose="020B0609020204030204" pitchFamily="49" charset="0"/>
              </a:rPr>
              <a:t>, </a:t>
            </a:r>
            <a:r>
              <a:rPr lang="en-US" altLang="ko-KR" sz="1400" err="1">
                <a:latin typeface="Consolas" panose="020B0609020204030204" pitchFamily="49" charset="0"/>
              </a:rPr>
              <a:t>WalkToIdleAnimationPath</a:t>
            </a:r>
            <a:r>
              <a:rPr lang="en-US" altLang="ko-KR" sz="1400"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 err="1">
                <a:latin typeface="Consolas" panose="020B0609020204030204" pitchFamily="49" charset="0"/>
              </a:rPr>
              <a:t>LocomotionStateMachine</a:t>
            </a:r>
            <a:r>
              <a:rPr lang="en-US" altLang="ko-KR" sz="1400"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AddState</a:t>
            </a:r>
            <a:r>
              <a:rPr lang="en-US" altLang="ko-KR" sz="1400">
                <a:latin typeface="Consolas" panose="020B0609020204030204" pitchFamily="49" charset="0"/>
              </a:rPr>
              <a:t>(NAME_LightAttack1, NAME_LightAttack1, 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400">
                <a:latin typeface="Consolas" panose="020B0609020204030204" pitchFamily="49" charset="0"/>
              </a:rPr>
              <a:t>, </a:t>
            </a:r>
            <a:r>
              <a:rPr lang="en-US" altLang="ko-KR" sz="1400" err="1">
                <a:latin typeface="Consolas" panose="020B0609020204030204" pitchFamily="49" charset="0"/>
              </a:rPr>
              <a:t>LightAttackAnimationPath</a:t>
            </a:r>
            <a:r>
              <a:rPr lang="en-US" altLang="ko-KR" sz="1400"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err="1">
                <a:latin typeface="Consolas" panose="020B0609020204030204" pitchFamily="49" charset="0"/>
              </a:rPr>
              <a:t>LocomotionStateMachine</a:t>
            </a:r>
            <a:r>
              <a:rPr lang="en-US" altLang="ko-KR" sz="1400"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AddState</a:t>
            </a:r>
            <a:r>
              <a:rPr lang="en-US" altLang="ko-KR" sz="1400">
                <a:latin typeface="Consolas" panose="020B0609020204030204" pitchFamily="49" charset="0"/>
              </a:rPr>
              <a:t>(NAME_LightAttack3, NAME_LightAttack3, 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400">
                <a:latin typeface="Consolas" panose="020B0609020204030204" pitchFamily="49" charset="0"/>
              </a:rPr>
              <a:t>, LightAttack3AnimationPath);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805171-1BBE-3637-E8C5-B6712F2B591F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786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6C58-209F-9D74-DF18-22C3A67E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ACC77-04C3-55E9-9EFB-FA8C1061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Animation State Machine</a:t>
            </a:r>
            <a:endParaRPr lang="ko-KR" altLang="en-US" b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8D33FB-2DED-B6BB-0144-148546284AC6}"/>
              </a:ext>
            </a:extLst>
          </p:cNvPr>
          <p:cNvSpPr txBox="1"/>
          <p:nvPr/>
        </p:nvSpPr>
        <p:spPr>
          <a:xfrm>
            <a:off x="838200" y="1849527"/>
            <a:ext cx="508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E8F500"/>
                </a:solidFill>
                <a:latin typeface="Aptos" panose="020B0004020202020204" pitchFamily="34" charset="0"/>
              </a:rPr>
              <a:t>3.</a:t>
            </a:r>
            <a:r>
              <a:rPr lang="en-US" altLang="ko-KR" sz="2000" b="1">
                <a:solidFill>
                  <a:schemeClr val="bg1"/>
                </a:solidFill>
                <a:latin typeface="Aptos" panose="020B0004020202020204" pitchFamily="34" charset="0"/>
              </a:rPr>
              <a:t> Locomotion Transition</a:t>
            </a:r>
            <a:endParaRPr lang="ko-KR" altLang="en-US" sz="2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0C7886A6-23C0-44FE-55BB-2C622A3AD277}"/>
              </a:ext>
            </a:extLst>
          </p:cNvPr>
          <p:cNvSpPr/>
          <p:nvPr/>
        </p:nvSpPr>
        <p:spPr>
          <a:xfrm>
            <a:off x="571500" y="2408475"/>
            <a:ext cx="4962525" cy="3744673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err="1">
                <a:latin typeface="Consolas" panose="020B0609020204030204" pitchFamily="49" charset="0"/>
              </a:rPr>
              <a:t>LocomotionStateMachine</a:t>
            </a:r>
            <a:r>
              <a:rPr lang="en-US" altLang="ko-KR" sz="1400"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AddBoolTransition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FName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“Idle”</a:t>
            </a:r>
            <a:r>
              <a:rPr lang="en-US" altLang="ko-KR" sz="1400"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FName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“Sprint”</a:t>
            </a:r>
            <a:r>
              <a:rPr lang="en-US" altLang="ko-KR" sz="1400"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FName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D69D85"/>
                </a:solidFill>
                <a:latin typeface="Consolas" panose="020B0609020204030204" pitchFamily="49" charset="0"/>
              </a:rPr>
              <a:t>“bSprinting”</a:t>
            </a:r>
            <a:r>
              <a:rPr lang="en-US" altLang="ko-KR" sz="1400"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 err="1">
                <a:solidFill>
                  <a:srgbClr val="4EC9B0"/>
                </a:solidFill>
                <a:latin typeface="Consolas" panose="020B0609020204030204" pitchFamily="49" charset="0"/>
              </a:rPr>
              <a:t>EAnimCompareOp</a:t>
            </a:r>
            <a:r>
              <a:rPr lang="en-US" altLang="ko-KR" sz="1400">
                <a:latin typeface="Consolas" panose="020B0609020204030204" pitchFamily="49" charset="0"/>
              </a:rPr>
              <a:t>::</a:t>
            </a:r>
            <a:r>
              <a:rPr lang="en-US" altLang="ko-KR" sz="1400" err="1">
                <a:solidFill>
                  <a:srgbClr val="B4D7A3"/>
                </a:solidFill>
                <a:latin typeface="Consolas" panose="020B0609020204030204" pitchFamily="49" charset="0"/>
              </a:rPr>
              <a:t>IsTrue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 err="1">
                <a:latin typeface="Consolas" panose="020B0609020204030204" pitchFamily="49" charset="0"/>
              </a:rPr>
              <a:t>LocomotionBlendTime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>
                <a:solidFill>
                  <a:srgbClr val="B4D7A3"/>
                </a:solidFill>
                <a:latin typeface="Consolas" panose="020B0609020204030204" pitchFamily="49" charset="0"/>
              </a:rPr>
              <a:t>20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 err="1">
                <a:solidFill>
                  <a:srgbClr val="4EC9B0"/>
                </a:solidFill>
                <a:latin typeface="Consolas" panose="020B0609020204030204" pitchFamily="49" charset="0"/>
              </a:rPr>
              <a:t>EAnimBlendEaseOption</a:t>
            </a:r>
            <a:r>
              <a:rPr lang="en-US" altLang="ko-KR" sz="1400">
                <a:latin typeface="Consolas" panose="020B0609020204030204" pitchFamily="49" charset="0"/>
              </a:rPr>
              <a:t>::</a:t>
            </a:r>
            <a:r>
              <a:rPr lang="en-US" altLang="ko-KR" sz="1400" err="1">
                <a:solidFill>
                  <a:srgbClr val="B4D7A3"/>
                </a:solidFill>
                <a:latin typeface="Consolas" panose="020B0609020204030204" pitchFamily="49" charset="0"/>
              </a:rPr>
              <a:t>EaseInOut</a:t>
            </a:r>
            <a:r>
              <a:rPr lang="en-US" altLang="ko-KR" sz="1400"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32132-ACEF-F2C6-3D96-2050365910E4}"/>
              </a:ext>
            </a:extLst>
          </p:cNvPr>
          <p:cNvSpPr txBox="1"/>
          <p:nvPr/>
        </p:nvSpPr>
        <p:spPr>
          <a:xfrm>
            <a:off x="6534152" y="1849527"/>
            <a:ext cx="508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E8F500"/>
                </a:solidFill>
                <a:latin typeface="Aptos" panose="020B0004020202020204" pitchFamily="34" charset="0"/>
              </a:rPr>
              <a:t>4.</a:t>
            </a:r>
            <a:r>
              <a:rPr lang="en-US" altLang="ko-KR" sz="2000" b="1">
                <a:solidFill>
                  <a:schemeClr val="bg1"/>
                </a:solidFill>
                <a:latin typeface="Aptos" panose="020B0004020202020204" pitchFamily="34" charset="0"/>
              </a:rPr>
              <a:t> Attack</a:t>
            </a:r>
            <a:r>
              <a:rPr lang="ko-KR" altLang="en-US" sz="2000" b="1">
                <a:solidFill>
                  <a:schemeClr val="bg1"/>
                </a:solidFill>
                <a:latin typeface="Aptos" panose="020B0004020202020204" pitchFamily="34" charset="0"/>
              </a:rPr>
              <a:t>이 </a:t>
            </a:r>
            <a:r>
              <a:rPr lang="en-US" altLang="ko-KR" sz="2000" b="1">
                <a:solidFill>
                  <a:schemeClr val="bg1"/>
                </a:solidFill>
                <a:latin typeface="Aptos" panose="020B0004020202020204" pitchFamily="34" charset="0"/>
              </a:rPr>
              <a:t>Locomotion</a:t>
            </a:r>
            <a:r>
              <a:rPr lang="ko-KR" altLang="en-US" sz="2000" b="1">
                <a:solidFill>
                  <a:schemeClr val="bg1"/>
                </a:solidFill>
                <a:latin typeface="Aptos" panose="020B0004020202020204" pitchFamily="34" charset="0"/>
              </a:rPr>
              <a:t>을 끊을 때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853E158-A253-1E9F-3791-91B09F516C76}"/>
              </a:ext>
            </a:extLst>
          </p:cNvPr>
          <p:cNvSpPr/>
          <p:nvPr/>
        </p:nvSpPr>
        <p:spPr>
          <a:xfrm>
            <a:off x="6267452" y="2408476"/>
            <a:ext cx="5457823" cy="3744674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D8A0DF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400">
                <a:latin typeface="Consolas" panose="020B0609020204030204" pitchFamily="49" charset="0"/>
              </a:rPr>
              <a:t> (</a:t>
            </a:r>
            <a:r>
              <a:rPr lang="en-US" altLang="ko-KR" sz="14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4EC9B0"/>
                </a:solidFill>
                <a:latin typeface="Consolas" panose="020B0609020204030204" pitchFamily="49" charset="0"/>
              </a:rPr>
              <a:t>FName</a:t>
            </a:r>
            <a:r>
              <a:rPr lang="en-US" altLang="ko-KR" sz="1400">
                <a:latin typeface="Consolas" panose="020B0609020204030204" pitchFamily="49" charset="0"/>
              </a:rPr>
              <a:t>&amp; 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StateName</a:t>
            </a:r>
            <a:r>
              <a:rPr lang="en-US" altLang="ko-KR" sz="1400">
                <a:latin typeface="Consolas" panose="020B0609020204030204" pitchFamily="49" charset="0"/>
              </a:rPr>
              <a:t> : 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LocomotionStates</a:t>
            </a:r>
            <a:r>
              <a:rPr lang="en-US" altLang="ko-KR" sz="140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</a:t>
            </a:r>
            <a:r>
              <a:rPr lang="en-US" altLang="ko-KR" sz="1400" err="1">
                <a:latin typeface="Consolas" panose="020B0609020204030204" pitchFamily="49" charset="0"/>
              </a:rPr>
              <a:t>LocomotionStateMachine</a:t>
            </a:r>
            <a:r>
              <a:rPr lang="en-US" altLang="ko-KR" sz="1400">
                <a:latin typeface="Consolas" panose="020B0609020204030204" pitchFamily="49" charset="0"/>
              </a:rPr>
              <a:t>-&gt;</a:t>
            </a:r>
            <a:r>
              <a:rPr lang="en-US" altLang="ko-KR" sz="1400" err="1">
                <a:solidFill>
                  <a:srgbClr val="DCDCAA"/>
                </a:solidFill>
                <a:latin typeface="Consolas" panose="020B0609020204030204" pitchFamily="49" charset="0"/>
              </a:rPr>
              <a:t>AddTriggerTransition</a:t>
            </a:r>
            <a:r>
              <a:rPr lang="en-US" altLang="ko-KR" sz="1400"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    </a:t>
            </a:r>
            <a:r>
              <a:rPr lang="en-US" altLang="ko-KR" sz="1400" err="1">
                <a:solidFill>
                  <a:srgbClr val="9CDCFE"/>
                </a:solidFill>
                <a:latin typeface="Consolas" panose="020B0609020204030204" pitchFamily="49" charset="0"/>
              </a:rPr>
              <a:t>StateName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    </a:t>
            </a:r>
            <a:r>
              <a:rPr lang="en-US" altLang="ko-KR" sz="1400" err="1">
                <a:latin typeface="Consolas" panose="020B0609020204030204" pitchFamily="49" charset="0"/>
              </a:rPr>
              <a:t>NAME_HeavyAttack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    </a:t>
            </a:r>
            <a:r>
              <a:rPr lang="en-US" altLang="ko-KR" sz="1400" err="1">
                <a:latin typeface="Consolas" panose="020B0609020204030204" pitchFamily="49" charset="0"/>
              </a:rPr>
              <a:t>NAME_HeavyAttack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    </a:t>
            </a:r>
            <a:r>
              <a:rPr lang="en-US" altLang="ko-KR" sz="1400" err="1">
                <a:latin typeface="Consolas" panose="020B0609020204030204" pitchFamily="49" charset="0"/>
              </a:rPr>
              <a:t>LocomotionBlendTime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    </a:t>
            </a:r>
            <a:r>
              <a:rPr lang="en-US" altLang="ko-KR" sz="1400">
                <a:solidFill>
                  <a:srgbClr val="B4D7A3"/>
                </a:solidFill>
                <a:latin typeface="Consolas" panose="020B0609020204030204" pitchFamily="49" charset="0"/>
              </a:rPr>
              <a:t>200</a:t>
            </a:r>
            <a:r>
              <a:rPr lang="en-US" altLang="ko-KR" sz="1400"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        </a:t>
            </a:r>
            <a:r>
              <a:rPr lang="en-US" altLang="ko-KR" sz="1400" err="1">
                <a:solidFill>
                  <a:srgbClr val="4EC9B0"/>
                </a:solidFill>
                <a:latin typeface="Consolas" panose="020B0609020204030204" pitchFamily="49" charset="0"/>
              </a:rPr>
              <a:t>EAnimBlendEaseOption</a:t>
            </a:r>
            <a:r>
              <a:rPr lang="en-US" altLang="ko-KR" sz="1400">
                <a:latin typeface="Consolas" panose="020B0609020204030204" pitchFamily="49" charset="0"/>
              </a:rPr>
              <a:t>::</a:t>
            </a:r>
            <a:r>
              <a:rPr lang="en-US" altLang="ko-KR" sz="1400" err="1">
                <a:solidFill>
                  <a:srgbClr val="B4D7A3"/>
                </a:solidFill>
                <a:latin typeface="Consolas" panose="020B0609020204030204" pitchFamily="49" charset="0"/>
              </a:rPr>
              <a:t>EaseInOut</a:t>
            </a:r>
            <a:r>
              <a:rPr lang="en-US" altLang="ko-KR" sz="1400"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DBCDB8-C870-25AC-2DF1-F712E4E2F654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61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72B2F-57CF-6305-315E-DEF739E3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F19D4EB-2B28-08E9-9376-1031AF859776}"/>
              </a:ext>
            </a:extLst>
          </p:cNvPr>
          <p:cNvCxnSpPr/>
          <p:nvPr/>
        </p:nvCxnSpPr>
        <p:spPr>
          <a:xfrm>
            <a:off x="2435651" y="4619376"/>
            <a:ext cx="2346685" cy="769025"/>
          </a:xfrm>
          <a:prstGeom prst="bentConnector3">
            <a:avLst>
              <a:gd name="adj1" fmla="val 188"/>
            </a:avLst>
          </a:prstGeom>
          <a:ln>
            <a:solidFill>
              <a:srgbClr val="E8F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8B13012E-3ECB-374F-FC52-70FC96EE8E85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6931935" y="2991981"/>
            <a:ext cx="1259178" cy="4513969"/>
          </a:xfrm>
          <a:prstGeom prst="bentConnector2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C8AE9252-E309-497E-641F-E8781ABE02EA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2248686" y="2709909"/>
            <a:ext cx="4430598" cy="1173305"/>
          </a:xfrm>
          <a:prstGeom prst="bentConnector2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F3AF9A2-07CD-B793-9568-FAA37B49BBF6}"/>
              </a:ext>
            </a:extLst>
          </p:cNvPr>
          <p:cNvCxnSpPr>
            <a:cxnSpLocks/>
          </p:cNvCxnSpPr>
          <p:nvPr/>
        </p:nvCxnSpPr>
        <p:spPr>
          <a:xfrm flipH="1">
            <a:off x="2885388" y="4437865"/>
            <a:ext cx="3793896" cy="0"/>
          </a:xfrm>
          <a:prstGeom prst="straightConnector1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8A70721-9FDE-6011-2FD7-D31FD8F6E7EB}"/>
              </a:ext>
            </a:extLst>
          </p:cNvPr>
          <p:cNvCxnSpPr/>
          <p:nvPr/>
        </p:nvCxnSpPr>
        <p:spPr>
          <a:xfrm>
            <a:off x="2885388" y="4040368"/>
            <a:ext cx="3793896" cy="0"/>
          </a:xfrm>
          <a:prstGeom prst="straightConnector1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94FB0845-CC79-01D2-8D95-B35146C3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Animation State Machine</a:t>
            </a:r>
            <a:endParaRPr lang="ko-KR" altLang="en-US" b="1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E66935-1E01-75E2-8B0F-3FFB40750184}"/>
              </a:ext>
            </a:extLst>
          </p:cNvPr>
          <p:cNvSpPr/>
          <p:nvPr/>
        </p:nvSpPr>
        <p:spPr>
          <a:xfrm>
            <a:off x="1611984" y="3883215"/>
            <a:ext cx="1273404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latin typeface="Aptos" panose="020B0004020202020204" pitchFamily="34" charset="0"/>
              </a:rPr>
              <a:t>Idle</a:t>
            </a:r>
            <a:endParaRPr lang="ko-KR" altLang="en-US" sz="1600" b="1">
              <a:latin typeface="Aptos" panose="020B0004020202020204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4678A67-9087-0E7C-38C7-9D1D16A4F242}"/>
              </a:ext>
            </a:extLst>
          </p:cNvPr>
          <p:cNvSpPr/>
          <p:nvPr/>
        </p:nvSpPr>
        <p:spPr>
          <a:xfrm>
            <a:off x="4094963" y="3509402"/>
            <a:ext cx="1323288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E8F500"/>
                </a:solidFill>
                <a:latin typeface="Aptos" panose="020B0004020202020204" pitchFamily="34" charset="0"/>
              </a:rPr>
              <a:t>IdleToWalk</a:t>
            </a:r>
            <a:endParaRPr lang="ko-KR" altLang="en-US" sz="1600" b="1">
              <a:solidFill>
                <a:srgbClr val="E8F500"/>
              </a:solidFill>
              <a:latin typeface="Aptos" panose="020B00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E0D1D00-E664-5A51-B9C8-B65B535E8B76}"/>
              </a:ext>
            </a:extLst>
          </p:cNvPr>
          <p:cNvSpPr/>
          <p:nvPr/>
        </p:nvSpPr>
        <p:spPr>
          <a:xfrm>
            <a:off x="6679284" y="2486322"/>
            <a:ext cx="1273404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latin typeface="Aptos" panose="020B0004020202020204" pitchFamily="34" charset="0"/>
              </a:rPr>
              <a:t>Attack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*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7082A6-03C8-0F4B-90C8-BB548708A9A2}"/>
              </a:ext>
            </a:extLst>
          </p:cNvPr>
          <p:cNvSpPr/>
          <p:nvPr/>
        </p:nvSpPr>
        <p:spPr>
          <a:xfrm>
            <a:off x="9181806" y="3865544"/>
            <a:ext cx="1273404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latin typeface="Aptos" panose="020B0004020202020204" pitchFamily="34" charset="0"/>
              </a:rPr>
              <a:t>Sprint</a:t>
            </a:r>
            <a:endParaRPr lang="ko-KR" altLang="en-US" sz="1600" b="1"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88F18F-3E11-C9D9-C315-A9ED4A9F45E1}"/>
              </a:ext>
            </a:extLst>
          </p:cNvPr>
          <p:cNvSpPr/>
          <p:nvPr/>
        </p:nvSpPr>
        <p:spPr>
          <a:xfrm>
            <a:off x="4094963" y="2200920"/>
            <a:ext cx="1502200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E8F500"/>
                </a:solidFill>
                <a:latin typeface="Aptos" panose="020B0004020202020204" pitchFamily="34" charset="0"/>
              </a:rPr>
              <a:t>AttackToIdle</a:t>
            </a:r>
            <a:endParaRPr lang="ko-KR" altLang="en-US" sz="1600" b="1">
              <a:solidFill>
                <a:srgbClr val="E8F5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64C0E0F-C82F-B976-9270-757AF32803E2}"/>
              </a:ext>
            </a:extLst>
          </p:cNvPr>
          <p:cNvSpPr/>
          <p:nvPr/>
        </p:nvSpPr>
        <p:spPr>
          <a:xfrm>
            <a:off x="6679284" y="3865544"/>
            <a:ext cx="1273404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latin typeface="Aptos" panose="020B0004020202020204" pitchFamily="34" charset="0"/>
              </a:rPr>
              <a:t>Walk</a:t>
            </a:r>
            <a:endParaRPr lang="ko-KR" altLang="en-US" sz="1600" b="1"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2A4129-A48E-6EC2-170C-F9A9B38A121D}"/>
              </a:ext>
            </a:extLst>
          </p:cNvPr>
          <p:cNvSpPr/>
          <p:nvPr/>
        </p:nvSpPr>
        <p:spPr>
          <a:xfrm>
            <a:off x="4094963" y="5501639"/>
            <a:ext cx="1496212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E8F500"/>
                </a:solidFill>
                <a:latin typeface="Aptos" panose="020B0004020202020204" pitchFamily="34" charset="0"/>
              </a:rPr>
              <a:t>SprintToIdle</a:t>
            </a:r>
            <a:endParaRPr lang="ko-KR" altLang="en-US" sz="1600" b="1">
              <a:solidFill>
                <a:srgbClr val="E8F500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3D7099E-ECA6-0AF8-74E3-C5A6E6FB0960}"/>
              </a:ext>
            </a:extLst>
          </p:cNvPr>
          <p:cNvSpPr/>
          <p:nvPr/>
        </p:nvSpPr>
        <p:spPr>
          <a:xfrm>
            <a:off x="4094963" y="4260131"/>
            <a:ext cx="1323288" cy="753832"/>
          </a:xfrm>
          <a:prstGeom prst="roundRect">
            <a:avLst/>
          </a:prstGeom>
          <a:solidFill>
            <a:schemeClr val="tx1"/>
          </a:solidFill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E8F500"/>
                </a:solidFill>
                <a:latin typeface="Aptos" panose="020B0004020202020204" pitchFamily="34" charset="0"/>
              </a:rPr>
              <a:t>WalkToIdle</a:t>
            </a:r>
            <a:endParaRPr lang="ko-KR" altLang="en-US" sz="1600" b="1">
              <a:solidFill>
                <a:srgbClr val="E8F500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8FB327-7134-C96B-9BE2-B3F9F6C4300F}"/>
              </a:ext>
            </a:extLst>
          </p:cNvPr>
          <p:cNvSpPr txBox="1"/>
          <p:nvPr/>
        </p:nvSpPr>
        <p:spPr>
          <a:xfrm>
            <a:off x="838200" y="1433129"/>
            <a:ext cx="508635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  <a:latin typeface="Aptos"/>
                <a:ea typeface="맑은 고딕"/>
              </a:rPr>
              <a:t>Runtime AnimGraph for </a:t>
            </a:r>
            <a:r>
              <a:rPr lang="en-US" altLang="ko-KR" sz="2000" b="1">
                <a:solidFill>
                  <a:srgbClr val="E8F500"/>
                </a:solidFill>
                <a:latin typeface="Aptos"/>
                <a:ea typeface="맑은 고딕"/>
              </a:rPr>
              <a:t>Gwen</a:t>
            </a:r>
          </a:p>
          <a:p>
            <a:endParaRPr lang="ko-KR" altLang="en-US" sz="2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52B08A-099D-1805-C5E1-F708CB970843}"/>
              </a:ext>
            </a:extLst>
          </p:cNvPr>
          <p:cNvSpPr txBox="1"/>
          <p:nvPr/>
        </p:nvSpPr>
        <p:spPr>
          <a:xfrm>
            <a:off x="8743852" y="1375106"/>
            <a:ext cx="2471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* </a:t>
            </a: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실제로는 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Attack</a:t>
            </a: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 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LightAttack</a:t>
            </a: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과 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HeavyAttack</a:t>
            </a: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으로 구분되어 있음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 algn="r"/>
            <a:endParaRPr lang="ko-KR" altLang="en-US" sz="120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4ED3654-7BEC-EFC5-29E4-8D7FEE2E3B84}"/>
              </a:ext>
            </a:extLst>
          </p:cNvPr>
          <p:cNvCxnSpPr>
            <a:cxnSpLocks/>
          </p:cNvCxnSpPr>
          <p:nvPr/>
        </p:nvCxnSpPr>
        <p:spPr>
          <a:xfrm flipH="1">
            <a:off x="7952688" y="4437865"/>
            <a:ext cx="1229118" cy="0"/>
          </a:xfrm>
          <a:prstGeom prst="straightConnector1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8EEAA170-B875-EF7E-06B0-A993E54F882C}"/>
              </a:ext>
            </a:extLst>
          </p:cNvPr>
          <p:cNvCxnSpPr>
            <a:cxnSpLocks/>
            <a:stCxn id="15" idx="1"/>
            <a:endCxn id="5" idx="2"/>
          </p:cNvCxnSpPr>
          <p:nvPr/>
        </p:nvCxnSpPr>
        <p:spPr>
          <a:xfrm rot="10800000">
            <a:off x="2248687" y="4637047"/>
            <a:ext cx="1846277" cy="1241508"/>
          </a:xfrm>
          <a:prstGeom prst="bentConnector2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BD8A7EB-BE35-8425-C625-BDB194EC7E9C}"/>
              </a:ext>
            </a:extLst>
          </p:cNvPr>
          <p:cNvCxnSpPr/>
          <p:nvPr/>
        </p:nvCxnSpPr>
        <p:spPr>
          <a:xfrm>
            <a:off x="7952688" y="4040368"/>
            <a:ext cx="1229118" cy="0"/>
          </a:xfrm>
          <a:prstGeom prst="straightConnector1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C967CF9F-D2C1-0AD1-95B7-9ADBC89EA396}"/>
              </a:ext>
            </a:extLst>
          </p:cNvPr>
          <p:cNvCxnSpPr/>
          <p:nvPr/>
        </p:nvCxnSpPr>
        <p:spPr>
          <a:xfrm flipV="1">
            <a:off x="2435651" y="3036466"/>
            <a:ext cx="4243633" cy="829078"/>
          </a:xfrm>
          <a:prstGeom prst="bentConnector3">
            <a:avLst>
              <a:gd name="adj1" fmla="val 19"/>
            </a:avLst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4AF51B09-BCB9-EFA6-05B0-A8632C76761D}"/>
              </a:ext>
            </a:extLst>
          </p:cNvPr>
          <p:cNvCxnSpPr>
            <a:cxnSpLocks/>
          </p:cNvCxnSpPr>
          <p:nvPr/>
        </p:nvCxnSpPr>
        <p:spPr>
          <a:xfrm flipV="1">
            <a:off x="4782336" y="4619376"/>
            <a:ext cx="4801926" cy="769025"/>
          </a:xfrm>
          <a:prstGeom prst="bentConnector3">
            <a:avLst>
              <a:gd name="adj1" fmla="val 100060"/>
            </a:avLst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834BFD4-7E0B-3355-78E7-7C066DF03892}"/>
              </a:ext>
            </a:extLst>
          </p:cNvPr>
          <p:cNvCxnSpPr/>
          <p:nvPr/>
        </p:nvCxnSpPr>
        <p:spPr>
          <a:xfrm flipV="1">
            <a:off x="7105650" y="3240154"/>
            <a:ext cx="0" cy="625390"/>
          </a:xfrm>
          <a:prstGeom prst="straightConnector1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1D70B83B-C050-5D96-76F5-39747D1DF240}"/>
              </a:ext>
            </a:extLst>
          </p:cNvPr>
          <p:cNvCxnSpPr/>
          <p:nvPr/>
        </p:nvCxnSpPr>
        <p:spPr>
          <a:xfrm>
            <a:off x="7486650" y="3240154"/>
            <a:ext cx="0" cy="625390"/>
          </a:xfrm>
          <a:prstGeom prst="straightConnector1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230A44E9-BE80-5460-0DDB-90858C255501}"/>
              </a:ext>
            </a:extLst>
          </p:cNvPr>
          <p:cNvCxnSpPr/>
          <p:nvPr/>
        </p:nvCxnSpPr>
        <p:spPr>
          <a:xfrm>
            <a:off x="7952688" y="3036466"/>
            <a:ext cx="1631574" cy="829078"/>
          </a:xfrm>
          <a:prstGeom prst="bentConnector3">
            <a:avLst>
              <a:gd name="adj1" fmla="val 99622"/>
            </a:avLst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B9066E2D-4DCA-3928-AD3D-B079C63861A8}"/>
              </a:ext>
            </a:extLst>
          </p:cNvPr>
          <p:cNvCxnSpPr>
            <a:stCxn id="12" idx="0"/>
          </p:cNvCxnSpPr>
          <p:nvPr/>
        </p:nvCxnSpPr>
        <p:spPr>
          <a:xfrm rot="16200000" flipV="1">
            <a:off x="8307781" y="2354817"/>
            <a:ext cx="1155635" cy="1865820"/>
          </a:xfrm>
          <a:prstGeom prst="bentConnector2">
            <a:avLst/>
          </a:prstGeom>
          <a:ln>
            <a:solidFill>
              <a:srgbClr val="E8F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5F0CC2-AA0F-0FAE-A78B-B7C22FE7B22A}"/>
              </a:ext>
            </a:extLst>
          </p:cNvPr>
          <p:cNvSpPr txBox="1"/>
          <p:nvPr/>
        </p:nvSpPr>
        <p:spPr>
          <a:xfrm>
            <a:off x="5940116" y="5453262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bSprinting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054219-9BEB-B27F-C285-DAC94D44E4E3}"/>
              </a:ext>
            </a:extLst>
          </p:cNvPr>
          <p:cNvSpPr txBox="1"/>
          <p:nvPr/>
        </p:nvSpPr>
        <p:spPr>
          <a:xfrm>
            <a:off x="5399201" y="3460498"/>
            <a:ext cx="2014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ElapsedTime &gt;= IdleToWalkDuration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BC59C1-A3C0-6AE9-D7CE-0A4DCF69D86D}"/>
              </a:ext>
            </a:extLst>
          </p:cNvPr>
          <p:cNvSpPr txBox="1"/>
          <p:nvPr/>
        </p:nvSpPr>
        <p:spPr>
          <a:xfrm>
            <a:off x="5564371" y="4616892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!bMoving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EC496A-2036-1E1A-8EEF-391B05D053A7}"/>
              </a:ext>
            </a:extLst>
          </p:cNvPr>
          <p:cNvSpPr txBox="1"/>
          <p:nvPr/>
        </p:nvSpPr>
        <p:spPr>
          <a:xfrm>
            <a:off x="2616627" y="4621387"/>
            <a:ext cx="2014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ElapsedTime &gt;= WalkToIdleDuration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C3EF1-5D19-0F49-9661-30680F160F1D}"/>
              </a:ext>
            </a:extLst>
          </p:cNvPr>
          <p:cNvSpPr txBox="1"/>
          <p:nvPr/>
        </p:nvSpPr>
        <p:spPr>
          <a:xfrm>
            <a:off x="2374109" y="5951675"/>
            <a:ext cx="2014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ElapsedTime &gt;= SprintToIdleDuration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F9145D-99AB-3C3C-97F1-FAEF9A604008}"/>
              </a:ext>
            </a:extLst>
          </p:cNvPr>
          <p:cNvSpPr txBox="1"/>
          <p:nvPr/>
        </p:nvSpPr>
        <p:spPr>
          <a:xfrm>
            <a:off x="7983522" y="3689581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bSprinting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898474-96F7-7674-7973-DDCD92687E6E}"/>
              </a:ext>
            </a:extLst>
          </p:cNvPr>
          <p:cNvSpPr txBox="1"/>
          <p:nvPr/>
        </p:nvSpPr>
        <p:spPr>
          <a:xfrm>
            <a:off x="8399675" y="3062093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bSprinting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1FDC75-DF33-9888-C455-F254E45EC40B}"/>
              </a:ext>
            </a:extLst>
          </p:cNvPr>
          <p:cNvSpPr txBox="1"/>
          <p:nvPr/>
        </p:nvSpPr>
        <p:spPr>
          <a:xfrm>
            <a:off x="5935397" y="5922738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!bMoving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7B2E18-C3E3-3C0F-E5C0-222F01B99383}"/>
              </a:ext>
            </a:extLst>
          </p:cNvPr>
          <p:cNvSpPr txBox="1"/>
          <p:nvPr/>
        </p:nvSpPr>
        <p:spPr>
          <a:xfrm>
            <a:off x="2993257" y="3491481"/>
            <a:ext cx="1478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bMoving &amp;&amp;</a:t>
            </a:r>
          </a:p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!bSprinting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90694E-0499-978A-307A-5116F56483F5}"/>
              </a:ext>
            </a:extLst>
          </p:cNvPr>
          <p:cNvSpPr txBox="1"/>
          <p:nvPr/>
        </p:nvSpPr>
        <p:spPr>
          <a:xfrm>
            <a:off x="7983522" y="4631609"/>
            <a:ext cx="1478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bMoving &amp;&amp;</a:t>
            </a:r>
          </a:p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!bSprinting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D2EDB0-C6EE-2F34-7E59-0707E4DD2E73}"/>
              </a:ext>
            </a:extLst>
          </p:cNvPr>
          <p:cNvSpPr txBox="1"/>
          <p:nvPr/>
        </p:nvSpPr>
        <p:spPr>
          <a:xfrm>
            <a:off x="9818508" y="3050532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AttackTrigger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7E14D9-D47C-644A-930E-4DD0BCECD23F}"/>
              </a:ext>
            </a:extLst>
          </p:cNvPr>
          <p:cNvSpPr txBox="1"/>
          <p:nvPr/>
        </p:nvSpPr>
        <p:spPr>
          <a:xfrm>
            <a:off x="6047985" y="3232403"/>
            <a:ext cx="1478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AttackTrigger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F8065F-47EF-769D-2C8C-78A126CA093E}"/>
              </a:ext>
            </a:extLst>
          </p:cNvPr>
          <p:cNvSpPr txBox="1"/>
          <p:nvPr/>
        </p:nvSpPr>
        <p:spPr>
          <a:xfrm>
            <a:off x="4088882" y="3019814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AttackTrigger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050499-8496-959F-8EE2-3614BE7A4AC2}"/>
              </a:ext>
            </a:extLst>
          </p:cNvPr>
          <p:cNvSpPr txBox="1"/>
          <p:nvPr/>
        </p:nvSpPr>
        <p:spPr>
          <a:xfrm>
            <a:off x="7444567" y="3267917"/>
            <a:ext cx="1478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bMoving &amp;&amp;</a:t>
            </a:r>
          </a:p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!bSprinting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07DC23-6C46-2978-37D0-E4A0CA3CDD90}"/>
              </a:ext>
            </a:extLst>
          </p:cNvPr>
          <p:cNvSpPr txBox="1"/>
          <p:nvPr/>
        </p:nvSpPr>
        <p:spPr>
          <a:xfrm>
            <a:off x="5612482" y="2341571"/>
            <a:ext cx="1478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!bMoving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63594D-B03D-556A-6D57-118C557C5BA6}"/>
              </a:ext>
            </a:extLst>
          </p:cNvPr>
          <p:cNvSpPr txBox="1"/>
          <p:nvPr/>
        </p:nvSpPr>
        <p:spPr>
          <a:xfrm>
            <a:off x="2248685" y="2200363"/>
            <a:ext cx="2014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ElapsedTime &gt;= AttackToIdleDuration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6CA710-8E9D-90ED-9A67-5B92DC822A66}"/>
              </a:ext>
            </a:extLst>
          </p:cNvPr>
          <p:cNvSpPr txBox="1"/>
          <p:nvPr/>
        </p:nvSpPr>
        <p:spPr>
          <a:xfrm>
            <a:off x="8743852" y="1914275"/>
            <a:ext cx="2471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* </a:t>
            </a: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이해를 돕기 위해 실제 코드상의</a:t>
            </a:r>
            <a:b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</a:b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자료명과 차이가 있음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 algn="r"/>
            <a:endParaRPr lang="ko-KR" altLang="en-US" sz="120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79DB245-8C84-3D13-069F-404E7FA226ED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790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95497-8F6E-82B6-A028-26D08569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3B649-D8ED-3E9E-62AD-D4C52F62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Animation State Machine</a:t>
            </a:r>
            <a:endParaRPr lang="ko-KR" altLang="en-US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A6737C-6EF2-C4CF-2FDB-2147B47E5570}"/>
              </a:ext>
            </a:extLst>
          </p:cNvPr>
          <p:cNvSpPr txBox="1"/>
          <p:nvPr/>
        </p:nvSpPr>
        <p:spPr>
          <a:xfrm>
            <a:off x="838200" y="1433129"/>
            <a:ext cx="508635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b="1" err="1">
                <a:solidFill>
                  <a:schemeClr val="bg1"/>
                </a:solidFill>
                <a:latin typeface="Aptos"/>
                <a:ea typeface="맑은 고딕"/>
              </a:rPr>
              <a:t>Lua에서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맑은 고딕"/>
              </a:rPr>
              <a:t> </a:t>
            </a:r>
            <a:r>
              <a:rPr lang="en-US" altLang="ko-KR" sz="2000" b="1" err="1">
                <a:solidFill>
                  <a:schemeClr val="bg1"/>
                </a:solidFill>
                <a:latin typeface="Aptos"/>
                <a:ea typeface="맑은 고딕"/>
              </a:rPr>
              <a:t>구현된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맑은 고딕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+mn-lt"/>
                <a:cs typeface="+mn-lt"/>
              </a:rPr>
              <a:t>State Machine (일부)</a:t>
            </a:r>
            <a:endParaRPr lang="en-US" altLang="ko-KR" sz="2000">
              <a:solidFill>
                <a:schemeClr val="bg1"/>
              </a:solidFill>
              <a:latin typeface="맑은 고딕"/>
              <a:ea typeface="맑은 고딕"/>
            </a:endParaRPr>
          </a:p>
          <a:p>
            <a:endParaRPr lang="ko-KR" altLang="en-US" sz="2000">
              <a:solidFill>
                <a:schemeClr val="bg1"/>
              </a:solidFill>
              <a:latin typeface="Aptos" panose="020B0004020202020204" pitchFamily="34" charset="0"/>
              <a:ea typeface="맑은 고딕" panose="020B0503020000020004" pitchFamily="34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86225F8-D76E-ED1A-A30C-9DD76FD8955A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20C12-CE73-54C3-C2B2-04003AA9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79" y="2234973"/>
            <a:ext cx="6819900" cy="1190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A71475-8C1A-86F8-8734-F70B1137F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32" y="3612243"/>
            <a:ext cx="459105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5FC72-5C76-6EF8-9C7C-AE10DA3A6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197" y="4502829"/>
            <a:ext cx="101917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66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665C6-3B6A-23C8-8556-E9F44F1C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D87F-1FC8-5307-9528-9001D04D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/>
                <a:ea typeface="Noto Sans KR"/>
              </a:rPr>
              <a:t>AnimNotify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32FE-DC5C-D28A-F43C-9BED2A2F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35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사전 제작된 여러 이벤트를 애니메이션의 특정 시간에 </a:t>
            </a:r>
            <a:r>
              <a:rPr lang="ko-KR" altLang="en-US" sz="2000">
                <a:latin typeface="Aptos"/>
                <a:ea typeface="Noto Sans KR"/>
              </a:rPr>
              <a:t>트리거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하기 위한 기능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</p:txBody>
      </p:sp>
      <p:pic>
        <p:nvPicPr>
          <p:cNvPr id="4" name="그림 3" descr="텍스트, 스크린샷, 멀티미디어 소프트웨어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4D8605-B6A5-AB86-2454-7D54F5DC5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99" r="20783" b="-141"/>
          <a:stretch>
            <a:fillRect/>
          </a:stretch>
        </p:blipFill>
        <p:spPr>
          <a:xfrm>
            <a:off x="971550" y="2962275"/>
            <a:ext cx="7021420" cy="2540368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5F29A81-59F1-A31D-CA34-E1A76DCC6FD8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9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A3B7-9112-1641-2105-86EA80BC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35266-1F4F-081C-612F-2BF23735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b="1">
                <a:latin typeface="Roboto"/>
                <a:ea typeface="Noto Sans KR"/>
                <a:cs typeface="Roboto"/>
              </a:rPr>
              <a:t>Unreal </a:t>
            </a:r>
            <a:r>
              <a:rPr lang="en-US" altLang="ko-KR" b="1">
                <a:latin typeface="Roboto"/>
                <a:ea typeface="Noto Sans KR"/>
                <a:cs typeface="Roboto"/>
              </a:rPr>
              <a:t>Reflection Property </a:t>
            </a:r>
            <a:r>
              <a:rPr lang="ko-KR" b="1">
                <a:latin typeface="Roboto"/>
                <a:ea typeface="Noto Sans KR"/>
                <a:cs typeface="Roboto"/>
              </a:rPr>
              <a:t>System</a:t>
            </a:r>
            <a:endParaRPr lang="ko-KR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E31E2C-169A-FA37-B9BD-360DE38A3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5801"/>
            <a:ext cx="10515600" cy="46766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000" b="1">
                <a:latin typeface="Aptos"/>
                <a:ea typeface="Noto Sans KR"/>
              </a:rPr>
              <a:t>Reflection System이란?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프로그램이 실행시간에 자기자신을 조사하는 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기능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ko-KR" altLang="en-US" sz="2400">
              <a:latin typeface="Aptos"/>
              <a:ea typeface="Noto Sans KR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2000" b="1">
                <a:latin typeface="Aptos"/>
                <a:ea typeface="Noto Sans KR"/>
              </a:rPr>
              <a:t>왜 쓰는가?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런타임 단계에서 메타데이터를 이용하기 위해서이다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latin typeface="Aptos"/>
              <a:ea typeface="Noto Sans KR"/>
            </a:endParaRPr>
          </a:p>
          <a:p>
            <a:pPr marL="0" indent="0">
              <a:lnSpc>
                <a:spcPct val="120000"/>
              </a:lnSpc>
              <a:buNone/>
            </a:pPr>
            <a:endParaRPr lang="ko-KR" altLang="en-US" sz="2400">
              <a:latin typeface="Aptos"/>
              <a:ea typeface="Noto Sans KR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2000" b="1">
                <a:latin typeface="Aptos"/>
                <a:ea typeface="Noto Sans KR"/>
              </a:rPr>
              <a:t>어디에 쓰는가</a:t>
            </a:r>
            <a:r>
              <a:rPr lang="en-US" altLang="ko-KR" sz="2000" b="1">
                <a:latin typeface="Aptos"/>
                <a:ea typeface="Noto Sans KR"/>
              </a:rPr>
              <a:t>?</a:t>
            </a:r>
            <a:endParaRPr lang="ko-KR" altLang="en-US" sz="2000" b="1">
              <a:ea typeface="Noto Sans KR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에디터, 직렬화, GC, 블루프린트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등 다양한 곳에서 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쓰인다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20000"/>
              </a:lnSpc>
              <a:buNone/>
            </a:pPr>
            <a:endParaRPr lang="ko-KR" altLang="en-US" sz="2000">
              <a:latin typeface="Aptos"/>
              <a:ea typeface="Noto Sans KR"/>
            </a:endParaRPr>
          </a:p>
        </p:txBody>
      </p:sp>
      <p:pic>
        <p:nvPicPr>
          <p:cNvPr id="5" name="그림 4" descr="Day 16] C++ 클래스와 리플렉션 시스템 활용">
            <a:extLst>
              <a:ext uri="{FF2B5EF4-FFF2-40B4-BE49-F238E27FC236}">
                <a16:creationId xmlns:a16="http://schemas.microsoft.com/office/drawing/2014/main" id="{5620427A-AF4B-A4A1-955F-1F571EC5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649" y="2120527"/>
            <a:ext cx="2923694" cy="2056721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28A800-EA71-3E17-6853-2600378161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3" t="36104" r="-763" b="873"/>
          <a:stretch>
            <a:fillRect/>
          </a:stretch>
        </p:blipFill>
        <p:spPr>
          <a:xfrm>
            <a:off x="8995071" y="4294126"/>
            <a:ext cx="2293237" cy="2126101"/>
          </a:xfrm>
          <a:prstGeom prst="rect">
            <a:avLst/>
          </a:prstGeom>
          <a:ln w="25400">
            <a:solidFill>
              <a:srgbClr val="E8F500"/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6677AF3-0EE3-63B8-4A1A-3BC70A9DB053}"/>
              </a:ext>
            </a:extLst>
          </p:cNvPr>
          <p:cNvSpPr txBox="1">
            <a:spLocks/>
          </p:cNvSpPr>
          <p:nvPr/>
        </p:nvSpPr>
        <p:spPr>
          <a:xfrm>
            <a:off x="10027289" y="2965802"/>
            <a:ext cx="2019739" cy="318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E8F500"/>
                </a:solidFill>
                <a:latin typeface="Aptos" panose="020B0004020202020204" pitchFamily="34" charset="0"/>
                <a:ea typeface="Noto Sans KR" panose="020B0200000000000000" pitchFamily="50" charset="-127"/>
                <a:cs typeface="+mj-cs"/>
              </a:defRPr>
            </a:lvl1pPr>
          </a:lstStyle>
          <a:p>
            <a:r>
              <a:rPr lang="ko-KR" altLang="en-US" sz="1500" b="1">
                <a:solidFill>
                  <a:schemeClr val="bg1"/>
                </a:solidFill>
                <a:latin typeface="Roboto"/>
                <a:ea typeface="Noto Sans KR"/>
                <a:cs typeface="Roboto"/>
              </a:rPr>
              <a:t>Blueprint</a:t>
            </a:r>
            <a:endParaRPr lang="ko-KR" altLang="en-US" sz="1500" b="1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9399B8C-5403-3EAA-6340-10B7712756B6}"/>
              </a:ext>
            </a:extLst>
          </p:cNvPr>
          <p:cNvSpPr txBox="1">
            <a:spLocks/>
          </p:cNvSpPr>
          <p:nvPr/>
        </p:nvSpPr>
        <p:spPr>
          <a:xfrm>
            <a:off x="7883546" y="5198014"/>
            <a:ext cx="1111525" cy="318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E8F500"/>
                </a:solidFill>
                <a:latin typeface="Aptos" panose="020B0004020202020204" pitchFamily="34" charset="0"/>
                <a:ea typeface="Noto Sans KR" panose="020B0200000000000000" pitchFamily="50" charset="-127"/>
                <a:cs typeface="+mj-cs"/>
              </a:defRPr>
            </a:lvl1pPr>
          </a:lstStyle>
          <a:p>
            <a:r>
              <a:rPr lang="ko-KR" altLang="en-US" sz="1500" b="1">
                <a:latin typeface="Roboto"/>
                <a:ea typeface="Noto Sans KR"/>
                <a:cs typeface="Roboto"/>
              </a:rPr>
              <a:t>Inspector</a:t>
            </a:r>
            <a:endParaRPr lang="ko-KR" altLang="en-US" sz="1500" b="1">
              <a:latin typeface="Roboto"/>
              <a:cs typeface="Roboto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04C1D1-4CEA-743A-453D-A255C8A911F1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96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CF8F-4181-8733-B505-F0D805E7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E584A-9CB7-BC18-8C85-4EC5AAC7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>
                <a:latin typeface="Roboto"/>
                <a:ea typeface="Noto Sans KR"/>
                <a:cs typeface="Roboto"/>
              </a:rPr>
              <a:t>C++ RTTI를 사용하지 않는 이유</a:t>
            </a:r>
            <a:endParaRPr lang="en-US" altLang="ko-KR" b="1">
              <a:latin typeface="Roboto"/>
              <a:cs typeface="Roboto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DF265B-27BE-47CA-0F6D-18839188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>
                <a:latin typeface="Aptos"/>
                <a:ea typeface="Noto Sans KR"/>
              </a:rPr>
              <a:t>1. </a:t>
            </a:r>
            <a:r>
              <a:rPr lang="ko-KR" sz="2400" b="1">
                <a:latin typeface="Aptos"/>
                <a:ea typeface="Noto Sans KR"/>
              </a:rPr>
              <a:t>C</a:t>
            </a:r>
            <a:r>
              <a:rPr lang="en-US" altLang="ko-KR" sz="2400" b="1">
                <a:latin typeface="Aptos"/>
                <a:ea typeface="Noto Sans KR"/>
              </a:rPr>
              <a:t>++</a:t>
            </a:r>
            <a:r>
              <a:rPr lang="ko-KR" altLang="en-US" sz="2400" b="1">
                <a:latin typeface="Aptos"/>
                <a:ea typeface="Noto Sans KR"/>
              </a:rPr>
              <a:t> </a:t>
            </a:r>
            <a:r>
              <a:rPr lang="ko-KR" sz="2400" b="1">
                <a:latin typeface="Aptos"/>
                <a:ea typeface="Noto Sans KR"/>
              </a:rPr>
              <a:t>RTTI</a:t>
            </a:r>
            <a:r>
              <a:rPr lang="ko-KR" altLang="en-US" sz="2400" b="1">
                <a:solidFill>
                  <a:schemeClr val="bg1"/>
                </a:solidFill>
                <a:latin typeface="Aptos"/>
                <a:ea typeface="Noto Sans KR"/>
              </a:rPr>
              <a:t>의 메타데이터 범위</a:t>
            </a:r>
            <a:endParaRPr lang="ko-KR" sz="2400" b="1">
              <a:solidFill>
                <a:schemeClr val="bg1"/>
              </a:solidFill>
              <a:ea typeface="Noto Sans KR"/>
            </a:endParaRPr>
          </a:p>
          <a:p>
            <a:pPr marL="342900" indent="-342900">
              <a:lnSpc>
                <a:spcPct val="100000"/>
              </a:lnSpc>
            </a:pPr>
            <a:r>
              <a:rPr lang="ko-KR" altLang="en-US" sz="2000">
                <a:solidFill>
                  <a:schemeClr val="bg1"/>
                </a:solidFill>
                <a:latin typeface="Consolas"/>
                <a:ea typeface="Noto Sans KR"/>
              </a:rPr>
              <a:t>런타임 타입</a:t>
            </a:r>
            <a:r>
              <a:rPr lang="ko-KR" sz="2000">
                <a:solidFill>
                  <a:schemeClr val="bg1"/>
                </a:solidFill>
                <a:latin typeface="Consolas"/>
                <a:ea typeface="Noto Sans KR"/>
              </a:rPr>
              <a:t> 식별</a:t>
            </a:r>
            <a:endParaRPr lang="ko-KR" sz="2000">
              <a:solidFill>
                <a:schemeClr val="bg1"/>
              </a:solidFill>
              <a:ea typeface="Noto Sans KR"/>
            </a:endParaRPr>
          </a:p>
          <a:p>
            <a:pPr marL="342900" indent="-342900">
              <a:lnSpc>
                <a:spcPct val="100000"/>
              </a:lnSpc>
            </a:pPr>
            <a:r>
              <a:rPr lang="ko-KR" sz="2000">
                <a:solidFill>
                  <a:schemeClr val="bg1"/>
                </a:solidFill>
                <a:latin typeface="Consolas"/>
                <a:ea typeface="Noto Sans KR"/>
              </a:rPr>
              <a:t>상속 관계 기반 캐스팅</a:t>
            </a:r>
            <a:endParaRPr lang="ko-KR" sz="2000">
              <a:solidFill>
                <a:schemeClr val="bg1"/>
              </a:solidFill>
              <a:ea typeface="Noto Sans KR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>
                <a:latin typeface="Aptos"/>
                <a:ea typeface="Noto Sans KR"/>
              </a:rPr>
              <a:t>2. </a:t>
            </a:r>
            <a:r>
              <a:rPr lang="ko-KR" altLang="en-US" sz="2400" b="1">
                <a:latin typeface="Aptos"/>
                <a:ea typeface="Noto Sans KR"/>
              </a:rPr>
              <a:t>Unreal</a:t>
            </a:r>
            <a:r>
              <a:rPr lang="ko-KR" altLang="en-US" sz="2400" b="1">
                <a:solidFill>
                  <a:schemeClr val="bg1"/>
                </a:solidFill>
                <a:latin typeface="Aptos"/>
                <a:ea typeface="Noto Sans KR"/>
              </a:rPr>
              <a:t>에서 필요로 하는 메타데이터 범위</a:t>
            </a:r>
          </a:p>
          <a:p>
            <a:pPr marL="457200" indent="-457200">
              <a:lnSpc>
                <a:spcPct val="100000"/>
              </a:lnSpc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멤버 정보</a:t>
            </a:r>
          </a:p>
          <a:p>
            <a:pPr marL="457200" indent="-457200">
              <a:lnSpc>
                <a:spcPct val="100000"/>
              </a:lnSpc>
            </a:pP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소유 클래스</a:t>
            </a:r>
          </a:p>
          <a:p>
            <a:pPr marL="457200" indent="-457200">
              <a:lnSpc>
                <a:spcPct val="100000"/>
              </a:lnSpc>
            </a:pP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함수 목록</a:t>
            </a:r>
            <a:r>
              <a:rPr lang="ko-KR" altLang="en-US" sz="2000">
                <a:solidFill>
                  <a:schemeClr val="bg1"/>
                </a:solidFill>
                <a:latin typeface="Aptos"/>
                <a:ea typeface="Noto Sans KR"/>
              </a:rPr>
              <a:t> 등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2000"/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2400" b="1">
                <a:latin typeface="Aptos"/>
                <a:ea typeface="Noto Sans KR"/>
              </a:rPr>
              <a:t>즉, Unreal에서는 특별한 런타임 </a:t>
            </a:r>
            <a:r>
              <a:rPr lang="ko-KR" sz="2400" b="1">
                <a:latin typeface="Aptos"/>
                <a:ea typeface="Noto Sans KR"/>
              </a:rPr>
              <a:t>descriptor</a:t>
            </a:r>
            <a:r>
              <a:rPr lang="ko-KR" altLang="en-US" sz="2400" b="1">
                <a:latin typeface="Aptos"/>
                <a:ea typeface="Noto Sans KR"/>
              </a:rPr>
              <a:t>가 필요하다</a:t>
            </a:r>
            <a:r>
              <a:rPr lang="en-US" altLang="ko-KR" sz="2400" b="1">
                <a:latin typeface="Aptos"/>
                <a:ea typeface="Noto Sans KR"/>
              </a:rPr>
              <a:t>.</a:t>
            </a:r>
            <a:endParaRPr lang="ko-KR" altLang="en-US" sz="2400" b="1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8F1745-0551-6875-DCD3-419115059019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328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146D-18F1-1E6C-29F1-332A410D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0C7B5-8A71-8CA8-53B7-0E6DE452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b="1">
                <a:latin typeface="Aptos"/>
                <a:ea typeface="Noto Sans KR"/>
                <a:cs typeface="Roboto"/>
              </a:rPr>
              <a:t>Reflection</a:t>
            </a:r>
            <a:r>
              <a:rPr lang="ko-KR" altLang="en-US" b="1">
                <a:latin typeface="Aptos"/>
                <a:ea typeface="Noto Sans KR"/>
                <a:cs typeface="Roboto"/>
              </a:rPr>
              <a:t> 동작 흐름</a:t>
            </a:r>
            <a:endParaRPr lang="ko-KR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4870BB-3509-52B3-EED4-CBDE9C58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/>
              <a:t>1. </a:t>
            </a:r>
            <a:r>
              <a:rPr lang="ko-KR" sz="2000"/>
              <a:t>UCLASS / UPROPERTY </a:t>
            </a:r>
            <a:r>
              <a:rPr lang="ko-KR" sz="2000">
                <a:solidFill>
                  <a:schemeClr val="bg1"/>
                </a:solidFill>
              </a:rPr>
              <a:t>작성</a:t>
            </a:r>
            <a:r>
              <a:rPr lang="en-US" altLang="ko-KR" sz="2000">
                <a:solidFill>
                  <a:schemeClr val="bg1"/>
                </a:solidFill>
              </a:rPr>
              <a:t>.</a:t>
            </a:r>
            <a:endParaRPr lang="ko-KR" sz="200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2. </a:t>
            </a:r>
            <a:r>
              <a:rPr lang="ko-KR" sz="2000">
                <a:latin typeface="Aptos"/>
                <a:ea typeface="Noto Sans KR"/>
              </a:rPr>
              <a:t>Python Generator 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실행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3. 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r>
              <a:rPr lang="ko-KR" sz="2000" err="1">
                <a:solidFill>
                  <a:schemeClr val="bg1"/>
                </a:solidFill>
                <a:latin typeface="Aptos"/>
                <a:ea typeface="Noto Sans KR"/>
              </a:rPr>
              <a:t>generated.h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 / generated.cpp 생성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4. 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빌드 시 UClass / FProperty </a:t>
            </a:r>
            <a:r>
              <a:rPr lang="ko-KR" sz="2000">
                <a:latin typeface="Aptos"/>
                <a:ea typeface="Noto Sans KR"/>
              </a:rPr>
              <a:t>메타데이터 등록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5. 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Object-&gt;GetClass()로 </a:t>
            </a:r>
            <a:r>
              <a:rPr lang="ko-KR" sz="2000">
                <a:latin typeface="Aptos"/>
                <a:ea typeface="Noto Sans KR"/>
              </a:rPr>
              <a:t>런타임 메타데이터 접근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latin typeface="Aptos"/>
                <a:ea typeface="Noto Sans KR"/>
              </a:rPr>
              <a:t>6. </a:t>
            </a:r>
            <a:r>
              <a:rPr lang="ko-KR" sz="2000">
                <a:solidFill>
                  <a:schemeClr val="bg1"/>
                </a:solidFill>
                <a:latin typeface="Aptos"/>
                <a:ea typeface="Noto Sans KR"/>
              </a:rPr>
              <a:t>Inspector / Serialization / Lua가 동일한 Property 정보 사용</a:t>
            </a:r>
            <a:r>
              <a:rPr lang="en-US" altLang="ko-KR" sz="2000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sz="2000">
              <a:solidFill>
                <a:schemeClr val="bg1"/>
              </a:solidFill>
              <a:latin typeface="Aptos"/>
              <a:ea typeface="Noto Sans K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/>
              <a:t>7. </a:t>
            </a:r>
            <a:r>
              <a:rPr lang="en-US" altLang="ko-KR" sz="2000">
                <a:solidFill>
                  <a:schemeClr val="bg1"/>
                </a:solidFill>
              </a:rPr>
              <a:t>Property</a:t>
            </a:r>
            <a:r>
              <a:rPr lang="ko-KR" altLang="en-US" sz="2000">
                <a:solidFill>
                  <a:schemeClr val="bg1"/>
                </a:solidFill>
              </a:rPr>
              <a:t> 수정 → </a:t>
            </a:r>
            <a:r>
              <a:rPr lang="ko-KR" altLang="en-US" sz="2000"/>
              <a:t>실제 </a:t>
            </a:r>
            <a:r>
              <a:rPr lang="en-US" altLang="ko-KR" sz="2000"/>
              <a:t>C</a:t>
            </a:r>
            <a:r>
              <a:rPr lang="ko-KR" sz="2000"/>
              <a:t>++</a:t>
            </a:r>
            <a:r>
              <a:rPr lang="ko-KR" altLang="en-US" sz="2000"/>
              <a:t> 멤버 값 변경</a:t>
            </a:r>
            <a:r>
              <a:rPr lang="en-US" altLang="ko-KR" sz="2000">
                <a:solidFill>
                  <a:schemeClr val="bg1"/>
                </a:solidFill>
              </a:rPr>
              <a:t>.</a:t>
            </a:r>
            <a:endParaRPr lang="ko-KR" sz="200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9B8298-9350-B605-875F-E713603619AE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8C48BE-823C-871F-397A-28EBADD261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7" t="16569" r="-72" b="20235"/>
          <a:stretch>
            <a:fillRect/>
          </a:stretch>
        </p:blipFill>
        <p:spPr>
          <a:xfrm>
            <a:off x="-1307" y="1711158"/>
            <a:ext cx="12198913" cy="43339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2D5260-567D-D063-81DA-478F6C34B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829" y="3413961"/>
            <a:ext cx="1724025" cy="190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D274A18-B1EB-A724-4F88-01561E19B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088" y="3198228"/>
            <a:ext cx="2038350" cy="2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26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24B7-2609-98B2-B163-8EC6E001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C52DC-4C8A-FE8D-2E1F-0E4CBA5B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>
                <a:latin typeface="Aptos"/>
                <a:ea typeface="Noto Sans KR"/>
                <a:cs typeface="Roboto"/>
              </a:rPr>
              <a:t>마크업</a:t>
            </a:r>
            <a:endParaRPr lang="ko-KR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D242D-8009-09A1-C7DD-78F7A4552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114"/>
            <a:ext cx="10515600" cy="116404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UCLASS,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UPROPERTY,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UFUNCTION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 같은 </a:t>
            </a:r>
            <a:r>
              <a:rPr lang="ko-KR" sz="2000" b="1">
                <a:latin typeface="Aptos"/>
                <a:ea typeface="Noto Sans KR"/>
              </a:rPr>
              <a:t>매크로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를 사용해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UHT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가 </a:t>
            </a:r>
            <a:r>
              <a:rPr lang="ko-KR" sz="2000" b="1">
                <a:latin typeface="Aptos"/>
                <a:ea typeface="Noto Sans KR"/>
              </a:rPr>
              <a:t>어떤 </a:t>
            </a:r>
            <a:r>
              <a:rPr lang="en-US" altLang="ko-KR" sz="2000" b="1">
                <a:latin typeface="Aptos"/>
                <a:ea typeface="Noto Sans KR"/>
              </a:rPr>
              <a:t>C++</a:t>
            </a:r>
            <a:r>
              <a:rPr lang="ko-KR" sz="2000" b="1">
                <a:latin typeface="Aptos"/>
                <a:ea typeface="Noto Sans KR"/>
              </a:rPr>
              <a:t> 타입과 멤버를 </a:t>
            </a:r>
            <a:r>
              <a:rPr lang="ko-KR" sz="2000" b="1" err="1">
                <a:latin typeface="Aptos"/>
                <a:ea typeface="Noto Sans KR"/>
              </a:rPr>
              <a:t>리플렉션</a:t>
            </a:r>
            <a:r>
              <a:rPr lang="ko-KR" sz="2000" b="1">
                <a:latin typeface="Aptos"/>
                <a:ea typeface="Noto Sans KR"/>
              </a:rPr>
              <a:t> 대상으로 처리해야 하는지 표시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한다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ko-KR" altLang="en-US" sz="2000" b="1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400" b="1">
              <a:latin typeface="Aptos"/>
              <a:ea typeface="Noto Sans K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975D8-A2A1-9C5B-170C-8562A7A17A93}"/>
              </a:ext>
            </a:extLst>
          </p:cNvPr>
          <p:cNvSpPr txBox="1"/>
          <p:nvPr/>
        </p:nvSpPr>
        <p:spPr>
          <a:xfrm>
            <a:off x="838200" y="3261646"/>
            <a:ext cx="7946102" cy="27858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ko-KR" sz="1700" b="1">
                <a:solidFill>
                  <a:srgbClr val="FFFF00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UCLASS / UPROPERTY / UFUNCTION</a:t>
            </a:r>
            <a:endParaRPr lang="ko-KR" sz="1700" b="1"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→ 클래스</a:t>
            </a:r>
            <a:r>
              <a:rPr lang="en-US" alt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</a:t>
            </a: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변수</a:t>
            </a:r>
            <a:r>
              <a:rPr lang="en-US" alt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</a:t>
            </a: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함수를 </a:t>
            </a:r>
            <a:r>
              <a:rPr lang="ko-KR" sz="1700" err="1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리플렉션</a:t>
            </a: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대상으로 표시</a:t>
            </a:r>
            <a:r>
              <a:rPr lang="ko-KR" altLang="en-US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한다</a:t>
            </a:r>
            <a:r>
              <a:rPr lang="en-US" alt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endParaRPr lang="ko-KR" sz="1700"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ko-KR" sz="1700" b="1">
                <a:solidFill>
                  <a:srgbClr val="FFFF00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r>
              <a:rPr lang="ko-KR" sz="1700" b="1" err="1">
                <a:solidFill>
                  <a:srgbClr val="FFFF00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generated.h</a:t>
            </a:r>
            <a:r>
              <a:rPr lang="ko-KR" sz="1700" b="1">
                <a:solidFill>
                  <a:srgbClr val="FFFF00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</a:t>
            </a:r>
            <a:r>
              <a:rPr lang="ko-KR" sz="1700" b="1" err="1">
                <a:solidFill>
                  <a:srgbClr val="FFFF00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include</a:t>
            </a:r>
            <a:endParaRPr lang="ko-KR" sz="1700" b="1"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→ </a:t>
            </a:r>
            <a:r>
              <a:rPr lang="ko-KR" sz="1700" err="1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UHT가</a:t>
            </a: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생성한 코드를 현재 헤더에 포함</a:t>
            </a:r>
            <a:r>
              <a:rPr lang="ko-KR" altLang="en-US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한다</a:t>
            </a:r>
            <a:r>
              <a:rPr lang="en-US" alt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endParaRPr lang="ko-KR" sz="1700"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ko-KR" sz="1700" b="1">
                <a:solidFill>
                  <a:srgbClr val="FFFF00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GENERATED_BODY()</a:t>
            </a:r>
            <a:endParaRPr lang="ko-KR" sz="1700" b="1"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→ </a:t>
            </a:r>
            <a:r>
              <a:rPr lang="ko-KR" sz="1700" err="1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UHT가</a:t>
            </a:r>
            <a:r>
              <a:rPr 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생성한 선언 코드가 클래스 내부에 들어갈 위치</a:t>
            </a:r>
            <a:r>
              <a:rPr lang="ko-KR" altLang="en-US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를 제공한다</a:t>
            </a:r>
            <a:r>
              <a:rPr lang="en-US" altLang="ko-KR" sz="1700">
                <a:solidFill>
                  <a:schemeClr val="bg1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endParaRPr lang="ko-KR"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1C2718-55B4-CEDF-FFCB-D0854DCFF6A7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435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BB53-0013-8871-9D4D-EC2DE67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EB5CA6-41F7-C412-FAEF-57EA8E69E0FD}"/>
              </a:ext>
            </a:extLst>
          </p:cNvPr>
          <p:cNvSpPr/>
          <p:nvPr/>
        </p:nvSpPr>
        <p:spPr>
          <a:xfrm>
            <a:off x="609600" y="2881345"/>
            <a:ext cx="5076825" cy="3373198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#</a:t>
            </a:r>
            <a:r>
              <a:rPr lang="en-US" sz="13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include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 </a:t>
            </a:r>
            <a:r>
              <a:rPr lang="en-US" sz="1300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"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AReflectionTestActor.generated.h</a:t>
            </a:r>
            <a:r>
              <a:rPr lang="en-US" sz="1300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"</a:t>
            </a:r>
            <a:endParaRPr lang="en-US" sz="1300">
              <a:solidFill>
                <a:srgbClr val="4EC9B0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solidFill>
                  <a:srgbClr val="BEB7FF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UCLASS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()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solidFill>
                  <a:srgbClr val="569CD6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class 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AReflectionTestActor</a:t>
            </a:r>
            <a:r>
              <a:rPr lang="en-US" sz="1300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 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: </a:t>
            </a:r>
            <a:r>
              <a:rPr lang="en-US" sz="1300">
                <a:solidFill>
                  <a:srgbClr val="569CD6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public 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AActor</a:t>
            </a:r>
            <a:endParaRPr lang="en-US" sz="1300">
              <a:solidFill>
                <a:srgbClr val="4EC9B0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{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    </a:t>
            </a:r>
            <a:r>
              <a:rPr lang="en-US" sz="1300">
                <a:solidFill>
                  <a:srgbClr val="BEB7FF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GENERATED_BODY</a:t>
            </a:r>
            <a:r>
              <a:rPr lang="en-US" altLang="ko-KR" sz="1300">
                <a:solidFill>
                  <a:srgbClr val="BEB7FF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(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AReflectionTestActor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, 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AActor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)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solidFill>
                  <a:srgbClr val="569CD6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public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: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    </a:t>
            </a:r>
            <a:r>
              <a:rPr lang="en-US" sz="1300">
                <a:solidFill>
                  <a:srgbClr val="BEB7FF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UPROPERTY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(Edit, </a:t>
            </a:r>
            <a:r>
              <a:rPr lang="en-US" sz="1300" err="1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LuaRead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, </a:t>
            </a:r>
            <a:r>
              <a:rPr lang="en-US" sz="1300" err="1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LuaWrite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)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    </a:t>
            </a:r>
            <a:r>
              <a:rPr lang="en-US" sz="1300">
                <a:solidFill>
                  <a:srgbClr val="569CD6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float 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Speed = 0.0f;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    </a:t>
            </a:r>
            <a:r>
              <a:rPr lang="en-US" sz="1300">
                <a:solidFill>
                  <a:srgbClr val="BEB7FF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UPROPERTY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(Edit, </a:t>
            </a:r>
            <a:r>
              <a:rPr lang="en-US" sz="1300" err="1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LuaRead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, </a:t>
            </a:r>
            <a:r>
              <a:rPr lang="en-US" sz="1300" err="1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LuaWrite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)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    </a:t>
            </a:r>
            <a:r>
              <a:rPr lang="en-US" sz="1300">
                <a:solidFill>
                  <a:srgbClr val="569CD6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float 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Health = 0.0f;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};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1E158B-13F9-664F-D24A-462BF4189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err="1">
                <a:latin typeface="Aptos"/>
                <a:ea typeface="Noto Sans KR"/>
                <a:cs typeface="Roboto"/>
              </a:rPr>
              <a:t>Generator</a:t>
            </a:r>
            <a:r>
              <a:rPr lang="ko-KR" altLang="en-US" b="1">
                <a:latin typeface="Aptos"/>
                <a:ea typeface="Noto Sans KR"/>
                <a:cs typeface="Roboto"/>
              </a:rPr>
              <a:t>​</a:t>
            </a:r>
            <a:endParaRPr lang="ko-KR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90E5F5-7E99-49B8-5FDA-49A6670E0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C++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 헤더를 빌드 전에 스캔해서 UCLASS, UPROPERTY 마커를 찾고, </a:t>
            </a:r>
            <a:endParaRPr lang="en-US" altLang="ko-KR" sz="2000" b="1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err="1">
                <a:solidFill>
                  <a:schemeClr val="bg1"/>
                </a:solidFill>
                <a:latin typeface="Aptos"/>
                <a:ea typeface="Noto Sans KR"/>
              </a:rPr>
              <a:t>UClass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 / </a:t>
            </a:r>
            <a:r>
              <a:rPr lang="en-US" altLang="ko-KR" sz="2000" b="1" err="1">
                <a:solidFill>
                  <a:schemeClr val="bg1"/>
                </a:solidFill>
                <a:latin typeface="Aptos"/>
                <a:ea typeface="Noto Sans KR"/>
              </a:rPr>
              <a:t>FProperty</a:t>
            </a:r>
            <a:r>
              <a:rPr lang="ko-KR" sz="2000" b="1">
                <a:solidFill>
                  <a:schemeClr val="bg1"/>
                </a:solidFill>
                <a:latin typeface="Aptos"/>
                <a:ea typeface="Noto Sans KR"/>
              </a:rPr>
              <a:t> 메타데이터 코드로 </a:t>
            </a:r>
            <a:r>
              <a:rPr lang="ko-KR" altLang="en-US" sz="2000" b="1">
                <a:solidFill>
                  <a:schemeClr val="bg1"/>
                </a:solidFill>
                <a:latin typeface="Aptos"/>
                <a:ea typeface="Noto Sans KR"/>
              </a:rPr>
              <a:t>변환한다</a:t>
            </a:r>
            <a:r>
              <a:rPr lang="en-US" altLang="ko-KR" sz="2000" b="1">
                <a:solidFill>
                  <a:schemeClr val="bg1"/>
                </a:solidFill>
                <a:latin typeface="Aptos"/>
                <a:ea typeface="Noto Sans KR"/>
              </a:rPr>
              <a:t>.</a:t>
            </a:r>
            <a:endParaRPr lang="en-US" altLang="ko-KR" sz="2000" b="1">
              <a:solidFill>
                <a:schemeClr val="bg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8F920E-FA46-ED90-D20E-6C64DF2A8EF5}"/>
              </a:ext>
            </a:extLst>
          </p:cNvPr>
          <p:cNvSpPr/>
          <p:nvPr/>
        </p:nvSpPr>
        <p:spPr>
          <a:xfrm>
            <a:off x="6734174" y="2881345"/>
            <a:ext cx="4991101" cy="3373198"/>
          </a:xfrm>
          <a:prstGeom prst="roundRect">
            <a:avLst/>
          </a:prstGeom>
          <a:noFill/>
          <a:ln>
            <a:solidFill>
              <a:srgbClr val="E8F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300" err="1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Class</a:t>
            </a:r>
            <a:r>
              <a:rPr lang="en-US" sz="1300" err="1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.</a:t>
            </a:r>
            <a:r>
              <a:rPr lang="en-US" sz="1300" err="1">
                <a:solidFill>
                  <a:srgbClr val="DCDC79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AddProperty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(</a:t>
            </a:r>
            <a:r>
              <a:rPr lang="en-US" sz="1300" err="1">
                <a:solidFill>
                  <a:srgbClr val="DCDC79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MakeProperty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&lt;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FFloatProperty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&gt;( </a:t>
            </a:r>
            <a:endParaRPr lang="ko-KR" alt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"Speed"</a:t>
            </a:r>
            <a:r>
              <a:rPr lang="en-US" sz="1300">
                <a:solidFill>
                  <a:schemeClr val="accent3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,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 </a:t>
            </a: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 err="1">
                <a:solidFill>
                  <a:srgbClr val="BEB7FF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offsetof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(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AReflectionTestActor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, Speed),  </a:t>
            </a:r>
            <a:endParaRPr lang="en-US" sz="1300">
              <a:solidFill>
                <a:srgbClr val="FFFFFF"/>
              </a:solidFill>
              <a:latin typeface="Consolas" panose="020B0609020204030204" pitchFamily="49" charset="0"/>
              <a:ea typeface="Noto Sans KR" panose="020B0200000000000000" pitchFamily="50" charset="-127"/>
              <a:cs typeface="+mn-lt"/>
            </a:endParaRPr>
          </a:p>
          <a:p>
            <a:r>
              <a:rPr lang="en-US" sz="130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 err="1">
                <a:solidFill>
                  <a:srgbClr val="569CD6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sizeof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(</a:t>
            </a:r>
            <a:r>
              <a:rPr lang="en-US" sz="1300">
                <a:solidFill>
                  <a:srgbClr val="569CD6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float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), 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EPropertyFlags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::</a:t>
            </a:r>
            <a:r>
              <a:rPr lang="en-US" sz="1300">
                <a:solidFill>
                  <a:srgbClr val="B4D7A3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Read 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|</a:t>
            </a: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EPropertyFlags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::</a:t>
            </a:r>
            <a:r>
              <a:rPr lang="en-US" sz="1300">
                <a:solidFill>
                  <a:srgbClr val="B4D7A3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Write 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|</a:t>
            </a: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EPropertyFlags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::</a:t>
            </a:r>
            <a:r>
              <a:rPr lang="en-US" sz="1300">
                <a:solidFill>
                  <a:srgbClr val="B4D7A3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Edit 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|  </a:t>
            </a: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EPropertyFlags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::</a:t>
            </a:r>
            <a:r>
              <a:rPr lang="en-US" sz="1300" err="1">
                <a:solidFill>
                  <a:srgbClr val="B4D7A3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LuaRead</a:t>
            </a:r>
            <a:r>
              <a:rPr lang="en-US" sz="1300">
                <a:solidFill>
                  <a:srgbClr val="B4D7A3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 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|  </a:t>
            </a: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  </a:t>
            </a:r>
            <a:r>
              <a:rPr lang="en-US" sz="1300" err="1">
                <a:solidFill>
                  <a:srgbClr val="4EC9B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EPropertyFlags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::</a:t>
            </a:r>
            <a:r>
              <a:rPr lang="en-US" sz="1300" err="1">
                <a:solidFill>
                  <a:srgbClr val="B4D7A3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LuaWrite</a:t>
            </a:r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  <a:cs typeface="+mn-lt"/>
              </a:rPr>
              <a:t>));</a:t>
            </a:r>
            <a:endParaRPr lang="en-US" sz="1300"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</a:rPr>
              <a:t>.</a:t>
            </a:r>
          </a:p>
          <a:p>
            <a:r>
              <a:rPr lang="en-US" sz="1300">
                <a:latin typeface="Consolas" panose="020B0609020204030204" pitchFamily="49" charset="0"/>
                <a:ea typeface="Noto Sans KR" panose="020B0200000000000000" pitchFamily="50" charset="-127"/>
              </a:rPr>
              <a:t>.</a:t>
            </a:r>
          </a:p>
          <a:p>
            <a:endParaRPr lang="en-US" altLang="ko-KR" sz="13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005AA3-0967-C74A-184B-86CC35A7218C}"/>
              </a:ext>
            </a:extLst>
          </p:cNvPr>
          <p:cNvSpPr/>
          <p:nvPr/>
        </p:nvSpPr>
        <p:spPr>
          <a:xfrm>
            <a:off x="1104900" y="4824412"/>
            <a:ext cx="3257550" cy="485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D7DF02B-6005-984C-2928-4DD0A941CAD0}"/>
              </a:ext>
            </a:extLst>
          </p:cNvPr>
          <p:cNvCxnSpPr>
            <a:cxnSpLocks/>
          </p:cNvCxnSpPr>
          <p:nvPr/>
        </p:nvCxnSpPr>
        <p:spPr>
          <a:xfrm flipV="1">
            <a:off x="4362450" y="3505200"/>
            <a:ext cx="2371724" cy="156209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FBD261-B058-D9CD-2D65-4F2A88F34FD4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397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F71E-F3E5-A2BF-00A1-6EF7EAC7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5EB27-9E9A-49CE-4842-DE91F928A5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>
                <a:latin typeface="Aptos"/>
                <a:ea typeface="Noto Sans KR"/>
              </a:rPr>
              <a:t>Showcase</a:t>
            </a:r>
            <a:endParaRPr lang="en-US" altLang="ko-KR" b="1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29E369-B585-332A-4AEB-27F07A4F0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25" y="3509963"/>
            <a:ext cx="25146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김태현</a:t>
            </a:r>
            <a:endParaRPr lang="en-US" altLang="ko-KR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김호준</a:t>
            </a:r>
            <a:endParaRPr lang="en-US" altLang="ko-KR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김기훈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C8CAF8-DBA9-89EB-9D75-612CF9248042}"/>
              </a:ext>
            </a:extLst>
          </p:cNvPr>
          <p:cNvSpPr/>
          <p:nvPr/>
        </p:nvSpPr>
        <p:spPr>
          <a:xfrm>
            <a:off x="0" y="1"/>
            <a:ext cx="12192000" cy="152399"/>
          </a:xfrm>
          <a:prstGeom prst="rect">
            <a:avLst/>
          </a:prstGeom>
          <a:solidFill>
            <a:srgbClr val="E8F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095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2DBF6813BEE09409237611D917F28C9" ma:contentTypeVersion="10" ma:contentTypeDescription="새 문서를 만듭니다." ma:contentTypeScope="" ma:versionID="4064f2587141b6247dc178b857e314fb">
  <xsd:schema xmlns:xsd="http://www.w3.org/2001/XMLSchema" xmlns:xs="http://www.w3.org/2001/XMLSchema" xmlns:p="http://schemas.microsoft.com/office/2006/metadata/properties" xmlns:ns3="efc932e1-1e2c-4d70-ba43-b0d10ef0ba1e" targetNamespace="http://schemas.microsoft.com/office/2006/metadata/properties" ma:root="true" ma:fieldsID="64338e1baedfa03b7d47ef46ab7397f0" ns3:_="">
    <xsd:import namespace="efc932e1-1e2c-4d70-ba43-b0d10ef0ba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932e1-1e2c-4d70-ba43-b0d10ef0ba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c932e1-1e2c-4d70-ba43-b0d10ef0ba1e" xsi:nil="true"/>
  </documentManagement>
</p:properties>
</file>

<file path=customXml/itemProps1.xml><?xml version="1.0" encoding="utf-8"?>
<ds:datastoreItem xmlns:ds="http://schemas.openxmlformats.org/officeDocument/2006/customXml" ds:itemID="{12CBEED9-C7D2-4907-A9B8-73831F06E2DA}">
  <ds:schemaRefs>
    <ds:schemaRef ds:uri="efc932e1-1e2c-4d70-ba43-b0d10ef0ba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DBE842B-A5B5-4D3B-9DF9-B4165D57C5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08A0C1-6044-4B47-9026-E940843D676F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fc932e1-1e2c-4d70-ba43-b0d10ef0ba1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Microsoft Office PowerPoint</Application>
  <PresentationFormat>와이드스크린</PresentationFormat>
  <Paragraphs>240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Noto Sans KR</vt:lpstr>
      <vt:lpstr>맑은 고딕</vt:lpstr>
      <vt:lpstr>Aptos</vt:lpstr>
      <vt:lpstr>Arial</vt:lpstr>
      <vt:lpstr>Consolas</vt:lpstr>
      <vt:lpstr>Courier New</vt:lpstr>
      <vt:lpstr>Roboto</vt:lpstr>
      <vt:lpstr>Wingdings</vt:lpstr>
      <vt:lpstr>Office 테마</vt:lpstr>
      <vt:lpstr>Animation</vt:lpstr>
      <vt:lpstr>Contents</vt:lpstr>
      <vt:lpstr>GPU Skinning</vt:lpstr>
      <vt:lpstr>GPU Skinning</vt:lpstr>
      <vt:lpstr>GPU Skinning</vt:lpstr>
      <vt:lpstr>GPU Skinning</vt:lpstr>
      <vt:lpstr>Bone Weight Heatmap</vt:lpstr>
      <vt:lpstr>Import Animation from FBX</vt:lpstr>
      <vt:lpstr>Import Animation from FBX</vt:lpstr>
      <vt:lpstr>Animation State Machine</vt:lpstr>
      <vt:lpstr>Animation State Machine</vt:lpstr>
      <vt:lpstr>Animation State Machine</vt:lpstr>
      <vt:lpstr>Animation State Machine</vt:lpstr>
      <vt:lpstr>Animation State Machine</vt:lpstr>
      <vt:lpstr>AnimNotify</vt:lpstr>
      <vt:lpstr>Unreal Reflection Property System</vt:lpstr>
      <vt:lpstr>C++ RTTI를 사용하지 않는 이유</vt:lpstr>
      <vt:lpstr>Reflection 동작 흐름</vt:lpstr>
      <vt:lpstr>마크업</vt:lpstr>
      <vt:lpstr>Generator​</vt:lpstr>
      <vt:lpstr>Showcase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2</cp:revision>
  <dcterms:created xsi:type="dcterms:W3CDTF">2026-05-20T10:07:55Z</dcterms:created>
  <dcterms:modified xsi:type="dcterms:W3CDTF">2026-05-21T08:09:56Z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0x010100F2DBF6813BEE09409237611D917F28C9</vt:lpwstr>
  </property>
</Properties>
</file>