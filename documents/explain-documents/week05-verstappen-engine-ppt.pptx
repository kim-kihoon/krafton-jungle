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  <p:sldId id="276" r:id="rId9"/>
    <p:sldId id="271" r:id="rId10"/>
    <p:sldId id="272" r:id="rId11"/>
    <p:sldId id="264" r:id="rId12"/>
    <p:sldId id="265" r:id="rId13"/>
    <p:sldId id="270" r:id="rId14"/>
    <p:sldId id="267" r:id="rId15"/>
    <p:sldId id="273" r:id="rId16"/>
    <p:sldId id="275" r:id="rId17"/>
    <p:sldId id="268" r:id="rId18"/>
    <p:sldId id="26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4C"/>
    <a:srgbClr val="00174C"/>
    <a:srgbClr val="FFCC00"/>
    <a:srgbClr val="FF1801"/>
    <a:srgbClr val="E301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C2A4F-EEC7-1ADE-A85A-6F3122369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362511-27EF-13B2-92B0-4BE5AEE78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8A68C2-4D86-4762-E858-F696EB59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EDD05C-E127-2636-9193-6161A634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F28681-2790-D56D-4EA3-08AE5219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32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DB7C9-FE04-4AA7-1A1E-73A9B2A3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4A0B8A-3507-6970-5246-E47C19AB8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BD341B-9CF8-CCB2-9616-492C4C740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B3B769-E5F8-814D-7A54-7A263145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D5B51-47F7-5DD0-8DE7-0500DA1F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81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265F8-5A56-81C8-E050-EC9FEDCC1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6AC695-12DE-C4AE-5FA8-54C929809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75524-36CC-CDE9-D481-1688A889A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1DA8BD-9AFC-6E70-24BF-A5F19259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F95A7-471E-A129-DF08-D58A1210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0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5F318-A226-E274-1184-7C43347F4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077840-612C-5CC8-F6AE-E83A2908D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CF4423-C28F-AF9D-1B3D-5FA1BE567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F535BC-0446-FCA2-C7B5-645519FED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B2C318-1F30-7EC1-9294-E837E3104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15FCA1-39CA-626C-5136-78BEB95C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47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CAE9D-F2DE-84C4-ACA2-6606AB561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7478DE-4243-E214-D948-E3ADD2162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0DBD68-9953-C9A1-477E-5DD8E4C18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5F05C2-11B8-BCBF-4CB2-84EE13BB4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3ED30C-CCB9-3365-AA24-5CB4459AF3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10744B5-9DB7-46C0-43A8-665CD7F1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BF8A4D-A9B3-4D0A-97FD-4C23AD1A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267C7C-E0E9-D1A9-0C67-CD9DC4BA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41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D059A-F62D-852F-7A5A-9FF210A8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C035E9-FABA-233B-E3DC-F7E1214A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A184A2-9D93-BAFD-891E-438B4464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F0AEA2-E618-42E6-B214-C8F2D020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98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B2B95C-F4D8-A5E6-3EAA-EA4AAF08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1BBC7A-147A-3EFC-8CD7-3ED5E9B33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16E9CE-312E-A20F-51A8-CBD18941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84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63ECC-7665-0AD1-2862-7ED93F9A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05F548-457D-7F9F-6ECF-4233ACD2F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CEE07A-1CC9-0503-C22E-59BEF9D51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088863-C3E6-6B48-B2F1-ACB7DCD9F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03DCFC-138F-BFD9-9ECD-230ACC2E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28924E-05E9-5BEB-892F-3BAFC08D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087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6E6AF-96EB-FD4C-475D-836E1573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730CD0F-BC96-4DA1-53A0-9A8A67FA9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12D32-6A13-98F6-E5F4-23723D714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5B703F-8DFC-98C6-20CF-FC966C299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7E866D-CEEA-F7EB-EFB5-22ABB5E53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86DAF9-1DEA-F6F8-0F38-029DCE70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925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89B87-7504-4AA5-C995-3F2EBAAF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4DCA57-CF71-2041-B222-7DF46A8EC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933C1E-EE39-97DD-AE44-63600758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DA6945-770B-13F7-DDF8-1EBE2A36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A4ED37-97D4-B615-F7A3-9AC4D615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10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1ABDAB-4353-E435-0239-46C66A055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57FAB9-58A0-FCE0-C165-41DA464B0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C71347-CE44-01AE-7EA5-A716E55B1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521973-3F7E-31B5-8CFE-14515568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B34D52-B65C-DE1D-4E4B-102E9CAC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76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7FE812-54CC-208B-FDC7-01FE4403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82ECC9-C003-1E93-D7BD-A6374914C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76CAFE-800B-D8C7-DA94-0C3F4129B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F9503-DCB0-4B25-8DC6-A87AEAC820B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7269F4-EFAA-5871-7B33-53F7897DB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20B95-10D7-DCD9-64DE-3DD5B9F43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2DC29B-39D6-4D3A-9CB0-354CACB9E8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67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7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7B402-7FAF-F259-649D-8ADAA5596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226" y="16641"/>
            <a:ext cx="10217544" cy="1445053"/>
          </a:xfrm>
        </p:spPr>
        <p:txBody>
          <a:bodyPr>
            <a:normAutofit/>
          </a:bodyPr>
          <a:lstStyle/>
          <a:p>
            <a:r>
              <a:rPr lang="en-US" altLang="ko-KR" sz="8800" dirty="0">
                <a:solidFill>
                  <a:schemeClr val="bg1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VERSTAPPEN ENGINE</a:t>
            </a:r>
            <a:endParaRPr lang="ko-KR" altLang="en-US" sz="8800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623D43-9226-BB56-96C5-C7A0E509E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329" y="618736"/>
            <a:ext cx="4721339" cy="5939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A8A9D7-F680-6020-1174-C22933A258EC}"/>
              </a:ext>
            </a:extLst>
          </p:cNvPr>
          <p:cNvSpPr txBox="1"/>
          <p:nvPr/>
        </p:nvSpPr>
        <p:spPr>
          <a:xfrm>
            <a:off x="1164507" y="3895109"/>
            <a:ext cx="297887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Bauhaus 93" panose="04030905020B02020C02" pitchFamily="82" charset="0"/>
              </a:rPr>
              <a:t>MAX VERSTAPPEN</a:t>
            </a:r>
          </a:p>
          <a:p>
            <a:pPr algn="r"/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Bahnschrift SemiBold Condensed" panose="020B0502040204020203" pitchFamily="34" charset="0"/>
              </a:rPr>
              <a:t>Oracle Red Bull Racing No.3</a:t>
            </a:r>
          </a:p>
          <a:p>
            <a:pPr algn="r"/>
            <a:endParaRPr lang="en-US" altLang="ko-KR" dirty="0">
              <a:solidFill>
                <a:schemeClr val="bg1">
                  <a:lumMod val="65000"/>
                </a:schemeClr>
              </a:solidFill>
              <a:latin typeface="Bahnschrift SemiBold Condensed" panose="020B0502040204020203" pitchFamily="34" charset="0"/>
            </a:endParaRPr>
          </a:p>
          <a:p>
            <a:pPr algn="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2024  Formula One Champion</a:t>
            </a:r>
          </a:p>
          <a:p>
            <a:pPr algn="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2023  Formula One Champion</a:t>
            </a:r>
          </a:p>
          <a:p>
            <a:pPr algn="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2022  Formula One Champion</a:t>
            </a:r>
          </a:p>
          <a:p>
            <a:pPr algn="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Bahnschrift SemiBold Condensed" panose="020B0502040204020203" pitchFamily="34" charset="0"/>
              </a:rPr>
              <a:t>  2021  Formula One Champion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F1DBAF-2A85-39A0-C965-EC7997A847E3}"/>
              </a:ext>
            </a:extLst>
          </p:cNvPr>
          <p:cNvSpPr/>
          <p:nvPr/>
        </p:nvSpPr>
        <p:spPr>
          <a:xfrm>
            <a:off x="0" y="6528803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7AD839-7EC1-1309-88AE-E5633833A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5056" y="6558111"/>
            <a:ext cx="2675765" cy="325485"/>
          </a:xfrm>
        </p:spPr>
        <p:txBody>
          <a:bodyPr>
            <a:normAutofit/>
          </a:bodyPr>
          <a:lstStyle/>
          <a:p>
            <a:r>
              <a:rPr lang="ko-KR" altLang="en-US" sz="1600" dirty="0">
                <a:solidFill>
                  <a:srgbClr val="FFCC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김기훈 김지수 김효범 오준혁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FE4089-231D-CA48-7FDD-7EB8FFCD7F9A}"/>
              </a:ext>
            </a:extLst>
          </p:cNvPr>
          <p:cNvSpPr txBox="1"/>
          <p:nvPr/>
        </p:nvSpPr>
        <p:spPr>
          <a:xfrm>
            <a:off x="0" y="6483486"/>
            <a:ext cx="1001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FFCC00"/>
                </a:solidFill>
                <a:latin typeface="Bauhaus 93" panose="04030905020B02020C02" pitchFamily="82" charset="0"/>
              </a:rPr>
              <a:t>TEAM 6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59666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74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4566E8-FEA6-F767-620D-09980043C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A5980-F151-3EF6-4CED-E1C34EEE1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2988"/>
            <a:ext cx="9144000" cy="936445"/>
          </a:xfrm>
        </p:spPr>
        <p:txBody>
          <a:bodyPr/>
          <a:lstStyle/>
          <a:p>
            <a:r>
              <a:rPr lang="en-US" altLang="ko-KR" dirty="0">
                <a:solidFill>
                  <a:srgbClr val="FF004C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GOAL</a:t>
            </a:r>
            <a:endParaRPr lang="ko-KR" altLang="en-US" dirty="0">
              <a:solidFill>
                <a:srgbClr val="FF004C"/>
              </a:solidFill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930E7-7AEB-4788-D0FB-2F42BC962D0C}"/>
              </a:ext>
            </a:extLst>
          </p:cNvPr>
          <p:cNvSpPr txBox="1"/>
          <p:nvPr/>
        </p:nvSpPr>
        <p:spPr>
          <a:xfrm>
            <a:off x="1326037" y="3278498"/>
            <a:ext cx="9539926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대회의 제한사항을 위반하지 않는 한</a:t>
            </a:r>
            <a:r>
              <a:rPr lang="en-US" altLang="ko-KR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FrameTime</a:t>
            </a:r>
            <a:r>
              <a:rPr lang="ko-KR" altLang="en-US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과 </a:t>
            </a:r>
            <a:r>
              <a:rPr lang="en-US" altLang="ko-KR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Picking Latency</a:t>
            </a:r>
            <a:r>
              <a:rPr lang="ko-KR" altLang="en-US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만을 최우선으로 고려한다</a:t>
            </a:r>
            <a:r>
              <a:rPr lang="en-US" altLang="ko-KR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B5486CF-08BA-46D4-455D-D57B99125F01}"/>
              </a:ext>
            </a:extLst>
          </p:cNvPr>
          <p:cNvSpPr/>
          <p:nvPr/>
        </p:nvSpPr>
        <p:spPr>
          <a:xfrm>
            <a:off x="0" y="6528803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CCB177-739C-E99E-7DA0-A06B41CF1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21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AF28FC-D344-6534-2520-D40C341D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51A2B-07C9-329E-F811-3D91D6F14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0777"/>
            <a:ext cx="9144000" cy="936445"/>
          </a:xfrm>
          <a:noFill/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DATA</a:t>
            </a:r>
            <a:r>
              <a:rPr lang="ko-KR" altLang="en-US" dirty="0">
                <a:solidFill>
                  <a:schemeClr val="bg1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&amp;</a:t>
            </a:r>
            <a:r>
              <a:rPr lang="ko-KR" altLang="en-US" dirty="0">
                <a:solidFill>
                  <a:schemeClr val="bg1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MEMORY</a:t>
            </a:r>
            <a:endParaRPr lang="ko-KR" altLang="en-US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DDFA3E-77FB-5098-6182-AF3E096ADBE4}"/>
              </a:ext>
            </a:extLst>
          </p:cNvPr>
          <p:cNvSpPr/>
          <p:nvPr/>
        </p:nvSpPr>
        <p:spPr>
          <a:xfrm>
            <a:off x="0" y="6528803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301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78EF-ED1E-1230-CD86-B9B693038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EC16C-604A-D270-FAE4-91CEAC947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DATA &amp; MEMORY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3B5E58-46D1-BED5-A169-E8EFA9BEA61F}"/>
              </a:ext>
            </a:extLst>
          </p:cNvPr>
          <p:cNvSpPr txBox="1"/>
          <p:nvPr/>
        </p:nvSpPr>
        <p:spPr>
          <a:xfrm>
            <a:off x="4052230" y="2005074"/>
            <a:ext cx="408753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SOA (Structure of Array)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5ACF9-E9FA-5F7C-EB9E-ACB98A703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06305E-3044-799E-5008-8E0244129364}"/>
              </a:ext>
            </a:extLst>
          </p:cNvPr>
          <p:cNvSpPr txBox="1"/>
          <p:nvPr/>
        </p:nvSpPr>
        <p:spPr>
          <a:xfrm>
            <a:off x="1278537" y="2991732"/>
            <a:ext cx="9634920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Object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중심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(AOS; Array of Structure)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구조를 탈피하여 속성별 배열 구조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(SOA)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로 설계함으로써</a:t>
            </a:r>
            <a:endParaRPr lang="en-US" altLang="ko-KR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SIMD(AVX2)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가속을 극대화한다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CF3B5-A036-6E72-04F9-6BFDBEFB4E4B}"/>
              </a:ext>
            </a:extLst>
          </p:cNvPr>
          <p:cNvSpPr txBox="1"/>
          <p:nvPr/>
        </p:nvSpPr>
        <p:spPr>
          <a:xfrm>
            <a:off x="4052230" y="4141077"/>
            <a:ext cx="408753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 Increased Cache Hit Ratio.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DB2A748-065C-3678-4906-35E0779BF224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481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F218F-96D7-F7E6-77EA-CB02525E7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BFFBE-CF0E-FE0B-6177-18A4C111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DATA &amp; MEMORY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9FF62-2542-DB74-36E5-A242FFAA6277}"/>
              </a:ext>
            </a:extLst>
          </p:cNvPr>
          <p:cNvSpPr txBox="1"/>
          <p:nvPr/>
        </p:nvSpPr>
        <p:spPr>
          <a:xfrm>
            <a:off x="4052230" y="2005074"/>
            <a:ext cx="408753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64-Byte Alignment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AD310F-3921-C21D-3B06-CA64FD026808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350996-C008-9252-EC04-A9E8CF84A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D9C24D-C570-E6BA-5079-2D303B459C2F}"/>
              </a:ext>
            </a:extLst>
          </p:cNvPr>
          <p:cNvSpPr txBox="1"/>
          <p:nvPr/>
        </p:nvSpPr>
        <p:spPr>
          <a:xfrm>
            <a:off x="1278537" y="2991732"/>
            <a:ext cx="9634920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데이터 구조를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L3 Cache Line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규격인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64 Byte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 정렬 배치하여</a:t>
            </a:r>
            <a:endParaRPr lang="en-US" altLang="ko-KR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메모리 인출 시 발생하는 불필요한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Cache Line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분할을 방지하고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Load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효율을 극대화한다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D22BD-294D-EF27-4793-FC67F98E67ED}"/>
              </a:ext>
            </a:extLst>
          </p:cNvPr>
          <p:cNvSpPr txBox="1"/>
          <p:nvPr/>
        </p:nvSpPr>
        <p:spPr>
          <a:xfrm>
            <a:off x="4052230" y="4141077"/>
            <a:ext cx="408753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 alignas(64).</a:t>
            </a:r>
          </a:p>
        </p:txBody>
      </p:sp>
    </p:spTree>
    <p:extLst>
      <p:ext uri="{BB962C8B-B14F-4D97-AF65-F5344CB8AC3E}">
        <p14:creationId xmlns:p14="http://schemas.microsoft.com/office/powerpoint/2010/main" val="333435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A7352-4A43-54E9-CAD9-F13347BC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AC5C4-CD5D-560C-EFA0-7EFDD2455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0777"/>
            <a:ext cx="9144000" cy="936445"/>
          </a:xfrm>
          <a:noFill/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CULLING</a:t>
            </a:r>
            <a:endParaRPr lang="ko-KR" altLang="en-US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0F56D94-2F1B-01DB-1AAB-CCF5D85AB8FD}"/>
              </a:ext>
            </a:extLst>
          </p:cNvPr>
          <p:cNvSpPr/>
          <p:nvPr/>
        </p:nvSpPr>
        <p:spPr>
          <a:xfrm>
            <a:off x="0" y="6528803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058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58791-B750-0F3A-9F80-241C7EA12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891B3-9FAF-7196-5726-2A524C404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CULLING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5F3563-3243-D550-60A1-91DCDD4D2961}"/>
              </a:ext>
            </a:extLst>
          </p:cNvPr>
          <p:cNvSpPr txBox="1"/>
          <p:nvPr/>
        </p:nvSpPr>
        <p:spPr>
          <a:xfrm>
            <a:off x="4052230" y="2005074"/>
            <a:ext cx="408753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Uniform Grid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4CF69E0-7784-392B-BAC1-E01A59353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D59D88-C626-FAF4-967C-66C36B1F83C4}"/>
              </a:ext>
            </a:extLst>
          </p:cNvPr>
          <p:cNvSpPr txBox="1"/>
          <p:nvPr/>
        </p:nvSpPr>
        <p:spPr>
          <a:xfrm>
            <a:off x="1278537" y="2991732"/>
            <a:ext cx="9634920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전체 공간을 고정된 크기의 그리드 셀로 분할하여</a:t>
            </a:r>
            <a:b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Object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탐색 및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Culling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O(1)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의 시간 복잡도로 수행하는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Spatial Partitioning.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75DBA9-6A7D-DA7F-995D-3AEFEB1B8918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13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DEF50-6756-DB7A-F573-A4216AD50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BAE613-272F-52DB-BD1D-B9B0A709F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CULLING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A6E69-CC2D-F413-48F3-91AEB83D9D99}"/>
              </a:ext>
            </a:extLst>
          </p:cNvPr>
          <p:cNvSpPr txBox="1"/>
          <p:nvPr/>
        </p:nvSpPr>
        <p:spPr>
          <a:xfrm>
            <a:off x="2400689" y="1985341"/>
            <a:ext cx="739061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Hierarchical-Z Map Based Occlusion Culling (Hi-Z)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390EFA-BE83-8967-F011-2998B8167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5BF38C-1248-8238-0D3A-427A0C3F5111}"/>
              </a:ext>
            </a:extLst>
          </p:cNvPr>
          <p:cNvSpPr txBox="1"/>
          <p:nvPr/>
        </p:nvSpPr>
        <p:spPr>
          <a:xfrm>
            <a:off x="1278537" y="2991732"/>
            <a:ext cx="9634920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GPU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기반의 계층형 깊이 맵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(Hi-Z Map)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 구축하고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ComputeShader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에서 가시성을 판별하여</a:t>
            </a:r>
            <a:endParaRPr lang="en-US" altLang="ko-KR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가려진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Object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에 대한 불필요한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Draw Call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 실시간으로 차단한다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5577B-5229-BB4C-0F34-0EBCE800D007}"/>
              </a:ext>
            </a:extLst>
          </p:cNvPr>
          <p:cNvSpPr txBox="1"/>
          <p:nvPr/>
        </p:nvSpPr>
        <p:spPr>
          <a:xfrm>
            <a:off x="4052230" y="4141077"/>
            <a:ext cx="408753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GPU Driven Culling.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4702D89-226B-2E01-44B3-18B99FC3DAA1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44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7DE1-5FF7-B575-3489-639D1CED0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FBDA6-E3E2-FF30-BC67-9B41CA5D3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CULLING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8CA14-BA7D-6EA6-6535-80C8B3166CEF}"/>
              </a:ext>
            </a:extLst>
          </p:cNvPr>
          <p:cNvSpPr txBox="1"/>
          <p:nvPr/>
        </p:nvSpPr>
        <p:spPr>
          <a:xfrm>
            <a:off x="4052230" y="2005074"/>
            <a:ext cx="408753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Frustum</a:t>
            </a:r>
            <a:r>
              <a:rPr lang="ko-KR" altLang="en-US" sz="2400" dirty="0">
                <a:latin typeface="STHupo" panose="02010800040101010101" pitchFamily="2" charset="-122"/>
                <a:ea typeface="STHupo" panose="02010800040101010101" pitchFamily="2" charset="-122"/>
              </a:rPr>
              <a:t> </a:t>
            </a: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Culling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EE14F8-641F-3A95-B582-C15CF52AF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0B3BEC-BD8B-3ADF-753D-EF8A502289A3}"/>
              </a:ext>
            </a:extLst>
          </p:cNvPr>
          <p:cNvSpPr txBox="1"/>
          <p:nvPr/>
        </p:nvSpPr>
        <p:spPr>
          <a:xfrm>
            <a:off x="1278537" y="2991732"/>
            <a:ext cx="9634920" cy="45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View Frustrum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 벗어난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Object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들을 즉시 제외하여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GPU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의 연산 낭비를 차단한다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.​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0A9E41-D00D-BF45-686D-08C54F3D81F3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48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37164-C685-9869-969E-1DFF4E96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808B1D-D27E-C4C1-1665-40845E93E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CULLING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F44D98-51E7-D911-BB09-755352A961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422FE17-E46F-DCA1-5232-A7A462D64339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65CEF741-AE9F-5BA5-FBEC-5E196BC950DD}"/>
              </a:ext>
            </a:extLst>
          </p:cNvPr>
          <p:cNvSpPr txBox="1"/>
          <p:nvPr/>
        </p:nvSpPr>
        <p:spPr>
          <a:xfrm>
            <a:off x="1149293" y="1612222"/>
            <a:ext cx="4946704" cy="11252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Bahnschrift SemiBold Condensed"/>
                <a:ea typeface="Noto Sans KR Medium"/>
              </a:rPr>
              <a:t>DirectX::BoundingFrustum</a:t>
            </a:r>
            <a:br>
              <a:rPr lang="en-US" altLang="ko-KR" sz="2400" dirty="0">
                <a:latin typeface="Bahnschrift SemiBold Condensed"/>
                <a:ea typeface="Noto Sans KR Medium"/>
              </a:rPr>
            </a:br>
            <a:r>
              <a:rPr lang="ko-KR" altLang="en-US" sz="2400" dirty="0">
                <a:latin typeface="Bahnschrift SemiBold Condensed"/>
                <a:ea typeface="Noto Sans KR Medium"/>
              </a:rPr>
              <a:t>::Contains(Box)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3835206C-5713-8E9C-4194-E784837D5DA9}"/>
              </a:ext>
            </a:extLst>
          </p:cNvPr>
          <p:cNvSpPr txBox="1"/>
          <p:nvPr/>
        </p:nvSpPr>
        <p:spPr>
          <a:xfrm>
            <a:off x="6288279" y="1603597"/>
            <a:ext cx="4581196" cy="5712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2400" dirty="0">
                <a:latin typeface="Bahnschrift SemiBold Condensed"/>
                <a:ea typeface="맑은 고딕"/>
              </a:rPr>
              <a:t>Our Version</a:t>
            </a:r>
            <a:endParaRPr lang="ko-KR" sz="2400" dirty="0">
              <a:latin typeface="Bahnschrift SemiBold Condensed"/>
            </a:endParaRPr>
          </a:p>
        </p:txBody>
      </p:sp>
      <p:pic>
        <p:nvPicPr>
          <p:cNvPr id="1026" name="Picture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469D85-3EF8-2D43-9D66-A14D423EB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35" y="3115354"/>
            <a:ext cx="3476625" cy="619126"/>
          </a:xfrm>
          <a:prstGeom prst="roundRect">
            <a:avLst/>
          </a:prstGeom>
          <a:noFill/>
          <a:ln w="31750">
            <a:solidFill>
              <a:srgbClr val="FF004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ABAB09-BE74-1334-5150-D6C79DD5C22D}"/>
              </a:ext>
            </a:extLst>
          </p:cNvPr>
          <p:cNvSpPr txBox="1"/>
          <p:nvPr/>
        </p:nvSpPr>
        <p:spPr>
          <a:xfrm>
            <a:off x="4052230" y="4141077"/>
            <a:ext cx="408753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CPU Time -4.2 percent.</a:t>
            </a:r>
          </a:p>
        </p:txBody>
      </p:sp>
      <p:pic>
        <p:nvPicPr>
          <p:cNvPr id="1030" name="Picture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98EFA1-87FB-5967-F91D-F13260AB1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090" y="3105828"/>
            <a:ext cx="3457575" cy="628651"/>
          </a:xfrm>
          <a:prstGeom prst="roundRect">
            <a:avLst/>
          </a:prstGeom>
          <a:noFill/>
          <a:ln w="31750">
            <a:solidFill>
              <a:srgbClr val="FF004C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743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5FD2A-4CDE-D89B-B934-6A65A071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10391-E3FC-3343-8BB3-95B06C688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0777"/>
            <a:ext cx="9144000" cy="936445"/>
          </a:xfrm>
          <a:noFill/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RENDERING</a:t>
            </a:r>
            <a:endParaRPr lang="ko-KR" altLang="en-US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6DD3AC-4AE7-3024-595D-BBC6DF849547}"/>
              </a:ext>
            </a:extLst>
          </p:cNvPr>
          <p:cNvSpPr/>
          <p:nvPr/>
        </p:nvSpPr>
        <p:spPr>
          <a:xfrm>
            <a:off x="0" y="6528803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475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C38F6-B674-128C-5250-76AE7A8A2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3FF16-C98B-5C68-1487-31614EF78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RENDERING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AA5E0-3D82-B221-5CB8-0B88C4315BB1}"/>
              </a:ext>
            </a:extLst>
          </p:cNvPr>
          <p:cNvSpPr txBox="1"/>
          <p:nvPr/>
        </p:nvSpPr>
        <p:spPr>
          <a:xfrm>
            <a:off x="2400689" y="1985341"/>
            <a:ext cx="739061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3*4 World Matrix Packing &amp; Circular Buffer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9C4AA4-B55D-4A3A-8380-055CBE524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85ED3A-6763-151F-06AF-99A825F269A6}"/>
              </a:ext>
            </a:extLst>
          </p:cNvPr>
          <p:cNvSpPr txBox="1"/>
          <p:nvPr/>
        </p:nvSpPr>
        <p:spPr>
          <a:xfrm>
            <a:off x="1278537" y="2991732"/>
            <a:ext cx="9634920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3x4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행렬 패킹을 통한 데이터 경량화와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Circular Buffer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기반의 비동기 스트리밍을 결합하여</a:t>
            </a:r>
            <a:b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</a:b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GPU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전송 대역폭 효율과 파이프라인 가동률을 끌어올린다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83A8C-95BB-6C81-49AF-018365747580}"/>
              </a:ext>
            </a:extLst>
          </p:cNvPr>
          <p:cNvSpPr txBox="1"/>
          <p:nvPr/>
        </p:nvSpPr>
        <p:spPr>
          <a:xfrm>
            <a:off x="3539115" y="4112797"/>
            <a:ext cx="5113761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Light &amp; Fast Data Transportation.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E0D2BF-24A7-48B9-2A71-89AC6B542E34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4185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37B7-5A56-8950-2FC4-A8CF51FC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A0DFB-75D9-896D-B36A-1B5FD89FA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RENDERING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C855BC-99CC-832A-150C-F26329E2CE95}"/>
              </a:ext>
            </a:extLst>
          </p:cNvPr>
          <p:cNvSpPr txBox="1"/>
          <p:nvPr/>
        </p:nvSpPr>
        <p:spPr>
          <a:xfrm>
            <a:off x="2400689" y="1985341"/>
            <a:ext cx="739061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Dynamic LOD &amp; Impostor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3E021F-A63B-BB6B-E7CE-1304A39CB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330D87-6BD1-5ED3-60A9-47FE2256760C}"/>
              </a:ext>
            </a:extLst>
          </p:cNvPr>
          <p:cNvSpPr txBox="1"/>
          <p:nvPr/>
        </p:nvSpPr>
        <p:spPr>
          <a:xfrm>
            <a:off x="817640" y="2991732"/>
            <a:ext cx="10556710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Camera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거리에 따라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Mesh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의 정밀도를 실시간으로 제어하는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Dynamic LOD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와</a:t>
            </a:r>
            <a:endParaRPr lang="en-US" altLang="ko-KR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원거리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Object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를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2D Billboard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로 대체하는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Impostor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기법으로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Draw Called Vertex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의 개수를 최소화한다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6EFAE-B346-923C-E66E-31E506586DAA}"/>
              </a:ext>
            </a:extLst>
          </p:cNvPr>
          <p:cNvSpPr txBox="1"/>
          <p:nvPr/>
        </p:nvSpPr>
        <p:spPr>
          <a:xfrm>
            <a:off x="3539115" y="4112797"/>
            <a:ext cx="5113761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Lightweight.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7D605B-8C0C-004E-933E-BF8FD954D41D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166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EF85B-52C4-983B-E2D4-BB632DB16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1E1A5-1828-3F10-02C7-B1C109E38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0777"/>
            <a:ext cx="9144000" cy="936445"/>
          </a:xfrm>
          <a:noFill/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PICKING</a:t>
            </a:r>
            <a:endParaRPr lang="ko-KR" altLang="en-US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226736-7594-9818-8B8B-9812E9CE5C29}"/>
              </a:ext>
            </a:extLst>
          </p:cNvPr>
          <p:cNvSpPr/>
          <p:nvPr/>
        </p:nvSpPr>
        <p:spPr>
          <a:xfrm>
            <a:off x="0" y="6528803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34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E9D6-0AA7-47ED-9822-C2F5F7CB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B7BCCF-6703-4552-DBC7-7296C185D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PICKING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3B04B-DB2B-3B1F-A6D2-752AC5570A89}"/>
              </a:ext>
            </a:extLst>
          </p:cNvPr>
          <p:cNvSpPr txBox="1"/>
          <p:nvPr/>
        </p:nvSpPr>
        <p:spPr>
          <a:xfrm>
            <a:off x="2400689" y="1985341"/>
            <a:ext cx="739061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Uniform Grid Picking​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51E8386-29DC-8EB5-8F3B-C4EA78A22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C1E9A9-1697-7E50-2AA2-676ED513C87E}"/>
              </a:ext>
            </a:extLst>
          </p:cNvPr>
          <p:cNvSpPr txBox="1"/>
          <p:nvPr/>
        </p:nvSpPr>
        <p:spPr>
          <a:xfrm>
            <a:off x="1278537" y="2991732"/>
            <a:ext cx="963492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공간을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O(1)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의 시간 복잡도로 즉시 인덱싱하는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Uniform Grid Picking.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15902F-8935-C524-2F04-76BEBEB84FDC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485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8CD8-C9AB-CD0F-C066-8771F7E66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5D78C2E-87EF-3F93-51B6-27B184440E0C}"/>
              </a:ext>
            </a:extLst>
          </p:cNvPr>
          <p:cNvSpPr/>
          <p:nvPr/>
        </p:nvSpPr>
        <p:spPr>
          <a:xfrm>
            <a:off x="3211974" y="1649391"/>
            <a:ext cx="6047772" cy="193875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66D9B7-6171-6358-37B9-01801F373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>
                <a:latin typeface="Bauhaus 93" panose="04030905020B02020C02" pitchFamily="82" charset="0"/>
              </a:rPr>
              <a:t>PICKING</a:t>
            </a:r>
            <a:endParaRPr lang="ko-KR" altLang="en-US">
              <a:latin typeface="Bauhaus 93" panose="04030905020B02020C02" pitchFamily="8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0E2601-AAF7-7E7B-D1A1-06C1F407A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125BCD1-B160-CFB1-5693-953FAB6B077C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D9762D-4548-AD11-7632-DC930D612D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67" t="-1744" r="167" b="3488"/>
          <a:stretch>
            <a:fillRect/>
          </a:stretch>
        </p:blipFill>
        <p:spPr>
          <a:xfrm>
            <a:off x="3322620" y="1809368"/>
            <a:ext cx="5818578" cy="1626885"/>
          </a:xfrm>
          <a:prstGeom prst="rect">
            <a:avLst/>
          </a:prstGeom>
          <a:effectLst/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9F4969-C4E6-6A47-E107-B7F39271CD34}"/>
              </a:ext>
            </a:extLst>
          </p:cNvPr>
          <p:cNvSpPr/>
          <p:nvPr/>
        </p:nvSpPr>
        <p:spPr>
          <a:xfrm>
            <a:off x="6023841" y="2879049"/>
            <a:ext cx="1280629" cy="616661"/>
          </a:xfrm>
          <a:prstGeom prst="roundRect">
            <a:avLst/>
          </a:prstGeom>
          <a:noFill/>
          <a:ln w="28575">
            <a:solidFill>
              <a:srgbClr val="FF00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AE06E6-F9D0-573B-B602-CA6A0A5F4A80}"/>
              </a:ext>
            </a:extLst>
          </p:cNvPr>
          <p:cNvSpPr txBox="1"/>
          <p:nvPr/>
        </p:nvSpPr>
        <p:spPr>
          <a:xfrm>
            <a:off x="3539115" y="4112797"/>
            <a:ext cx="5113761" cy="5912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Hupo"/>
                <a:ea typeface="STHupo"/>
                <a:cs typeface="+mn-cs"/>
              </a:rPr>
              <a:t>0.0014 miliseconds.</a:t>
            </a:r>
            <a:endParaRPr kumimoji="0" lang="en-US" altLang="ko-KR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Hupo" panose="02010800040101010101" pitchFamily="2" charset="-122"/>
              <a:ea typeface="STHupo" panose="020108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3327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AAF5-48D0-2BC1-62C5-89A91210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D2DEB-BF30-FE72-033E-081F48CB2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936445"/>
          </a:xfrm>
        </p:spPr>
        <p:txBody>
          <a:bodyPr/>
          <a:lstStyle/>
          <a:p>
            <a:pPr algn="l"/>
            <a:r>
              <a:rPr lang="en-US" altLang="ko-KR" dirty="0">
                <a:latin typeface="Bauhaus 93" panose="04030905020B02020C02" pitchFamily="82" charset="0"/>
              </a:rPr>
              <a:t>PICKING</a:t>
            </a:r>
            <a:endParaRPr lang="ko-KR" altLang="en-US" dirty="0">
              <a:latin typeface="Bauhaus 93" panose="04030905020B02020C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B6CB05-9CAA-32C0-1F4D-C1098FD8B175}"/>
              </a:ext>
            </a:extLst>
          </p:cNvPr>
          <p:cNvSpPr txBox="1"/>
          <p:nvPr/>
        </p:nvSpPr>
        <p:spPr>
          <a:xfrm>
            <a:off x="2400689" y="1985341"/>
            <a:ext cx="7390615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Digital Differential Analyzer Algorithm (DDA)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4889CFE-C7F6-CA7C-08CF-387AB79E59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252" y="4281406"/>
            <a:ext cx="1912289" cy="19122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A60CD6-DEC1-800F-845F-2DB47585000D}"/>
              </a:ext>
            </a:extLst>
          </p:cNvPr>
          <p:cNvSpPr txBox="1"/>
          <p:nvPr/>
        </p:nvSpPr>
        <p:spPr>
          <a:xfrm>
            <a:off x="1278537" y="2991732"/>
            <a:ext cx="9634920" cy="45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Ray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가 관통하는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Grid Cell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만을 수학적으로 추적하여 불필요한 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Cell </a:t>
            </a:r>
            <a:r>
              <a:rPr lang="ko-KR" altLang="en-US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검사를 원천 차단한다</a:t>
            </a:r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ABC9C-DB68-5FDC-A17D-A15BF7538F55}"/>
              </a:ext>
            </a:extLst>
          </p:cNvPr>
          <p:cNvSpPr txBox="1"/>
          <p:nvPr/>
        </p:nvSpPr>
        <p:spPr>
          <a:xfrm>
            <a:off x="3539115" y="4112797"/>
            <a:ext cx="5113761" cy="591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400" dirty="0">
                <a:latin typeface="STHupo" panose="02010800040101010101" pitchFamily="2" charset="-122"/>
                <a:ea typeface="STHupo" panose="02010800040101010101" pitchFamily="2" charset="-122"/>
              </a:rPr>
              <a:t>Fast &amp; Precise Real-Time Picking.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D06C47-5D0E-24A3-FB7E-B83110B5E2C1}"/>
              </a:ext>
            </a:extLst>
          </p:cNvPr>
          <p:cNvSpPr/>
          <p:nvPr/>
        </p:nvSpPr>
        <p:spPr>
          <a:xfrm>
            <a:off x="0" y="6532515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336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B2CAC-FB91-FD7A-FD6C-2132F85D5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4A54E7-5104-8F22-4E50-A1F195C04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7" y="5688000"/>
            <a:ext cx="3048006" cy="91440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6FB8BC-64B4-45AD-C8F5-0910B6866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0777"/>
            <a:ext cx="9144000" cy="936445"/>
          </a:xfrm>
          <a:noFill/>
        </p:spPr>
        <p:txBody>
          <a:bodyPr/>
          <a:lstStyle/>
          <a:p>
            <a:r>
              <a:rPr lang="en-US" altLang="ko-KR" dirty="0">
                <a:solidFill>
                  <a:srgbClr val="FF004C"/>
                </a:solidFill>
                <a:latin typeface="Bauhaus 93" panose="04030905020B02020C02" pitchFamily="82" charset="0"/>
                <a:ea typeface="STHupo" panose="020B0503020204020204" pitchFamily="2" charset="-122"/>
              </a:rPr>
              <a:t>TEST DRIVE</a:t>
            </a:r>
            <a:endParaRPr lang="ko-KR" altLang="en-US" dirty="0">
              <a:solidFill>
                <a:srgbClr val="FF004C"/>
              </a:solidFill>
              <a:latin typeface="Bauhaus 93" panose="04030905020B02020C02" pitchFamily="8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D44EF8-443F-EE59-0956-6E40627F3502}"/>
              </a:ext>
            </a:extLst>
          </p:cNvPr>
          <p:cNvSpPr/>
          <p:nvPr/>
        </p:nvSpPr>
        <p:spPr>
          <a:xfrm>
            <a:off x="0" y="6528803"/>
            <a:ext cx="12192000" cy="325485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660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336</TotalTime>
  <Words>354</Words>
  <Application>Microsoft Office PowerPoint</Application>
  <PresentationFormat>와이드스크린</PresentationFormat>
  <Paragraphs>61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Noto Sans KR Black</vt:lpstr>
      <vt:lpstr>Noto Sans KR Medium</vt:lpstr>
      <vt:lpstr>STHupo</vt:lpstr>
      <vt:lpstr>맑은 고딕</vt:lpstr>
      <vt:lpstr>Arial</vt:lpstr>
      <vt:lpstr>Bahnschrift SemiBold Condensed</vt:lpstr>
      <vt:lpstr>Bauhaus 93</vt:lpstr>
      <vt:lpstr>Office 테마</vt:lpstr>
      <vt:lpstr>VERSTAPPEN ENGINE</vt:lpstr>
      <vt:lpstr>GOAL</vt:lpstr>
      <vt:lpstr>DATA &amp; MEMORY</vt:lpstr>
      <vt:lpstr>DATA &amp; MEMORY</vt:lpstr>
      <vt:lpstr>DATA &amp; MEMORY</vt:lpstr>
      <vt:lpstr>CULLING</vt:lpstr>
      <vt:lpstr>CULLING</vt:lpstr>
      <vt:lpstr>CULLING</vt:lpstr>
      <vt:lpstr>CULLING</vt:lpstr>
      <vt:lpstr>CULLING</vt:lpstr>
      <vt:lpstr>RENDERING</vt:lpstr>
      <vt:lpstr>RENDERING</vt:lpstr>
      <vt:lpstr>RENDERING</vt:lpstr>
      <vt:lpstr>PICKING</vt:lpstr>
      <vt:lpstr>PICKING</vt:lpstr>
      <vt:lpstr>PICKING</vt:lpstr>
      <vt:lpstr>PICKING</vt:lpstr>
      <vt:lpstr>TEST DRIVE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김기훈</dc:creator>
  <cp:lastModifiedBy>김기훈</cp:lastModifiedBy>
  <cp:revision>79</cp:revision>
  <dcterms:created xsi:type="dcterms:W3CDTF">2026-04-06T06:25:05Z</dcterms:created>
  <dcterms:modified xsi:type="dcterms:W3CDTF">2026-04-06T22:29:43Z</dcterms:modified>
</cp:coreProperties>
</file>